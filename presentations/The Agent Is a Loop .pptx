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y="5143500" cx="9144000"/>
  <p:notesSz cx="6858000" cy="9144000"/>
  <p:embeddedFontLst>
    <p:embeddedFont>
      <p:font typeface="Raleway"/>
      <p:regular r:id="rId59"/>
      <p:bold r:id="rId60"/>
      <p:italic r:id="rId61"/>
      <p:boldItalic r:id="rId62"/>
    </p:embeddedFont>
    <p:embeddedFont>
      <p:font typeface="Roboto"/>
      <p:regular r:id="rId63"/>
      <p:bold r:id="rId64"/>
      <p:italic r:id="rId65"/>
      <p:boldItalic r:id="rId66"/>
    </p:embeddedFont>
    <p:embeddedFont>
      <p:font typeface="Lato"/>
      <p:regular r:id="rId67"/>
      <p:bold r:id="rId68"/>
      <p:italic r:id="rId69"/>
      <p:boldItalic r:id="rId70"/>
    </p:embeddedFont>
    <p:embeddedFont>
      <p:font typeface="Roboto Mono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B805AD-ABB5-4B33-BC9D-82787A56E162}">
  <a:tblStyle styleId="{ACB805AD-ABB5-4B33-BC9D-82787A56E16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RobotoMono-italic.fntdata"/><Relationship Id="rId72" Type="http://schemas.openxmlformats.org/officeDocument/2006/relationships/font" Target="fonts/RobotoMono-bold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74" Type="http://schemas.openxmlformats.org/officeDocument/2006/relationships/font" Target="fonts/RobotoMono-boldItalic.fntdata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RobotoMono-regular.fntdata"/><Relationship Id="rId70" Type="http://schemas.openxmlformats.org/officeDocument/2006/relationships/font" Target="fonts/Lato-bold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Raleway-boldItalic.fntdata"/><Relationship Id="rId61" Type="http://schemas.openxmlformats.org/officeDocument/2006/relationships/font" Target="fonts/Raleway-italic.fntdata"/><Relationship Id="rId20" Type="http://schemas.openxmlformats.org/officeDocument/2006/relationships/slide" Target="slides/slide13.xml"/><Relationship Id="rId64" Type="http://schemas.openxmlformats.org/officeDocument/2006/relationships/font" Target="fonts/Roboto-bold.fntdata"/><Relationship Id="rId63" Type="http://schemas.openxmlformats.org/officeDocument/2006/relationships/font" Target="fonts/Roboto-regular.fntdata"/><Relationship Id="rId22" Type="http://schemas.openxmlformats.org/officeDocument/2006/relationships/slide" Target="slides/slide15.xml"/><Relationship Id="rId66" Type="http://schemas.openxmlformats.org/officeDocument/2006/relationships/font" Target="fonts/Roboto-boldItalic.fntdata"/><Relationship Id="rId21" Type="http://schemas.openxmlformats.org/officeDocument/2006/relationships/slide" Target="slides/slide14.xml"/><Relationship Id="rId65" Type="http://schemas.openxmlformats.org/officeDocument/2006/relationships/font" Target="fonts/Roboto-italic.fntdata"/><Relationship Id="rId24" Type="http://schemas.openxmlformats.org/officeDocument/2006/relationships/slide" Target="slides/slide17.xml"/><Relationship Id="rId68" Type="http://schemas.openxmlformats.org/officeDocument/2006/relationships/font" Target="fonts/Lato-bold.fntdata"/><Relationship Id="rId23" Type="http://schemas.openxmlformats.org/officeDocument/2006/relationships/slide" Target="slides/slide16.xml"/><Relationship Id="rId67" Type="http://schemas.openxmlformats.org/officeDocument/2006/relationships/font" Target="fonts/Lato-regular.fntdata"/><Relationship Id="rId60" Type="http://schemas.openxmlformats.org/officeDocument/2006/relationships/font" Target="fonts/Raleway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Lato-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font" Target="fonts/Raleway-regular.fntdata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4d9b5d7495380ac_5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4d9b5d7495380ac_5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4d9b5d7495380ac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4d9b5d7495380ac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4d9b5d7495380ac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4d9b5d7495380a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4d9b5d7495380ac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4d9b5d7495380ac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2c04caa066c0fa8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2c04caa066c0fa8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2c04caa066c0fa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2c04caa066c0fa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4d9b5d7495380ac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4d9b5d7495380ac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58aa35c2e4d04f53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58aa35c2e4d04f53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631936fab7da384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h631936fab7da384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4d9b5d7495380ac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4d9b5d7495380ac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58aa35c2e4d04f5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h58aa35c2e4d04f5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58aa35c2e4d04f5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58aa35c2e4d04f5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58aa35c2e4d04f5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58aa35c2e4d04f5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58aa35c2e4d04f5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h58aa35c2e4d04f5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58aa35c2e4d04f5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h58aa35c2e4d04f5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58aa35c2e4d04f5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58aa35c2e4d04f5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58aa35c2e4d04f5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h58aa35c2e4d04f5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58aa35c2e4d04f5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h58aa35c2e4d04f5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58aa35c2e4d04f5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58aa35c2e4d04f5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58aa35c2e4d04f53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58aa35c2e4d04f53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58aa35c2e4d04f53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h58aa35c2e4d04f53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58aa35c2e4d04f5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h58aa35c2e4d04f5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58aa35c2e4d04f5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h58aa35c2e4d04f5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58aa35c2e4d04f5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h58aa35c2e4d04f5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631936fab7da384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h631936fab7da384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631936fab7da384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h631936fab7da384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58aa35c2e4d04f53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h58aa35c2e4d04f53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58aa35c2e4d04f53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h58aa35c2e4d04f53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58aa35c2e4d04f53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h58aa35c2e4d04f53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58aa35c2e4d04f53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h58aa35c2e4d04f53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58aa35c2e4d04f53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h58aa35c2e4d04f53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h58aa35c2e4d04f53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h58aa35c2e4d04f53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58aa35c2e4d04f53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h58aa35c2e4d04f53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h58aa35c2e4d04f53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h58aa35c2e4d04f53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h58aa35c2e4d04f53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h58aa35c2e4d04f53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58aa35c2e4d04f53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h58aa35c2e4d04f53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h631936fab7da384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h631936fab7da384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58aa35c2e4d04f53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h58aa35c2e4d04f53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7cfdbf8587696338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h7cfdbf8587696338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h58aa35c2e4d04f53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h58aa35c2e4d04f53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h58aa35c2e4d04f5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h58aa35c2e4d04f5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58aa35c2e4d04f53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h58aa35c2e4d04f53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h58aa35c2e4d04f53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h58aa35c2e4d04f53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h58aa35c2e4d04f53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h58aa35c2e4d04f53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h58aa35c2e4d04f53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h58aa35c2e4d04f53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h58aa35c2e4d04f53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h58aa35c2e4d04f53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h58aa35c2e4d04f53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h58aa35c2e4d04f53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58aa35c2e4d04f53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h58aa35c2e4d04f53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h58aa35c2e4d04f53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h58aa35c2e4d04f53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h58aa35c2e4d04f53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h58aa35c2e4d04f53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h58aa35c2e4d04f53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h58aa35c2e4d04f53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1" name="Google Shape;101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gradFill>
          <a:gsLst>
            <a:gs pos="0">
              <a:srgbClr val="EF6C04"/>
            </a:gs>
            <a:gs pos="64000">
              <a:srgbClr val="EF6C04"/>
            </a:gs>
            <a:gs pos="100000">
              <a:srgbClr val="A9530F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xkondix/ai-agents-JAVA-SP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xkondix/aiSandbox-JAVA-SPIR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strandsagents.com/docs/user-guide/migrate/openai/" TargetMode="External"/><Relationship Id="rId4" Type="http://schemas.openxmlformats.org/officeDocument/2006/relationships/hyperlink" Target="https://developers.openai.com/cookbook/examples/reasoning_function_calls" TargetMode="External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9.png"/><Relationship Id="rId4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ocs.spring.io/spring-ai/reference/upgrade-notes.html#_new_tool_call_limits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Relationship Id="rId4" Type="http://schemas.openxmlformats.org/officeDocument/2006/relationships/image" Target="../media/image4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ctrTitle"/>
          </p:nvPr>
        </p:nvSpPr>
        <p:spPr>
          <a:xfrm>
            <a:off x="1421899" y="852600"/>
            <a:ext cx="6661500" cy="144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The Agent Is a Loop </a:t>
            </a:r>
            <a:endParaRPr/>
          </a:p>
        </p:txBody>
      </p:sp>
      <p:sp>
        <p:nvSpPr>
          <p:cNvPr descr="xkondix AI Sandbox" id="118" name="Google Shape;118;p25"/>
          <p:cNvSpPr txBox="1"/>
          <p:nvPr>
            <p:ph idx="1" type="subTitle"/>
          </p:nvPr>
        </p:nvSpPr>
        <p:spPr>
          <a:xfrm>
            <a:off x="4103000" y="2857100"/>
            <a:ext cx="4621800" cy="9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   </a:t>
            </a:r>
            <a:r>
              <a:rPr lang="pl">
                <a:solidFill>
                  <a:schemeClr val="dk1"/>
                </a:solidFill>
              </a:rPr>
              <a:t>Author: Konrad Kowalczyk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Repository: </a:t>
            </a:r>
            <a:r>
              <a:rPr lang="pl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ai-agents-JAVA-SPRING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Let's start from the beginning</a:t>
            </a:r>
            <a:endParaRPr b="1"/>
          </a:p>
        </p:txBody>
      </p:sp>
      <p:sp>
        <p:nvSpPr>
          <p:cNvPr id="124" name="Google Shape;124;p26"/>
          <p:cNvSpPr txBox="1"/>
          <p:nvPr>
            <p:ph idx="1" type="body"/>
          </p:nvPr>
        </p:nvSpPr>
        <p:spPr>
          <a:xfrm>
            <a:off x="1119825" y="1774750"/>
            <a:ext cx="2949000" cy="9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6400">
                <a:solidFill>
                  <a:schemeClr val="dk1"/>
                </a:solidFill>
              </a:rPr>
              <a:t>This is a continuation of last year's presentation, which focused on… </a:t>
            </a:r>
            <a:endParaRPr sz="6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6"/>
          <p:cNvSpPr txBox="1"/>
          <p:nvPr/>
        </p:nvSpPr>
        <p:spPr>
          <a:xfrm>
            <a:off x="1572000" y="39217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xkondix AI Sandbox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126" name="Google Shape;126;p26"/>
          <p:cNvSpPr txBox="1"/>
          <p:nvPr/>
        </p:nvSpPr>
        <p:spPr>
          <a:xfrm>
            <a:off x="5078450" y="1325525"/>
            <a:ext cx="80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RAG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27" name="Google Shape;127;p26"/>
          <p:cNvSpPr txBox="1"/>
          <p:nvPr/>
        </p:nvSpPr>
        <p:spPr>
          <a:xfrm>
            <a:off x="5078525" y="2803325"/>
            <a:ext cx="272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CHAT MEMORY “REDIS”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28" name="Google Shape;128;p26"/>
          <p:cNvSpPr txBox="1"/>
          <p:nvPr/>
        </p:nvSpPr>
        <p:spPr>
          <a:xfrm>
            <a:off x="5153225" y="2064425"/>
            <a:ext cx="93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TOOLS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29" name="Google Shape;129;p26"/>
          <p:cNvSpPr txBox="1"/>
          <p:nvPr/>
        </p:nvSpPr>
        <p:spPr>
          <a:xfrm>
            <a:off x="525125" y="3985250"/>
            <a:ext cx="116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000">
                <a:solidFill>
                  <a:schemeClr val="dk1"/>
                </a:solidFill>
              </a:rPr>
              <a:t>OLD REPO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" name="Google Shape;130;p26"/>
          <p:cNvCxnSpPr/>
          <p:nvPr/>
        </p:nvCxnSpPr>
        <p:spPr>
          <a:xfrm flipH="1" rot="10800000">
            <a:off x="1521075" y="4156900"/>
            <a:ext cx="5253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26"/>
          <p:cNvCxnSpPr>
            <a:stCxn id="124" idx="3"/>
            <a:endCxn id="126" idx="1"/>
          </p:cNvCxnSpPr>
          <p:nvPr/>
        </p:nvCxnSpPr>
        <p:spPr>
          <a:xfrm flipH="1" rot="10800000">
            <a:off x="4068825" y="1541200"/>
            <a:ext cx="1009500" cy="72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6"/>
          <p:cNvCxnSpPr>
            <a:stCxn id="124" idx="3"/>
            <a:endCxn id="128" idx="1"/>
          </p:cNvCxnSpPr>
          <p:nvPr/>
        </p:nvCxnSpPr>
        <p:spPr>
          <a:xfrm>
            <a:off x="4068825" y="2270500"/>
            <a:ext cx="1084500" cy="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6"/>
          <p:cNvCxnSpPr>
            <a:stCxn id="124" idx="3"/>
            <a:endCxn id="127" idx="1"/>
          </p:cNvCxnSpPr>
          <p:nvPr/>
        </p:nvCxnSpPr>
        <p:spPr>
          <a:xfrm>
            <a:off x="4068825" y="2270500"/>
            <a:ext cx="1009800" cy="74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Roadmap </a:t>
            </a:r>
            <a:endParaRPr b="1"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1. The Agent Is a Loop</a:t>
            </a:r>
            <a:br>
              <a:rPr b="1" lang="pl" sz="1100">
                <a:solidFill>
                  <a:schemeClr val="dk1"/>
                </a:solidFill>
              </a:rPr>
            </a:br>
            <a:r>
              <a:rPr lang="pl" sz="1200">
                <a:solidFill>
                  <a:schemeClr val="dk1"/>
                </a:solidFill>
              </a:rPr>
              <a:t> </a:t>
            </a:r>
            <a:r>
              <a:rPr i="1" lang="pl" sz="1200">
                <a:solidFill>
                  <a:schemeClr val="dk1"/>
                </a:solidFill>
              </a:rPr>
              <a:t>Writing one by hand, and what frameworks hide when they write it for you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2</a:t>
            </a:r>
            <a:r>
              <a:rPr b="1" lang="pl">
                <a:solidFill>
                  <a:schemeClr val="dk1"/>
                </a:solidFill>
              </a:rPr>
              <a:t>. Agentic Workflow Patterns</a:t>
            </a:r>
            <a:br>
              <a:rPr b="1" lang="pl" sz="1100">
                <a:solidFill>
                  <a:schemeClr val="dk1"/>
                </a:solidFill>
              </a:rPr>
            </a:br>
            <a:r>
              <a:rPr lang="pl" sz="1200">
                <a:solidFill>
                  <a:schemeClr val="dk1"/>
                </a:solidFill>
              </a:rPr>
              <a:t> </a:t>
            </a:r>
            <a:r>
              <a:rPr i="1" lang="pl" sz="1200">
                <a:solidFill>
                  <a:schemeClr val="dk1"/>
                </a:solidFill>
              </a:rPr>
              <a:t>Five shapes, two frameworks, and when the DSL earns its keep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3. MCP as a Process Boundary</a:t>
            </a:r>
            <a:br>
              <a:rPr b="1" lang="pl" sz="1100">
                <a:solidFill>
                  <a:schemeClr val="dk1"/>
                </a:solidFill>
              </a:rPr>
            </a:br>
            <a:r>
              <a:rPr lang="pl" sz="1200">
                <a:solidFill>
                  <a:schemeClr val="dk1"/>
                </a:solidFill>
              </a:rPr>
              <a:t> </a:t>
            </a:r>
            <a:r>
              <a:rPr i="1" lang="pl" sz="1200">
                <a:solidFill>
                  <a:schemeClr val="dk1"/>
                </a:solidFill>
              </a:rPr>
              <a:t>Tools, resources and prompts over two transports: HTTP for agents, STDIO for Claude Desktop 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4. How Do You Know It Works? </a:t>
            </a:r>
            <a:br>
              <a:rPr b="1" lang="pl" sz="1100">
                <a:solidFill>
                  <a:schemeClr val="dk1"/>
                </a:solidFill>
              </a:rPr>
            </a:br>
            <a:r>
              <a:rPr lang="pl" sz="1200">
                <a:solidFill>
                  <a:schemeClr val="dk1"/>
                </a:solidFill>
              </a:rPr>
              <a:t> </a:t>
            </a:r>
            <a:r>
              <a:rPr i="1" lang="pl" sz="1200">
                <a:solidFill>
                  <a:schemeClr val="dk1"/>
                </a:solidFill>
              </a:rPr>
              <a:t>Traces, metrics, logs and dashboards for everything your agents actually do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2500"/>
              <a:t>The Agent Is a Loop</a:t>
            </a:r>
            <a:endParaRPr b="1" sz="2500"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251000" y="1152475"/>
            <a:ext cx="458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l" sz="1600">
                <a:solidFill>
                  <a:schemeClr val="dk1"/>
                </a:solidFill>
              </a:rPr>
              <a:t>What is an agent? 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l" sz="1600">
                <a:solidFill>
                  <a:schemeClr val="dk1"/>
                </a:solidFill>
              </a:rPr>
              <a:t>Build it</a:t>
            </a:r>
            <a:r>
              <a:rPr lang="pl" sz="1600">
                <a:solidFill>
                  <a:schemeClr val="dk1"/>
                </a:solidFill>
              </a:rPr>
              <a:t>   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l" sz="1600">
                <a:solidFill>
                  <a:schemeClr val="dk1"/>
                </a:solidFill>
              </a:rPr>
              <a:t>Hide it</a:t>
            </a:r>
            <a:r>
              <a:rPr lang="pl" sz="1600">
                <a:solidFill>
                  <a:schemeClr val="dk1"/>
                </a:solidFill>
              </a:rPr>
              <a:t>     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l" sz="1600">
                <a:solidFill>
                  <a:schemeClr val="dk1"/>
                </a:solidFill>
              </a:rPr>
              <a:t>Control it</a:t>
            </a:r>
            <a:r>
              <a:rPr lang="pl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pl" sz="1600">
                <a:solidFill>
                  <a:schemeClr val="dk1"/>
                </a:solidFill>
              </a:rPr>
              <a:t>Mix it      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426" y="624525"/>
            <a:ext cx="3894451" cy="38944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28"/>
          <p:cNvSpPr txBox="1"/>
          <p:nvPr/>
        </p:nvSpPr>
        <p:spPr>
          <a:xfrm>
            <a:off x="1400400" y="1610075"/>
            <a:ext cx="256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→ No framework</a:t>
            </a:r>
            <a:endParaRPr sz="1600"/>
          </a:p>
        </p:txBody>
      </p:sp>
      <p:sp>
        <p:nvSpPr>
          <p:cNvPr id="148" name="Google Shape;148;p28"/>
          <p:cNvSpPr txBox="1"/>
          <p:nvPr/>
        </p:nvSpPr>
        <p:spPr>
          <a:xfrm>
            <a:off x="1400400" y="20932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→ LangChain4j</a:t>
            </a:r>
            <a:endParaRPr/>
          </a:p>
        </p:txBody>
      </p:sp>
      <p:sp>
        <p:nvSpPr>
          <p:cNvPr id="149" name="Google Shape;149;p28"/>
          <p:cNvSpPr txBox="1"/>
          <p:nvPr/>
        </p:nvSpPr>
        <p:spPr>
          <a:xfrm>
            <a:off x="1400400" y="2602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→ Spring AI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1400400" y="3090750"/>
            <a:ext cx="368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→ One provider, ∞ protocols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750"/>
              <a:t>What is an agent? </a:t>
            </a:r>
            <a:endParaRPr b="1" sz="2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625" y="1017725"/>
            <a:ext cx="3820977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3201" y="605725"/>
            <a:ext cx="2840300" cy="42604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/>
              <a:t>The Agent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/>
              <a:t>The true Agent</a:t>
            </a:r>
            <a:endParaRPr b="1"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450500" y="2862400"/>
            <a:ext cx="9369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AGENT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1387400" y="2862400"/>
            <a:ext cx="9369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=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1734150" y="2862400"/>
            <a:ext cx="9369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LOOP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432900" y="2856100"/>
            <a:ext cx="18225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STOP CONDITION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2" name="Google Shape;172;p31"/>
          <p:cNvSpPr txBox="1"/>
          <p:nvPr/>
        </p:nvSpPr>
        <p:spPr>
          <a:xfrm>
            <a:off x="2474400" y="2859700"/>
            <a:ext cx="50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+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3" name="Google Shape;173;p31"/>
          <p:cNvSpPr txBox="1"/>
          <p:nvPr/>
        </p:nvSpPr>
        <p:spPr>
          <a:xfrm>
            <a:off x="5808625" y="24532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SUCCESS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4" name="Google Shape;174;p31"/>
          <p:cNvSpPr txBox="1"/>
          <p:nvPr/>
        </p:nvSpPr>
        <p:spPr>
          <a:xfrm>
            <a:off x="5808625" y="32662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FAILURE / LIMIT REACHED</a:t>
            </a:r>
            <a:endParaRPr b="1" sz="1500">
              <a:solidFill>
                <a:schemeClr val="dk1"/>
              </a:solidFill>
            </a:endParaRPr>
          </a:p>
        </p:txBody>
      </p:sp>
      <p:cxnSp>
        <p:nvCxnSpPr>
          <p:cNvPr id="175" name="Google Shape;175;p31"/>
          <p:cNvCxnSpPr>
            <a:stCxn id="171" idx="3"/>
            <a:endCxn id="173" idx="1"/>
          </p:cNvCxnSpPr>
          <p:nvPr/>
        </p:nvCxnSpPr>
        <p:spPr>
          <a:xfrm flipH="1" rot="10800000">
            <a:off x="5255400" y="2660950"/>
            <a:ext cx="553200" cy="40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31"/>
          <p:cNvCxnSpPr>
            <a:stCxn id="171" idx="3"/>
            <a:endCxn id="174" idx="1"/>
          </p:cNvCxnSpPr>
          <p:nvPr/>
        </p:nvCxnSpPr>
        <p:spPr>
          <a:xfrm>
            <a:off x="5255400" y="3061150"/>
            <a:ext cx="553200" cy="4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31"/>
          <p:cNvSpPr txBox="1"/>
          <p:nvPr/>
        </p:nvSpPr>
        <p:spPr>
          <a:xfrm>
            <a:off x="3226775" y="2853400"/>
            <a:ext cx="50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+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8" name="Google Shape;178;p31"/>
          <p:cNvSpPr txBox="1"/>
          <p:nvPr/>
        </p:nvSpPr>
        <p:spPr>
          <a:xfrm>
            <a:off x="2790275" y="2853400"/>
            <a:ext cx="93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LLM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79" name="Google Shape;179;p31"/>
          <p:cNvSpPr/>
          <p:nvPr/>
        </p:nvSpPr>
        <p:spPr>
          <a:xfrm>
            <a:off x="2790275" y="2859700"/>
            <a:ext cx="2451300" cy="415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1346100"/>
            <a:ext cx="834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Agents are typically just LLMs using tools based on environmental feedback in a loop.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24550"/>
            <a:ext cx="8839204" cy="4419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Raw Agent</a:t>
            </a:r>
            <a:endParaRPr b="1"/>
          </a:p>
        </p:txBody>
      </p:sp>
      <p:sp>
        <p:nvSpPr>
          <p:cNvPr id="196" name="Google Shape;196;p34"/>
          <p:cNvSpPr txBox="1"/>
          <p:nvPr>
            <p:ph idx="1" type="body"/>
          </p:nvPr>
        </p:nvSpPr>
        <p:spPr>
          <a:xfrm>
            <a:off x="2026800" y="3748775"/>
            <a:ext cx="1624200" cy="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6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strandsagents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197" name="Google Shape;197;p34"/>
          <p:cNvSpPr txBox="1"/>
          <p:nvPr/>
        </p:nvSpPr>
        <p:spPr>
          <a:xfrm>
            <a:off x="2002575" y="3400850"/>
            <a:ext cx="89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openai</a:t>
            </a:r>
            <a:endParaRPr b="1" sz="1600" u="sng">
              <a:solidFill>
                <a:schemeClr val="dk1"/>
              </a:solidFill>
            </a:endParaRPr>
          </a:p>
        </p:txBody>
      </p:sp>
      <p:sp>
        <p:nvSpPr>
          <p:cNvPr id="198" name="Google Shape;198;p34"/>
          <p:cNvSpPr txBox="1"/>
          <p:nvPr/>
        </p:nvSpPr>
        <p:spPr>
          <a:xfrm>
            <a:off x="422100" y="3646850"/>
            <a:ext cx="92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sources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199" name="Google Shape;199;p34"/>
          <p:cNvCxnSpPr>
            <a:stCxn id="198" idx="3"/>
            <a:endCxn id="196" idx="1"/>
          </p:cNvCxnSpPr>
          <p:nvPr/>
        </p:nvCxnSpPr>
        <p:spPr>
          <a:xfrm>
            <a:off x="1344600" y="3862400"/>
            <a:ext cx="682200" cy="13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34"/>
          <p:cNvCxnSpPr>
            <a:stCxn id="198" idx="3"/>
            <a:endCxn id="197" idx="1"/>
          </p:cNvCxnSpPr>
          <p:nvPr/>
        </p:nvCxnSpPr>
        <p:spPr>
          <a:xfrm flipH="1" rot="10800000">
            <a:off x="1344600" y="3616400"/>
            <a:ext cx="657900" cy="24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34"/>
          <p:cNvSpPr txBox="1"/>
          <p:nvPr/>
        </p:nvSpPr>
        <p:spPr>
          <a:xfrm>
            <a:off x="422100" y="2356213"/>
            <a:ext cx="3736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stop condition = no more tool calls 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422100" y="122490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The loop exits when the model stops requesting tools.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556050"/>
            <a:ext cx="4020475" cy="43417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817">
                <a:latin typeface="Roboto"/>
                <a:ea typeface="Roboto"/>
                <a:cs typeface="Roboto"/>
                <a:sym typeface="Roboto"/>
              </a:rPr>
              <a:t>The request body structure</a:t>
            </a:r>
            <a:endParaRPr b="1" sz="281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-280425" y="2288700"/>
            <a:ext cx="7395000" cy="23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MODEL</a:t>
            </a:r>
            <a:r>
              <a:rPr lang="pl" sz="1600">
                <a:solidFill>
                  <a:schemeClr val="dk1"/>
                </a:solidFill>
              </a:rPr>
              <a:t>               → the model that handles this request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MESSAGES</a:t>
            </a:r>
            <a:r>
              <a:rPr lang="pl" sz="1600">
                <a:solidFill>
                  <a:schemeClr val="dk1"/>
                </a:solidFill>
              </a:rPr>
              <a:t>        → the whole conversation, resent on every call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TOOLS</a:t>
            </a:r>
            <a:r>
              <a:rPr lang="pl" sz="1600">
                <a:solidFill>
                  <a:schemeClr val="dk1"/>
                </a:solidFill>
              </a:rPr>
              <a:t>                → name, description and parameters of each method 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TEMPERATURE</a:t>
            </a:r>
            <a:r>
              <a:rPr lang="pl" sz="1600">
                <a:solidFill>
                  <a:schemeClr val="dk1"/>
                </a:solidFill>
              </a:rPr>
              <a:t> →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STREAM</a:t>
            </a:r>
            <a:r>
              <a:rPr lang="pl" sz="1600">
                <a:solidFill>
                  <a:schemeClr val="dk1"/>
                </a:solidFill>
              </a:rPr>
              <a:t>             →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0" name="Google Shape;210;p35"/>
          <p:cNvSpPr txBox="1"/>
          <p:nvPr/>
        </p:nvSpPr>
        <p:spPr>
          <a:xfrm>
            <a:off x="-96575" y="1214400"/>
            <a:ext cx="52749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Every exchange with the model is JSON. The framework only decides who writes it.</a:t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  <p:sp>
        <p:nvSpPr>
          <p:cNvPr id="211" name="Google Shape;211;p35"/>
          <p:cNvSpPr txBox="1"/>
          <p:nvPr/>
        </p:nvSpPr>
        <p:spPr>
          <a:xfrm>
            <a:off x="1566525" y="3955050"/>
            <a:ext cx="3877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false: one complete response</a:t>
            </a: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025675" y="4200900"/>
            <a:ext cx="400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true: chunks as they are generated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2025675" y="34776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lower: more deterministic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4" name="Google Shape;214;p35"/>
          <p:cNvSpPr txBox="1"/>
          <p:nvPr/>
        </p:nvSpPr>
        <p:spPr>
          <a:xfrm>
            <a:off x="2025675" y="36851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higher: more random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15" name="Google Shape;2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025" y="1038275"/>
            <a:ext cx="2745725" cy="1475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The request body as JSON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273025" y="1399075"/>
            <a:ext cx="5519700" cy="31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MESSAGES </a:t>
            </a:r>
            <a:r>
              <a:rPr lang="pl" sz="1600">
                <a:solidFill>
                  <a:schemeClr val="dk1"/>
                </a:solidFill>
              </a:rPr>
              <a:t>[]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SYSTEM </a:t>
            </a:r>
            <a:r>
              <a:rPr lang="pl" sz="1600">
                <a:solidFill>
                  <a:schemeClr val="dk1"/>
                </a:solidFill>
              </a:rPr>
              <a:t>      →  the instructions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USER </a:t>
            </a:r>
            <a:r>
              <a:rPr lang="pl" sz="1600">
                <a:solidFill>
                  <a:schemeClr val="dk1"/>
                </a:solidFill>
              </a:rPr>
              <a:t>           →  the question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ASSISTANT </a:t>
            </a:r>
            <a:r>
              <a:rPr lang="pl" sz="1600">
                <a:solidFill>
                  <a:schemeClr val="dk1"/>
                </a:solidFill>
              </a:rPr>
              <a:t> →  a request for a tool                     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TOOL </a:t>
            </a:r>
            <a:r>
              <a:rPr lang="pl" sz="1600">
                <a:solidFill>
                  <a:schemeClr val="dk1"/>
                </a:solidFill>
              </a:rPr>
              <a:t>           →  the result your code produced     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ASSISTANT </a:t>
            </a:r>
            <a:r>
              <a:rPr lang="pl" sz="1600">
                <a:solidFill>
                  <a:schemeClr val="dk1"/>
                </a:solidFill>
              </a:rPr>
              <a:t> →  the answer (response ends the loop)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2" name="Google Shape;222;p36"/>
          <p:cNvSpPr txBox="1"/>
          <p:nvPr/>
        </p:nvSpPr>
        <p:spPr>
          <a:xfrm>
            <a:off x="4864000" y="2929600"/>
            <a:ext cx="88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LOOP</a:t>
            </a:r>
            <a:endParaRPr/>
          </a:p>
        </p:txBody>
      </p:sp>
      <p:pic>
        <p:nvPicPr>
          <p:cNvPr id="223" name="Google Shape;22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3150" y="285013"/>
            <a:ext cx="2326950" cy="45734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" name="Google Shape;224;p36"/>
          <p:cNvSpPr txBox="1"/>
          <p:nvPr/>
        </p:nvSpPr>
        <p:spPr>
          <a:xfrm>
            <a:off x="4656225" y="2723825"/>
            <a:ext cx="47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┐</a:t>
            </a:r>
            <a:endParaRPr/>
          </a:p>
        </p:txBody>
      </p:sp>
      <p:sp>
        <p:nvSpPr>
          <p:cNvPr id="225" name="Google Shape;225;p36"/>
          <p:cNvSpPr txBox="1"/>
          <p:nvPr/>
        </p:nvSpPr>
        <p:spPr>
          <a:xfrm>
            <a:off x="4656225" y="3154925"/>
            <a:ext cx="43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┘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The request body as JSON </a:t>
            </a:r>
            <a:endParaRPr b="1"/>
          </a:p>
        </p:txBody>
      </p:sp>
      <p:sp>
        <p:nvSpPr>
          <p:cNvPr descr="JSON" id="231" name="Google Shape;231;p37"/>
          <p:cNvSpPr txBox="1"/>
          <p:nvPr>
            <p:ph idx="1" type="body"/>
          </p:nvPr>
        </p:nvSpPr>
        <p:spPr>
          <a:xfrm>
            <a:off x="432575" y="1645625"/>
            <a:ext cx="5248500" cy="26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MESSAGES </a:t>
            </a:r>
            <a:r>
              <a:rPr lang="pl" sz="1600">
                <a:solidFill>
                  <a:schemeClr val="dk1"/>
                </a:solidFill>
              </a:rPr>
              <a:t>[]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SYSTEM </a:t>
            </a:r>
            <a:r>
              <a:rPr lang="pl" sz="1600">
                <a:solidFill>
                  <a:schemeClr val="dk1"/>
                </a:solidFill>
              </a:rPr>
              <a:t>      →  written by dev, before the conversation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USER </a:t>
            </a:r>
            <a:r>
              <a:rPr lang="pl" sz="1600">
                <a:solidFill>
                  <a:schemeClr val="dk1"/>
                </a:solidFill>
              </a:rPr>
              <a:t>           →  written by the user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ASSISTANT </a:t>
            </a:r>
            <a:r>
              <a:rPr lang="pl" sz="1600">
                <a:solidFill>
                  <a:schemeClr val="dk1"/>
                </a:solidFill>
              </a:rPr>
              <a:t> →  written by the model             ┐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TOOL </a:t>
            </a:r>
            <a:r>
              <a:rPr lang="pl" sz="1600">
                <a:solidFill>
                  <a:schemeClr val="dk1"/>
                </a:solidFill>
              </a:rPr>
              <a:t>           →  </a:t>
            </a:r>
            <a:r>
              <a:rPr lang="pl" sz="1600">
                <a:solidFill>
                  <a:schemeClr val="dk1"/>
                </a:solidFill>
              </a:rPr>
              <a:t>written by your app</a:t>
            </a:r>
            <a:r>
              <a:rPr lang="pl" sz="1600">
                <a:solidFill>
                  <a:schemeClr val="dk1"/>
                </a:solidFill>
              </a:rPr>
              <a:t>               ┘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ASSISTANT </a:t>
            </a:r>
            <a:r>
              <a:rPr lang="pl" sz="1600">
                <a:solidFill>
                  <a:schemeClr val="dk1"/>
                </a:solidFill>
              </a:rPr>
              <a:t> →  written by the model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32" name="Google Shape;232;p37"/>
          <p:cNvSpPr txBox="1"/>
          <p:nvPr/>
        </p:nvSpPr>
        <p:spPr>
          <a:xfrm>
            <a:off x="4827850" y="31821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LOOP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33" name="Google Shape;233;p37"/>
          <p:cNvSpPr txBox="1"/>
          <p:nvPr/>
        </p:nvSpPr>
        <p:spPr>
          <a:xfrm>
            <a:off x="86875" y="1194875"/>
            <a:ext cx="509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2500"/>
              <a:t>SYSTEM ROLE </a:t>
            </a:r>
            <a:endParaRPr b="1" sz="2500"/>
          </a:p>
        </p:txBody>
      </p:sp>
      <p:sp>
        <p:nvSpPr>
          <p:cNvPr id="239" name="Google Shape;239;p38"/>
          <p:cNvSpPr txBox="1"/>
          <p:nvPr/>
        </p:nvSpPr>
        <p:spPr>
          <a:xfrm>
            <a:off x="819625" y="1489200"/>
            <a:ext cx="5148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system prompt is the job description.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Written once by a human, resent on every iteration.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40" name="Google Shape;2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50" y="2858150"/>
            <a:ext cx="7814373" cy="10752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USER ROLE</a:t>
            </a:r>
            <a:endParaRPr b="1"/>
          </a:p>
        </p:txBody>
      </p:sp>
      <p:sp>
        <p:nvSpPr>
          <p:cNvPr id="246" name="Google Shape;246;p39"/>
          <p:cNvSpPr txBox="1"/>
          <p:nvPr/>
        </p:nvSpPr>
        <p:spPr>
          <a:xfrm>
            <a:off x="517350" y="1465025"/>
            <a:ext cx="695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question.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Written by the user, resent on every iteration. 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247" name="Google Shape;24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375" y="2765900"/>
            <a:ext cx="5747298" cy="13573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2500"/>
              <a:t>ASSISTANT ROLE</a:t>
            </a:r>
            <a:endParaRPr b="1" sz="2500"/>
          </a:p>
        </p:txBody>
      </p:sp>
      <p:sp>
        <p:nvSpPr>
          <p:cNvPr id="253" name="Google Shape;253;p40"/>
          <p:cNvSpPr txBox="1"/>
          <p:nvPr/>
        </p:nvSpPr>
        <p:spPr>
          <a:xfrm>
            <a:off x="361550" y="1189200"/>
            <a:ext cx="687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model either asks for a tool, or gives the final answer.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A tool request means the loop continues.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54" name="Google Shape;25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5700" y="2446350"/>
            <a:ext cx="3829050" cy="938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5" name="Google Shape;25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875" y="2446350"/>
            <a:ext cx="3929750" cy="25587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" name="Google Shape;256;p40"/>
          <p:cNvSpPr txBox="1"/>
          <p:nvPr/>
        </p:nvSpPr>
        <p:spPr>
          <a:xfrm>
            <a:off x="874750" y="19407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finish_reason: "tool_calls" 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257" name="Google Shape;257;p40"/>
          <p:cNvSpPr txBox="1"/>
          <p:nvPr/>
        </p:nvSpPr>
        <p:spPr>
          <a:xfrm>
            <a:off x="5423425" y="19562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finish_reason: "stop" 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TOOL ROLE</a:t>
            </a:r>
            <a:endParaRPr b="1"/>
          </a:p>
        </p:txBody>
      </p:sp>
      <p:sp>
        <p:nvSpPr>
          <p:cNvPr id="263" name="Google Shape;263;p41"/>
          <p:cNvSpPr txBox="1"/>
          <p:nvPr/>
        </p:nvSpPr>
        <p:spPr>
          <a:xfrm>
            <a:off x="439975" y="1416675"/>
            <a:ext cx="835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result. Written by your app, never by the model.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tool_call_id </a:t>
            </a:r>
            <a:r>
              <a:rPr lang="pl" sz="1600">
                <a:solidFill>
                  <a:schemeClr val="dk1"/>
                </a:solidFill>
              </a:rPr>
              <a:t>matches the request, because the model may ask for several at once. 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264" name="Google Shape;26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625" y="2615525"/>
            <a:ext cx="4804501" cy="13481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TOOLS</a:t>
            </a:r>
            <a:endParaRPr b="1"/>
          </a:p>
        </p:txBody>
      </p:sp>
      <p:sp>
        <p:nvSpPr>
          <p:cNvPr id="270" name="Google Shape;270;p42"/>
          <p:cNvSpPr txBox="1"/>
          <p:nvPr/>
        </p:nvSpPr>
        <p:spPr>
          <a:xfrm>
            <a:off x="270000" y="1017725"/>
            <a:ext cx="887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functions the model may ask you to call.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Name, description and JSON schema that's all it knows about your code. 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271" name="Google Shape;27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2794" y="1815825"/>
            <a:ext cx="4054131" cy="30071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2" name="Google Shape;27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900" y="1815825"/>
            <a:ext cx="3696294" cy="30385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O</a:t>
            </a:r>
            <a:r>
              <a:rPr b="1" lang="pl"/>
              <a:t>bservability</a:t>
            </a:r>
            <a:endParaRPr b="1"/>
          </a:p>
        </p:txBody>
      </p:sp>
      <p:pic>
        <p:nvPicPr>
          <p:cNvPr id="278" name="Google Shape;27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5" y="1471737"/>
            <a:ext cx="4135297" cy="2862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9" name="Google Shape;27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700" y="1462112"/>
            <a:ext cx="4647025" cy="2881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LangChain4j Agent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4"/>
          <p:cNvSpPr txBox="1"/>
          <p:nvPr>
            <p:ph idx="1" type="body"/>
          </p:nvPr>
        </p:nvSpPr>
        <p:spPr>
          <a:xfrm>
            <a:off x="237000" y="1256525"/>
            <a:ext cx="262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Everything AiServices does, LangChain4j also lets you do yourself.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Same library, same tools and same model.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Only the level of abstraction moves.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86" name="Google Shape;28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9900" y="1274300"/>
            <a:ext cx="6007199" cy="33808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LangChain4j Abstraction</a:t>
            </a:r>
            <a:endParaRPr b="1"/>
          </a:p>
        </p:txBody>
      </p:sp>
      <p:sp>
        <p:nvSpPr>
          <p:cNvPr id="292" name="Google Shape;292;p45"/>
          <p:cNvSpPr txBox="1"/>
          <p:nvPr>
            <p:ph idx="1" type="body"/>
          </p:nvPr>
        </p:nvSpPr>
        <p:spPr>
          <a:xfrm>
            <a:off x="2066075" y="2193625"/>
            <a:ext cx="7585200" cy="16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ChatModel </a:t>
            </a:r>
            <a:r>
              <a:rPr lang="pl" sz="1600">
                <a:solidFill>
                  <a:schemeClr val="dk1"/>
                </a:solidFill>
              </a:rPr>
              <a:t>           →  you run the loop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AiServices </a:t>
            </a:r>
            <a:r>
              <a:rPr lang="pl" sz="1600">
                <a:solidFill>
                  <a:schemeClr val="dk1"/>
                </a:solidFill>
              </a:rPr>
              <a:t>           →  the framework runs it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AgenticServices   </a:t>
            </a:r>
            <a:r>
              <a:rPr lang="pl" sz="1600">
                <a:solidFill>
                  <a:schemeClr val="dk1"/>
                </a:solidFill>
              </a:rPr>
              <a:t>→  you declare the workflow [part Ⅱ]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LangChain4j Loop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6"/>
          <p:cNvSpPr txBox="1"/>
          <p:nvPr>
            <p:ph idx="1" type="body"/>
          </p:nvPr>
        </p:nvSpPr>
        <p:spPr>
          <a:xfrm>
            <a:off x="1134975" y="1098700"/>
            <a:ext cx="2047800" cy="4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 </a:t>
            </a:r>
            <a:r>
              <a:rPr lang="pl" sz="1600">
                <a:solidFill>
                  <a:schemeClr val="dk1"/>
                </a:solidFill>
              </a:rPr>
              <a:t>AiServices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99" name="Google Shape;299;p46"/>
          <p:cNvSpPr txBox="1"/>
          <p:nvPr/>
        </p:nvSpPr>
        <p:spPr>
          <a:xfrm>
            <a:off x="5586350" y="1107100"/>
            <a:ext cx="2124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without AiServices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00" name="Google Shape;300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6"/>
          <p:cNvSpPr txBox="1"/>
          <p:nvPr/>
        </p:nvSpPr>
        <p:spPr>
          <a:xfrm>
            <a:off x="311711" y="3018400"/>
            <a:ext cx="4095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.toolProvider(toolProvider)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→ </a:t>
            </a:r>
            <a:r>
              <a:rPr lang="pl" sz="1600">
                <a:solidFill>
                  <a:schemeClr val="dk1"/>
                </a:solidFill>
              </a:rPr>
              <a:t> a </a:t>
            </a:r>
            <a:r>
              <a:rPr lang="pl" sz="1600">
                <a:solidFill>
                  <a:schemeClr val="dk1"/>
                </a:solidFill>
              </a:rPr>
              <a:t>custom provider, wrapped for observability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2" name="Google Shape;302;p46"/>
          <p:cNvSpPr txBox="1"/>
          <p:nvPr/>
        </p:nvSpPr>
        <p:spPr>
          <a:xfrm>
            <a:off x="311700" y="4010975"/>
            <a:ext cx="365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.tools(demoTools)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→ simpler with no tool spans unless you hook in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303" name="Google Shape;3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13" y="1627575"/>
            <a:ext cx="3618474" cy="11307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4" name="Google Shape;30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7886" y="1607075"/>
            <a:ext cx="4384410" cy="3292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Traces</a:t>
            </a:r>
            <a:endParaRPr b="1"/>
          </a:p>
        </p:txBody>
      </p:sp>
      <p:sp>
        <p:nvSpPr>
          <p:cNvPr id="310" name="Google Shape;310;p47"/>
          <p:cNvSpPr txBox="1"/>
          <p:nvPr/>
        </p:nvSpPr>
        <p:spPr>
          <a:xfrm>
            <a:off x="1229888" y="1253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 AiServices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11" name="Google Shape;311;p47"/>
          <p:cNvSpPr txBox="1"/>
          <p:nvPr/>
        </p:nvSpPr>
        <p:spPr>
          <a:xfrm>
            <a:off x="5591738" y="1253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without AiServices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312" name="Google Shape;31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687" y="1811975"/>
            <a:ext cx="4147574" cy="29842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3" name="Google Shape;31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738" y="1811975"/>
            <a:ext cx="4445934" cy="29842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Logs</a:t>
            </a:r>
            <a:endParaRPr b="1"/>
          </a:p>
        </p:txBody>
      </p:sp>
      <p:pic>
        <p:nvPicPr>
          <p:cNvPr id="319" name="Google Shape;31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7825" y="3687750"/>
            <a:ext cx="4325874" cy="1145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0" name="Google Shape;32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300" y="3687738"/>
            <a:ext cx="4288300" cy="6094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1" name="Google Shape;321;p48"/>
          <p:cNvSpPr txBox="1"/>
          <p:nvPr/>
        </p:nvSpPr>
        <p:spPr>
          <a:xfrm>
            <a:off x="214500" y="1310000"/>
            <a:ext cx="6764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loop is still observable, just from the outside.</a:t>
            </a:r>
            <a:r>
              <a:rPr lang="pl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A </a:t>
            </a:r>
            <a:r>
              <a:rPr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ChatModelListener </a:t>
            </a:r>
            <a:r>
              <a:rPr lang="pl" sz="1600">
                <a:solidFill>
                  <a:schemeClr val="dk1"/>
                </a:solidFill>
              </a:rPr>
              <a:t>sees every model call, tool requests included.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A wrapped </a:t>
            </a:r>
            <a:r>
              <a:rPr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ToolProvider </a:t>
            </a:r>
            <a:r>
              <a:rPr lang="pl" sz="1600">
                <a:solidFill>
                  <a:schemeClr val="dk1"/>
                </a:solidFill>
              </a:rPr>
              <a:t>or the</a:t>
            </a:r>
            <a:r>
              <a:rPr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tool callbacks </a:t>
            </a:r>
            <a:r>
              <a:rPr lang="pl" sz="1600">
                <a:solidFill>
                  <a:schemeClr val="dk1"/>
                </a:solidFill>
              </a:rPr>
              <a:t>see every tool execution.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22" name="Google Shape;322;p48"/>
          <p:cNvSpPr txBox="1"/>
          <p:nvPr/>
        </p:nvSpPr>
        <p:spPr>
          <a:xfrm>
            <a:off x="1213400" y="2986850"/>
            <a:ext cx="170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 AiServices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23" name="Google Shape;323;p48"/>
          <p:cNvSpPr txBox="1"/>
          <p:nvPr/>
        </p:nvSpPr>
        <p:spPr>
          <a:xfrm>
            <a:off x="5636350" y="29868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without AiServices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324" name="Google Shape;32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2800" y="356500"/>
            <a:ext cx="2611901" cy="170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Five ways around one loop </a:t>
            </a:r>
            <a:endParaRPr b="1"/>
          </a:p>
        </p:txBody>
      </p:sp>
      <p:graphicFrame>
        <p:nvGraphicFramePr>
          <p:cNvPr id="330" name="Google Shape;330;p49"/>
          <p:cNvGraphicFramePr/>
          <p:nvPr/>
        </p:nvGraphicFramePr>
        <p:xfrm>
          <a:off x="401025" y="154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{ACB805AD-ABB5-4B33-BC9D-82787A56E162}</a:tableStyleId>
              </a:tblPr>
              <a:tblGrid>
                <a:gridCol w="2177625"/>
                <a:gridCol w="4220025"/>
                <a:gridCol w="19443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>
                          <a:solidFill>
                            <a:schemeClr val="dk1"/>
                          </a:solidFill>
                        </a:rPr>
                        <a:t>Objects &amp;&amp; Functions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>
                          <a:solidFill>
                            <a:schemeClr val="dk1"/>
                          </a:solidFill>
                        </a:rPr>
                        <a:t>Scope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>
                          <a:solidFill>
                            <a:schemeClr val="dk1"/>
                          </a:solidFill>
                        </a:rPr>
                        <a:t>Can change the request or result?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>
                          <a:solidFill>
                            <a:schemeClr val="dk1"/>
                          </a:solidFill>
                        </a:rPr>
                        <a:t>ChatModelListener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every model call: request, response, error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chatRequestTransformer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every request, before it is sent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yes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>
                          <a:solidFill>
                            <a:schemeClr val="dk1"/>
                          </a:solidFill>
                        </a:rPr>
                        <a:t>ToolProvider wrapper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every tool call, around the execution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yes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beforeToolExecution / afterToolExecution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every tool call: request, then result, duration, failure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AI Service listeners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the whole call, as events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dk1"/>
                          </a:solidFill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Two callbacks instead of a wrapper </a:t>
            </a:r>
            <a:endParaRPr b="1"/>
          </a:p>
        </p:txBody>
      </p:sp>
      <p:sp>
        <p:nvSpPr>
          <p:cNvPr id="336" name="Google Shape;336;p50"/>
          <p:cNvSpPr txBox="1"/>
          <p:nvPr>
            <p:ph idx="1" type="body"/>
          </p:nvPr>
        </p:nvSpPr>
        <p:spPr>
          <a:xfrm>
            <a:off x="311700" y="1152475"/>
            <a:ext cx="8265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Enough for logs and metrics.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Fragile for spans, because after never runs when the arguments don't parse.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The wrapper starts and ends the span in one try/finally.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300" y="2610625"/>
            <a:ext cx="5261443" cy="22669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2500"/>
              <a:t>AgenticServices </a:t>
            </a:r>
            <a:endParaRPr sz="2500"/>
          </a:p>
        </p:txBody>
      </p:sp>
      <p:sp>
        <p:nvSpPr>
          <p:cNvPr id="343" name="Google Shape;343;p51"/>
          <p:cNvSpPr txBox="1"/>
          <p:nvPr/>
        </p:nvSpPr>
        <p:spPr>
          <a:xfrm>
            <a:off x="2638675" y="1570350"/>
            <a:ext cx="3140700" cy="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More in chapter Ⅱ </a:t>
            </a:r>
            <a:endParaRPr sz="16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/>
          </a:p>
        </p:txBody>
      </p:sp>
      <p:pic>
        <p:nvPicPr>
          <p:cNvPr id="344" name="Google Shape;34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325" y="2297700"/>
            <a:ext cx="7083596" cy="24772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Spring AI</a:t>
            </a:r>
            <a:endParaRPr b="1"/>
          </a:p>
        </p:txBody>
      </p:sp>
      <p:sp>
        <p:nvSpPr>
          <p:cNvPr id="350" name="Google Shape;350;p52"/>
          <p:cNvSpPr txBox="1"/>
          <p:nvPr/>
        </p:nvSpPr>
        <p:spPr>
          <a:xfrm>
            <a:off x="238125" y="1596550"/>
            <a:ext cx="4891200" cy="25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Spring AI doesn't hide the loop, it puts it in a chain you can reach </a:t>
            </a:r>
            <a:endParaRPr b="1" sz="16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Same chain, same client, same model. </a:t>
            </a:r>
            <a:endParaRPr sz="16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Only one advisor is the loop.  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351" name="Google Shape;35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726" y="478025"/>
            <a:ext cx="3324950" cy="43412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What is an Advisor? </a:t>
            </a:r>
            <a:endParaRPr b="1"/>
          </a:p>
        </p:txBody>
      </p:sp>
      <p:sp>
        <p:nvSpPr>
          <p:cNvPr id="357" name="Google Shape;357;p53"/>
          <p:cNvSpPr txBox="1"/>
          <p:nvPr>
            <p:ph idx="1" type="body"/>
          </p:nvPr>
        </p:nvSpPr>
        <p:spPr>
          <a:xfrm>
            <a:off x="311700" y="1152475"/>
            <a:ext cx="8119200" cy="15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An Advisor is middleware between your application and the AI model.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It works similarly to an aspect, allowing you to add behavior around AI interactions. </a:t>
            </a:r>
            <a:r>
              <a:rPr lang="pl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It can modify requests, process responses, and control the flow of interactions with the model, keeping this logic separate from your application code.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358" name="Google Shape;35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775" y="2625200"/>
            <a:ext cx="6262450" cy="241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Advisor Code S</a:t>
            </a:r>
            <a:r>
              <a:rPr b="1" lang="pl"/>
              <a:t>nippet</a:t>
            </a:r>
            <a:r>
              <a:rPr b="1" lang="pl"/>
              <a:t> </a:t>
            </a:r>
            <a:endParaRPr b="1"/>
          </a:p>
        </p:txBody>
      </p:sp>
      <p:sp>
        <p:nvSpPr>
          <p:cNvPr id="364" name="Google Shape;364;p54"/>
          <p:cNvSpPr txBox="1"/>
          <p:nvPr/>
        </p:nvSpPr>
        <p:spPr>
          <a:xfrm>
            <a:off x="6191250" y="2645125"/>
            <a:ext cx="2143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F1F1F"/>
              </a:solidFill>
              <a:highlight>
                <a:srgbClr val="F8F9FA"/>
              </a:highlight>
            </a:endParaRPr>
          </a:p>
        </p:txBody>
      </p:sp>
      <p:sp>
        <p:nvSpPr>
          <p:cNvPr id="365" name="Google Shape;365;p54"/>
          <p:cNvSpPr txBox="1"/>
          <p:nvPr/>
        </p:nvSpPr>
        <p:spPr>
          <a:xfrm>
            <a:off x="6480825" y="2838200"/>
            <a:ext cx="2600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Parameter configuration for advisors (linking an identifier with a message)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66" name="Google Shape;366;p54"/>
          <p:cNvSpPr txBox="1"/>
          <p:nvPr/>
        </p:nvSpPr>
        <p:spPr>
          <a:xfrm>
            <a:off x="6522675" y="1506462"/>
            <a:ext cx="25164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pl" sz="1600">
                <a:solidFill>
                  <a:schemeClr val="dk1"/>
                </a:solidFill>
              </a:rPr>
            </a:br>
            <a:r>
              <a:rPr lang="pl" sz="1600">
                <a:solidFill>
                  <a:schemeClr val="dk1"/>
                </a:solidFill>
              </a:rPr>
              <a:t>Adding advisors to the chain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367" name="Google Shape;36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75" y="1698375"/>
            <a:ext cx="5397971" cy="24013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68" name="Google Shape;368;p54"/>
          <p:cNvCxnSpPr/>
          <p:nvPr/>
        </p:nvCxnSpPr>
        <p:spPr>
          <a:xfrm flipH="1" rot="10800000">
            <a:off x="3360225" y="2250025"/>
            <a:ext cx="3055800" cy="56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54"/>
          <p:cNvCxnSpPr/>
          <p:nvPr/>
        </p:nvCxnSpPr>
        <p:spPr>
          <a:xfrm flipH="1" rot="10800000">
            <a:off x="5521775" y="3291475"/>
            <a:ext cx="874500" cy="14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Before and After</a:t>
            </a:r>
            <a:endParaRPr b="1"/>
          </a:p>
        </p:txBody>
      </p:sp>
      <p:pic>
        <p:nvPicPr>
          <p:cNvPr id="375" name="Google Shape;37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024" y="1627199"/>
            <a:ext cx="4667201" cy="2762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76" name="Google Shape;376;p55"/>
          <p:cNvCxnSpPr/>
          <p:nvPr/>
        </p:nvCxnSpPr>
        <p:spPr>
          <a:xfrm>
            <a:off x="5560550" y="4035250"/>
            <a:ext cx="24519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55"/>
          <p:cNvCxnSpPr/>
          <p:nvPr/>
        </p:nvCxnSpPr>
        <p:spPr>
          <a:xfrm>
            <a:off x="5560550" y="3898050"/>
            <a:ext cx="2954100" cy="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55"/>
          <p:cNvCxnSpPr/>
          <p:nvPr/>
        </p:nvCxnSpPr>
        <p:spPr>
          <a:xfrm>
            <a:off x="5618450" y="3278150"/>
            <a:ext cx="2934900" cy="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55"/>
          <p:cNvCxnSpPr/>
          <p:nvPr/>
        </p:nvCxnSpPr>
        <p:spPr>
          <a:xfrm>
            <a:off x="5570150" y="3147375"/>
            <a:ext cx="2526000" cy="6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55"/>
          <p:cNvSpPr txBox="1"/>
          <p:nvPr/>
        </p:nvSpPr>
        <p:spPr>
          <a:xfrm>
            <a:off x="8051200" y="3853025"/>
            <a:ext cx="20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700">
                <a:solidFill>
                  <a:srgbClr val="FF0000"/>
                </a:solidFill>
              </a:rPr>
              <a:t>1</a:t>
            </a:r>
            <a:endParaRPr b="1" sz="700">
              <a:solidFill>
                <a:srgbClr val="FF0000"/>
              </a:solidFill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8030800" y="2943175"/>
            <a:ext cx="2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700">
                <a:solidFill>
                  <a:srgbClr val="FF0000"/>
                </a:solidFill>
              </a:rPr>
              <a:t>1</a:t>
            </a:r>
            <a:endParaRPr b="1" sz="700">
              <a:solidFill>
                <a:srgbClr val="FF0000"/>
              </a:solidFill>
            </a:endParaRPr>
          </a:p>
        </p:txBody>
      </p:sp>
      <p:sp>
        <p:nvSpPr>
          <p:cNvPr id="382" name="Google Shape;382;p55"/>
          <p:cNvSpPr txBox="1"/>
          <p:nvPr/>
        </p:nvSpPr>
        <p:spPr>
          <a:xfrm>
            <a:off x="8514650" y="3702925"/>
            <a:ext cx="2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700">
                <a:solidFill>
                  <a:srgbClr val="FF0000"/>
                </a:solidFill>
              </a:rPr>
              <a:t>2</a:t>
            </a:r>
            <a:endParaRPr b="1" sz="700">
              <a:solidFill>
                <a:srgbClr val="FF0000"/>
              </a:solidFill>
            </a:endParaRPr>
          </a:p>
        </p:txBody>
      </p:sp>
      <p:sp>
        <p:nvSpPr>
          <p:cNvPr id="383" name="Google Shape;383;p55"/>
          <p:cNvSpPr txBox="1"/>
          <p:nvPr/>
        </p:nvSpPr>
        <p:spPr>
          <a:xfrm>
            <a:off x="8514650" y="3069625"/>
            <a:ext cx="2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700">
                <a:solidFill>
                  <a:srgbClr val="FF0000"/>
                </a:solidFill>
              </a:rPr>
              <a:t>2</a:t>
            </a:r>
            <a:endParaRPr b="1" sz="700">
              <a:solidFill>
                <a:srgbClr val="FF0000"/>
              </a:solidFill>
            </a:endParaRPr>
          </a:p>
        </p:txBody>
      </p:sp>
      <p:pic>
        <p:nvPicPr>
          <p:cNvPr id="384" name="Google Shape;38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175" y="1021512"/>
            <a:ext cx="3455435" cy="39733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Advisors Inside the Loop </a:t>
            </a:r>
            <a:endParaRPr b="1"/>
          </a:p>
        </p:txBody>
      </p:sp>
      <p:pic>
        <p:nvPicPr>
          <p:cNvPr id="390" name="Google Shape;39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6122" y="1639950"/>
            <a:ext cx="4186853" cy="255513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1" name="Google Shape;39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025" y="1145825"/>
            <a:ext cx="3890875" cy="37769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2" name="Google Shape;392;p56"/>
          <p:cNvSpPr/>
          <p:nvPr/>
        </p:nvSpPr>
        <p:spPr>
          <a:xfrm>
            <a:off x="592026" y="3213650"/>
            <a:ext cx="1380900" cy="1670400"/>
          </a:xfrm>
          <a:prstGeom prst="rect">
            <a:avLst/>
          </a:prstGeom>
          <a:noFill/>
          <a:ln cap="flat" cmpd="sng" w="194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400" lIns="93400" spcFirstLastPara="1" rIns="93400" wrap="square" tIns="9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30">
              <a:solidFill>
                <a:srgbClr val="FF0000"/>
              </a:solidFill>
            </a:endParaRPr>
          </a:p>
        </p:txBody>
      </p:sp>
      <p:sp>
        <p:nvSpPr>
          <p:cNvPr id="393" name="Google Shape;393;p56"/>
          <p:cNvSpPr txBox="1"/>
          <p:nvPr/>
        </p:nvSpPr>
        <p:spPr>
          <a:xfrm>
            <a:off x="202975" y="3145625"/>
            <a:ext cx="848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3400" lIns="93400" spcFirstLastPara="1" rIns="93400" wrap="square" tIns="9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715">
                <a:solidFill>
                  <a:srgbClr val="FF0000"/>
                </a:solidFill>
              </a:rPr>
              <a:t>LOOP</a:t>
            </a:r>
            <a:endParaRPr b="1" sz="715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Advisor </a:t>
            </a:r>
            <a:r>
              <a:rPr b="1" lang="pl"/>
              <a:t>Order</a:t>
            </a:r>
            <a:endParaRPr b="1"/>
          </a:p>
        </p:txBody>
      </p:sp>
      <p:sp>
        <p:nvSpPr>
          <p:cNvPr id="399" name="Google Shape;399;p57"/>
          <p:cNvSpPr txBox="1"/>
          <p:nvPr>
            <p:ph idx="1" type="body"/>
          </p:nvPr>
        </p:nvSpPr>
        <p:spPr>
          <a:xfrm>
            <a:off x="356750" y="2591050"/>
            <a:ext cx="3344100" cy="22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l" sz="1600">
                <a:solidFill>
                  <a:schemeClr val="dk1"/>
                </a:solidFill>
              </a:rPr>
              <a:t>Lower order = earlier in the chain, farther from the model </a:t>
            </a:r>
            <a:r>
              <a:rPr lang="pl" sz="1600">
                <a:solidFill>
                  <a:schemeClr val="dk1"/>
                </a:solidFill>
              </a:rPr>
              <a:t>[LLM]</a:t>
            </a:r>
            <a:r>
              <a:rPr lang="pl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pl" sz="1600">
                <a:solidFill>
                  <a:schemeClr val="dk1"/>
                </a:solidFill>
              </a:rPr>
              <a:t>Higher order = later in the chain, closer to the model [LLM].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00" name="Google Shape;400;p57"/>
          <p:cNvSpPr txBox="1"/>
          <p:nvPr/>
        </p:nvSpPr>
        <p:spPr>
          <a:xfrm>
            <a:off x="4891550" y="1248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7"/>
          <p:cNvSpPr txBox="1"/>
          <p:nvPr/>
        </p:nvSpPr>
        <p:spPr>
          <a:xfrm>
            <a:off x="311700" y="1410300"/>
            <a:ext cx="447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The execution order of advisors in the chain is determined by the </a:t>
            </a:r>
            <a:r>
              <a:rPr b="1"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getOrder()</a:t>
            </a:r>
            <a:r>
              <a:rPr b="1" lang="pl" sz="1600">
                <a:solidFill>
                  <a:schemeClr val="dk1"/>
                </a:solidFill>
              </a:rPr>
              <a:t> method.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402" name="Google Shape;40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650" y="1391000"/>
            <a:ext cx="1846431" cy="3209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/>
              <a:t>Example of </a:t>
            </a:r>
            <a:r>
              <a:rPr b="1" lang="pl" sz="2500"/>
              <a:t>Advisors</a:t>
            </a:r>
            <a:endParaRPr b="1" sz="2500"/>
          </a:p>
        </p:txBody>
      </p:sp>
      <p:sp>
        <p:nvSpPr>
          <p:cNvPr id="408" name="Google Shape;408;p58"/>
          <p:cNvSpPr txBox="1"/>
          <p:nvPr>
            <p:ph idx="1" type="body"/>
          </p:nvPr>
        </p:nvSpPr>
        <p:spPr>
          <a:xfrm>
            <a:off x="311700" y="1152475"/>
            <a:ext cx="706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MessageChatMemoryAdvisor </a:t>
            </a:r>
            <a:r>
              <a:rPr lang="pl" sz="1600">
                <a:solidFill>
                  <a:schemeClr val="dk1"/>
                </a:solidFill>
              </a:rPr>
              <a:t>→ adds history as separate messages  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QuestionAnswerAdvisor </a:t>
            </a:r>
            <a:r>
              <a:rPr lang="pl" sz="1600">
                <a:solidFill>
                  <a:schemeClr val="dk1"/>
                </a:solidFill>
              </a:rPr>
              <a:t>→ adds context from a vector store (RAG)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SafeGuardAdvisor </a:t>
            </a:r>
            <a:r>
              <a:rPr lang="pl" sz="1600">
                <a:solidFill>
                  <a:schemeClr val="dk1"/>
                </a:solidFill>
              </a:rPr>
              <a:t>→ checks the prompt and history for banned words 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ToolCallingAdvisor </a:t>
            </a:r>
            <a:r>
              <a:rPr lang="pl" sz="1600">
                <a:solidFill>
                  <a:schemeClr val="dk1"/>
                </a:solidFill>
              </a:rPr>
              <a:t>→ owns the tool calling lifecycle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SimpleLoggerAdvisor </a:t>
            </a:r>
            <a:r>
              <a:rPr lang="pl" sz="1600">
                <a:solidFill>
                  <a:schemeClr val="dk1"/>
                </a:solidFill>
              </a:rPr>
              <a:t>→ logs request and response information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8"/>
          <p:cNvSpPr txBox="1"/>
          <p:nvPr/>
        </p:nvSpPr>
        <p:spPr>
          <a:xfrm>
            <a:off x="7047200" y="1152475"/>
            <a:ext cx="191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MIN_VALUE + 200 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410" name="Google Shape;410;p58"/>
          <p:cNvSpPr txBox="1"/>
          <p:nvPr/>
        </p:nvSpPr>
        <p:spPr>
          <a:xfrm>
            <a:off x="7047200" y="2598475"/>
            <a:ext cx="191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MIN_VALUE + 300 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411" name="Google Shape;411;p58"/>
          <p:cNvSpPr txBox="1"/>
          <p:nvPr/>
        </p:nvSpPr>
        <p:spPr>
          <a:xfrm>
            <a:off x="7047200" y="515825"/>
            <a:ext cx="191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Order ID Value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412" name="Google Shape;412;p58"/>
          <p:cNvSpPr txBox="1"/>
          <p:nvPr/>
        </p:nvSpPr>
        <p:spPr>
          <a:xfrm>
            <a:off x="7103075" y="1626650"/>
            <a:ext cx="32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0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413" name="Google Shape;413;p58"/>
          <p:cNvSpPr txBox="1"/>
          <p:nvPr/>
        </p:nvSpPr>
        <p:spPr>
          <a:xfrm>
            <a:off x="7103075" y="2112563"/>
            <a:ext cx="32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0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414" name="Google Shape;414;p58"/>
          <p:cNvSpPr txBox="1"/>
          <p:nvPr/>
        </p:nvSpPr>
        <p:spPr>
          <a:xfrm>
            <a:off x="7103075" y="3114925"/>
            <a:ext cx="32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0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415" name="Google Shape;415;p58"/>
          <p:cNvSpPr txBox="1"/>
          <p:nvPr/>
        </p:nvSpPr>
        <p:spPr>
          <a:xfrm>
            <a:off x="262575" y="3743875"/>
            <a:ext cx="774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Integer.MIN_VALUE = -2 147 483 648 ← HIGHEST_PRECEDENCE (doc name) </a:t>
            </a:r>
            <a:endParaRPr sz="1600"/>
          </a:p>
        </p:txBody>
      </p:sp>
      <p:sp>
        <p:nvSpPr>
          <p:cNvPr id="416" name="Google Shape;416;p58"/>
          <p:cNvSpPr txBox="1"/>
          <p:nvPr/>
        </p:nvSpPr>
        <p:spPr>
          <a:xfrm>
            <a:off x="1914425" y="4401550"/>
            <a:ext cx="633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Order 0 is not first. It is inside the loop!!! 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Default</a:t>
            </a:r>
            <a:endParaRPr b="1"/>
          </a:p>
        </p:txBody>
      </p:sp>
      <p:pic>
        <p:nvPicPr>
          <p:cNvPr id="422" name="Google Shape;42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00" y="1244075"/>
            <a:ext cx="4180300" cy="34768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3" name="Google Shape;423;p59"/>
          <p:cNvSpPr/>
          <p:nvPr/>
        </p:nvSpPr>
        <p:spPr>
          <a:xfrm>
            <a:off x="393300" y="3418825"/>
            <a:ext cx="1487400" cy="1217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24" name="Google Shape;424;p59"/>
          <p:cNvSpPr txBox="1"/>
          <p:nvPr/>
        </p:nvSpPr>
        <p:spPr>
          <a:xfrm>
            <a:off x="50525" y="3316350"/>
            <a:ext cx="539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600">
                <a:solidFill>
                  <a:srgbClr val="FF0000"/>
                </a:solidFill>
              </a:rPr>
              <a:t>LOOP</a:t>
            </a:r>
            <a:endParaRPr b="1" sz="600">
              <a:solidFill>
                <a:srgbClr val="FF0000"/>
              </a:solidFill>
            </a:endParaRPr>
          </a:p>
        </p:txBody>
      </p:sp>
      <p:pic>
        <p:nvPicPr>
          <p:cNvPr id="425" name="Google Shape;425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1724" y="2696825"/>
            <a:ext cx="4530700" cy="202411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6" name="Google Shape;426;p59"/>
          <p:cNvSpPr txBox="1"/>
          <p:nvPr/>
        </p:nvSpPr>
        <p:spPr>
          <a:xfrm>
            <a:off x="4643875" y="1244075"/>
            <a:ext cx="4106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One memory advisor, outside the loop.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It saves only the question and the final answer. 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Memory in the Loop</a:t>
            </a:r>
            <a:endParaRPr b="1"/>
          </a:p>
        </p:txBody>
      </p:sp>
      <p:cxnSp>
        <p:nvCxnSpPr>
          <p:cNvPr id="432" name="Google Shape;432;p60"/>
          <p:cNvCxnSpPr/>
          <p:nvPr/>
        </p:nvCxnSpPr>
        <p:spPr>
          <a:xfrm>
            <a:off x="4929475" y="3463350"/>
            <a:ext cx="1107300" cy="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33" name="Google Shape;43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77" y="1657150"/>
            <a:ext cx="4356250" cy="32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60"/>
          <p:cNvSpPr/>
          <p:nvPr/>
        </p:nvSpPr>
        <p:spPr>
          <a:xfrm>
            <a:off x="626900" y="3620475"/>
            <a:ext cx="1467600" cy="1278300"/>
          </a:xfrm>
          <a:prstGeom prst="rect">
            <a:avLst/>
          </a:prstGeom>
          <a:noFill/>
          <a:ln cap="flat" cmpd="sng" w="180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825" lIns="86825" spcFirstLastPara="1" rIns="86825" wrap="square" tIns="8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30">
              <a:solidFill>
                <a:srgbClr val="FF0000"/>
              </a:solidFill>
            </a:endParaRPr>
          </a:p>
        </p:txBody>
      </p:sp>
      <p:sp>
        <p:nvSpPr>
          <p:cNvPr id="435" name="Google Shape;435;p60"/>
          <p:cNvSpPr txBox="1"/>
          <p:nvPr/>
        </p:nvSpPr>
        <p:spPr>
          <a:xfrm>
            <a:off x="209650" y="3499100"/>
            <a:ext cx="788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825" lIns="86825" spcFirstLastPara="1" rIns="86825" wrap="square" tIns="868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700">
                <a:solidFill>
                  <a:srgbClr val="FF0000"/>
                </a:solidFill>
              </a:rPr>
              <a:t>LOOP</a:t>
            </a:r>
            <a:endParaRPr b="1" sz="700">
              <a:solidFill>
                <a:srgbClr val="FF0000"/>
              </a:solidFill>
            </a:endParaRPr>
          </a:p>
        </p:txBody>
      </p:sp>
      <p:pic>
        <p:nvPicPr>
          <p:cNvPr id="436" name="Google Shape;43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6952" y="2820450"/>
            <a:ext cx="4246072" cy="211260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7" name="Google Shape;437;p60"/>
          <p:cNvSpPr txBox="1"/>
          <p:nvPr/>
        </p:nvSpPr>
        <p:spPr>
          <a:xfrm>
            <a:off x="4878300" y="1632850"/>
            <a:ext cx="395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Memory inside the loop stores the whole tool transcript. </a:t>
            </a:r>
            <a:endParaRPr b="1" sz="1600">
              <a:solidFill>
                <a:schemeClr val="dk1"/>
              </a:solidFill>
            </a:endParaRPr>
          </a:p>
        </p:txBody>
      </p:sp>
      <p:cxnSp>
        <p:nvCxnSpPr>
          <p:cNvPr id="438" name="Google Shape;438;p60"/>
          <p:cNvCxnSpPr/>
          <p:nvPr/>
        </p:nvCxnSpPr>
        <p:spPr>
          <a:xfrm flipH="1">
            <a:off x="1613575" y="2352275"/>
            <a:ext cx="4423200" cy="144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60"/>
          <p:cNvCxnSpPr/>
          <p:nvPr/>
        </p:nvCxnSpPr>
        <p:spPr>
          <a:xfrm flipH="1">
            <a:off x="1778675" y="2356950"/>
            <a:ext cx="4252200" cy="206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Memory </a:t>
            </a:r>
            <a:r>
              <a:rPr b="1" lang="pl"/>
              <a:t>Inside</a:t>
            </a:r>
            <a:r>
              <a:rPr b="1" lang="pl"/>
              <a:t> &amp;&amp; </a:t>
            </a:r>
            <a:r>
              <a:rPr b="1" lang="pl"/>
              <a:t>Outside</a:t>
            </a:r>
            <a:endParaRPr b="1"/>
          </a:p>
        </p:txBody>
      </p:sp>
      <p:pic>
        <p:nvPicPr>
          <p:cNvPr id="445" name="Google Shape;44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8050" y="2789706"/>
            <a:ext cx="4685624" cy="216011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6" name="Google Shape;446;p61"/>
          <p:cNvSpPr txBox="1"/>
          <p:nvPr/>
        </p:nvSpPr>
        <p:spPr>
          <a:xfrm>
            <a:off x="240225" y="1087800"/>
            <a:ext cx="8968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Now one memory advisor is outside the loop and one inside.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Both save the question, so from the second iteration on it is sent twice.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Spring AI catches duplicates between the loop’s history and memory, but not between two memory advisors. </a:t>
            </a:r>
            <a:endParaRPr b="1" sz="1600">
              <a:solidFill>
                <a:schemeClr val="dk1"/>
              </a:solidFill>
            </a:endParaRPr>
          </a:p>
        </p:txBody>
      </p:sp>
      <p:cxnSp>
        <p:nvCxnSpPr>
          <p:cNvPr id="447" name="Google Shape;447;p61"/>
          <p:cNvCxnSpPr/>
          <p:nvPr/>
        </p:nvCxnSpPr>
        <p:spPr>
          <a:xfrm>
            <a:off x="6463375" y="2167625"/>
            <a:ext cx="704700" cy="80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61"/>
          <p:cNvCxnSpPr/>
          <p:nvPr/>
        </p:nvCxnSpPr>
        <p:spPr>
          <a:xfrm flipH="1" rot="10800000">
            <a:off x="7097375" y="3419725"/>
            <a:ext cx="1432800" cy="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61"/>
          <p:cNvCxnSpPr/>
          <p:nvPr/>
        </p:nvCxnSpPr>
        <p:spPr>
          <a:xfrm>
            <a:off x="4351150" y="3516750"/>
            <a:ext cx="1107300" cy="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0" name="Google Shape;45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700" y="2424651"/>
            <a:ext cx="3766326" cy="9093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1" name="Google Shape;451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721" y="3444025"/>
            <a:ext cx="3766329" cy="150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2500"/>
              <a:t>Three levels of hiding the loop</a:t>
            </a:r>
            <a:endParaRPr b="1" sz="2500"/>
          </a:p>
        </p:txBody>
      </p:sp>
      <p:pic>
        <p:nvPicPr>
          <p:cNvPr id="457" name="Google Shape;45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521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Who stops the loop? </a:t>
            </a:r>
            <a:endParaRPr b="1"/>
          </a:p>
        </p:txBody>
      </p:sp>
      <p:graphicFrame>
        <p:nvGraphicFramePr>
          <p:cNvPr id="463" name="Google Shape;463;p63"/>
          <p:cNvGraphicFramePr/>
          <p:nvPr/>
        </p:nvGraphicFramePr>
        <p:xfrm>
          <a:off x="904375" y="165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{ACB805AD-ABB5-4B33-BC9D-82787A56E162}</a:tableStyleId>
              </a:tblPr>
              <a:tblGrid>
                <a:gridCol w="1713450"/>
                <a:gridCol w="1984200"/>
                <a:gridCol w="3476775"/>
              </a:tblGrid>
              <a:tr h="672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600">
                          <a:solidFill>
                            <a:schemeClr val="dk1"/>
                          </a:solidFill>
                        </a:rPr>
                        <a:t>Implementation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600">
                          <a:solidFill>
                            <a:schemeClr val="dk1"/>
                          </a:solidFill>
                        </a:rPr>
                        <a:t>Limit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600">
                          <a:solidFill>
                            <a:schemeClr val="dk1"/>
                          </a:solidFill>
                        </a:rPr>
                        <a:t>When exceeded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raw-agent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10 iterations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a string in HTTP 200, indistinguishable from an answer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LC4j AiServices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100 by default (10 in the demo)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exception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Spring AI 2.0.1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40 per tool / 150 per request </a:t>
                      </a:r>
                      <a:r>
                        <a:rPr b="1" lang="pl" sz="1600" u="sng">
                          <a:solidFill>
                            <a:schemeClr val="dk1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doc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response with a dedicated finish reason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OpenRouter</a:t>
            </a:r>
            <a:endParaRPr b="1"/>
          </a:p>
        </p:txBody>
      </p:sp>
      <p:sp>
        <p:nvSpPr>
          <p:cNvPr id="469" name="Google Shape;469;p64"/>
          <p:cNvSpPr txBox="1"/>
          <p:nvPr>
            <p:ph idx="1" type="body"/>
          </p:nvPr>
        </p:nvSpPr>
        <p:spPr>
          <a:xfrm>
            <a:off x="311700" y="1152475"/>
            <a:ext cx="8520600" cy="11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OpenRouter is a single API in front of hundreds of models from dozens of vendors.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One key, one base URL, and the OpenAI protocol everyone already speaks.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470" name="Google Shape;47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475" y="2061075"/>
            <a:ext cx="5659149" cy="29943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Configuration</a:t>
            </a:r>
            <a:endParaRPr b="1"/>
          </a:p>
        </p:txBody>
      </p:sp>
      <p:sp>
        <p:nvSpPr>
          <p:cNvPr id="476" name="Google Shape;476;p65"/>
          <p:cNvSpPr txBox="1"/>
          <p:nvPr/>
        </p:nvSpPr>
        <p:spPr>
          <a:xfrm>
            <a:off x="5276438" y="11648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Spring AI configuration 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477" name="Google Shape;477;p65"/>
          <p:cNvSpPr txBox="1"/>
          <p:nvPr/>
        </p:nvSpPr>
        <p:spPr>
          <a:xfrm>
            <a:off x="5200125" y="193316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O</a:t>
            </a:r>
            <a:r>
              <a:rPr b="1" lang="pl" sz="1600">
                <a:solidFill>
                  <a:schemeClr val="dk1"/>
                </a:solidFill>
              </a:rPr>
              <a:t>wn properties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478" name="Google Shape;47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956" y="1425875"/>
            <a:ext cx="3706318" cy="34041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9" name="Google Shape;479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1425" y="3279725"/>
            <a:ext cx="4201281" cy="14933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480" name="Google Shape;480;p65"/>
          <p:cNvCxnSpPr/>
          <p:nvPr/>
        </p:nvCxnSpPr>
        <p:spPr>
          <a:xfrm flipH="1">
            <a:off x="6323175" y="2364275"/>
            <a:ext cx="38700" cy="119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" name="Google Shape;481;p65"/>
          <p:cNvCxnSpPr/>
          <p:nvPr/>
        </p:nvCxnSpPr>
        <p:spPr>
          <a:xfrm flipH="1">
            <a:off x="3474588" y="1425875"/>
            <a:ext cx="1817700" cy="79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Chat</a:t>
            </a:r>
            <a:endParaRPr b="1"/>
          </a:p>
        </p:txBody>
      </p:sp>
      <p:pic>
        <p:nvPicPr>
          <p:cNvPr id="487" name="Google Shape;48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3875" y="1052225"/>
            <a:ext cx="5836323" cy="38209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Image Generation </a:t>
            </a:r>
            <a:endParaRPr b="1"/>
          </a:p>
        </p:txBody>
      </p:sp>
      <p:pic>
        <p:nvPicPr>
          <p:cNvPr id="493" name="Google Shape;49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25" y="1710525"/>
            <a:ext cx="7423926" cy="2868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Speech </a:t>
            </a:r>
            <a:endParaRPr b="1"/>
          </a:p>
        </p:txBody>
      </p:sp>
      <p:pic>
        <p:nvPicPr>
          <p:cNvPr id="499" name="Google Shape;49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1975" y="1135725"/>
            <a:ext cx="5202173" cy="38209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Vision </a:t>
            </a:r>
            <a:endParaRPr b="1"/>
          </a:p>
        </p:txBody>
      </p:sp>
      <p:pic>
        <p:nvPicPr>
          <p:cNvPr id="505" name="Google Shape;50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825" y="1150500"/>
            <a:ext cx="4213644" cy="3820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Music </a:t>
            </a:r>
            <a:endParaRPr b="1"/>
          </a:p>
        </p:txBody>
      </p:sp>
      <p:sp>
        <p:nvSpPr>
          <p:cNvPr id="511" name="Google Shape;511;p70"/>
          <p:cNvSpPr txBox="1"/>
          <p:nvPr>
            <p:ph idx="1" type="body"/>
          </p:nvPr>
        </p:nvSpPr>
        <p:spPr>
          <a:xfrm>
            <a:off x="311700" y="1667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Lyria is a chat endpoint. Getting the bytes out took five attempts.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1.  chatModel.call() → timed lyrics, no audio “[0.0:7.3] O-Zone, we dance tonight…]“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2.  + getMedia()      → media blocks = 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3.  + modalities       → `voice` is required, but was not set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4.  + voice               → 400: Audio output requires stream: true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5.  + stream()          → the stream arrives, media blocks = 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Every one of those errors was correct and specific. None of them said where to look.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70"/>
          <p:cNvSpPr txBox="1"/>
          <p:nvPr/>
        </p:nvSpPr>
        <p:spPr>
          <a:xfrm>
            <a:off x="311700" y="1127125"/>
            <a:ext cx="447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Here is where the trouble started….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Why can't Spring AI reach it?</a:t>
            </a:r>
            <a:endParaRPr b="1"/>
          </a:p>
        </p:txBody>
      </p:sp>
      <p:graphicFrame>
        <p:nvGraphicFramePr>
          <p:cNvPr id="518" name="Google Shape;518;p71"/>
          <p:cNvGraphicFramePr/>
          <p:nvPr/>
        </p:nvGraphicFramePr>
        <p:xfrm>
          <a:off x="450063" y="129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{ACB805AD-ABB5-4B33-BC9D-82787A56E162}</a:tableStyleId>
              </a:tblPr>
              <a:tblGrid>
                <a:gridCol w="1441150"/>
                <a:gridCol w="64692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600">
                          <a:solidFill>
                            <a:schemeClr val="dk1"/>
                          </a:solidFill>
                        </a:rPr>
                        <a:t>Layer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 sz="1600">
                          <a:solidFill>
                            <a:schemeClr val="dk1"/>
                          </a:solidFill>
                        </a:rPr>
                        <a:t>Behavior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Google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Exposes Lyria through the Interactions API, not </a:t>
                      </a:r>
                      <a:r>
                        <a:rPr lang="pl" sz="16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/audio/speech</a:t>
                      </a:r>
                      <a:endParaRPr sz="16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OpenRouter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Returns audio from chat </a:t>
                      </a:r>
                      <a:r>
                        <a:rPr lang="pl" sz="1600">
                          <a:solidFill>
                            <a:schemeClr val="dk1"/>
                          </a:solidFill>
                        </a:rPr>
                        <a:t>only </a:t>
                      </a:r>
                      <a:r>
                        <a:rPr lang="pl" sz="1600">
                          <a:solidFill>
                            <a:schemeClr val="dk1"/>
                          </a:solidFill>
                        </a:rPr>
                        <a:t>when </a:t>
                      </a:r>
                      <a:r>
                        <a:rPr lang="pl" sz="16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stream: true</a:t>
                      </a:r>
                      <a:endParaRPr sz="16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OpenAI SDK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Validates a speech-oriented request schema and requires </a:t>
                      </a:r>
                      <a:r>
                        <a:rPr lang="pl" sz="16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voice</a:t>
                      </a:r>
                      <a:endParaRPr sz="16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Spring AI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600">
                          <a:solidFill>
                            <a:schemeClr val="dk1"/>
                          </a:solidFill>
                        </a:rPr>
                        <a:t>Maps audio to </a:t>
                      </a:r>
                      <a:r>
                        <a:rPr lang="pl" sz="16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Media</a:t>
                      </a:r>
                      <a:r>
                        <a:rPr lang="pl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pl" sz="1600">
                          <a:solidFill>
                            <a:schemeClr val="dk1"/>
                          </a:solidFill>
                        </a:rPr>
                        <a:t>only </a:t>
                      </a:r>
                      <a:r>
                        <a:rPr lang="pl" sz="1600">
                          <a:solidFill>
                            <a:schemeClr val="dk1"/>
                          </a:solidFill>
                        </a:rPr>
                        <a:t>in the </a:t>
                      </a:r>
                      <a:r>
                        <a:rPr lang="pl" sz="1600">
                          <a:solidFill>
                            <a:schemeClr val="dk1"/>
                          </a:solidFill>
                        </a:rPr>
                        <a:t>non-streaming (blocking) path 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9" name="Google Shape;519;p71"/>
          <p:cNvSpPr txBox="1"/>
          <p:nvPr/>
        </p:nvSpPr>
        <p:spPr>
          <a:xfrm>
            <a:off x="450075" y="3938725"/>
            <a:ext cx="7800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No layer made a mistake, so no layer could warn.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Music dropped to raw HTTP.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One modality on the transport is cheaper than pretending the abstraction covers five.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Code Snippet </a:t>
            </a:r>
            <a:endParaRPr b="1"/>
          </a:p>
        </p:txBody>
      </p:sp>
      <p:sp>
        <p:nvSpPr>
          <p:cNvPr id="525" name="Google Shape;525;p72"/>
          <p:cNvSpPr txBox="1"/>
          <p:nvPr/>
        </p:nvSpPr>
        <p:spPr>
          <a:xfrm>
            <a:off x="191000" y="3604100"/>
            <a:ext cx="77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Bytes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526" name="Google Shape;52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150" y="1076775"/>
            <a:ext cx="5969639" cy="38209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527" name="Google Shape;527;p72"/>
          <p:cNvCxnSpPr/>
          <p:nvPr/>
        </p:nvCxnSpPr>
        <p:spPr>
          <a:xfrm>
            <a:off x="928075" y="3903200"/>
            <a:ext cx="1415400" cy="793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Video </a:t>
            </a:r>
            <a:endParaRPr b="1"/>
          </a:p>
        </p:txBody>
      </p:sp>
      <p:sp>
        <p:nvSpPr>
          <p:cNvPr id="533" name="Google Shape;533;p73"/>
          <p:cNvSpPr txBox="1"/>
          <p:nvPr>
            <p:ph idx="1" type="body"/>
          </p:nvPr>
        </p:nvSpPr>
        <p:spPr>
          <a:xfrm>
            <a:off x="273175" y="1122425"/>
            <a:ext cx="4924200" cy="33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chemeClr val="dk1"/>
                </a:solidFill>
              </a:rPr>
              <a:t>Video generation is asynchronous: submit, poll, download.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There is no </a:t>
            </a:r>
            <a:r>
              <a:rPr lang="pl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VideoModel </a:t>
            </a:r>
            <a:r>
              <a:rPr lang="pl" sz="1600">
                <a:solidFill>
                  <a:schemeClr val="dk1"/>
                </a:solidFill>
              </a:rPr>
              <a:t>in Spring AI, so the client is custom.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>
                <a:solidFill>
                  <a:schemeClr val="dk1"/>
                </a:solidFill>
              </a:rPr>
              <a:t>Music had the opposite problem, the abstraction existed and could not be reached. 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id="534" name="Google Shape;53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1275" y="594900"/>
            <a:ext cx="246514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Is one protocol really enough?</a:t>
            </a:r>
            <a:endParaRPr b="1"/>
          </a:p>
        </p:txBody>
      </p:sp>
      <p:sp>
        <p:nvSpPr>
          <p:cNvPr id="540" name="Google Shape;540;p74"/>
          <p:cNvSpPr txBox="1"/>
          <p:nvPr/>
        </p:nvSpPr>
        <p:spPr>
          <a:xfrm>
            <a:off x="256025" y="1367475"/>
            <a:ext cx="69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800">
                <a:solidFill>
                  <a:schemeClr val="lt2"/>
                </a:solidFill>
              </a:rPr>
              <a:t> </a:t>
            </a:r>
            <a:r>
              <a:rPr b="1" lang="pl" sz="1800">
                <a:solidFill>
                  <a:schemeClr val="dk1"/>
                </a:solidFill>
              </a:rPr>
              <a:t>One provider does not mean one protocol. 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541" name="Google Shape;54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25" y="2100625"/>
            <a:ext cx="8839204" cy="2132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/>
              <a:t>S</a:t>
            </a:r>
            <a:r>
              <a:rPr b="1" lang="pl" sz="2500"/>
              <a:t>ee you in part </a:t>
            </a:r>
            <a:r>
              <a:rPr b="1" lang="pl" sz="2500"/>
              <a:t>Ⅱ </a:t>
            </a:r>
            <a:r>
              <a:rPr b="1" lang="pl" sz="2500"/>
              <a:t>next week!</a:t>
            </a:r>
            <a:endParaRPr b="1" sz="2500"/>
          </a:p>
        </p:txBody>
      </p:sp>
      <p:pic>
        <p:nvPicPr>
          <p:cNvPr id="547" name="Google Shape;54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200" y="1017725"/>
            <a:ext cx="6870901" cy="38692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