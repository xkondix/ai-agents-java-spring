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y="5143500" cx="9144000"/>
  <p:notesSz cx="6858000" cy="9144000"/>
  <p:embeddedFontLst>
    <p:embeddedFont>
      <p:font typeface="Raleway"/>
      <p:regular r:id="rId58"/>
      <p:bold r:id="rId59"/>
      <p:italic r:id="rId60"/>
      <p:boldItalic r:id="rId61"/>
    </p:embeddedFont>
    <p:embeddedFont>
      <p:font typeface="Roboto"/>
      <p:regular r:id="rId62"/>
      <p:bold r:id="rId63"/>
      <p:italic r:id="rId64"/>
      <p:boldItalic r:id="rId65"/>
    </p:embeddedFont>
    <p:embeddedFont>
      <p:font typeface="Lato"/>
      <p:regular r:id="rId66"/>
      <p:bold r:id="rId67"/>
      <p:italic r:id="rId68"/>
      <p:boldItalic r:id="rId69"/>
    </p:embeddedFont>
    <p:embeddedFont>
      <p:font typeface="Roboto Mono"/>
      <p:regular r:id="rId70"/>
      <p:bold r:id="rId71"/>
      <p:italic r:id="rId72"/>
      <p:boldItalic r:id="rId7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615D2B-6423-4E84-BB85-0A1080EE1EAB}">
  <a:tblStyle styleId="{9D615D2B-6423-4E84-BB85-0A1080EE1E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73" Type="http://schemas.openxmlformats.org/officeDocument/2006/relationships/font" Target="fonts/RobotoMono-boldItalic.fntdata"/><Relationship Id="rId72" Type="http://schemas.openxmlformats.org/officeDocument/2006/relationships/font" Target="fonts/RobotoMono-italic.fntdata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71" Type="http://schemas.openxmlformats.org/officeDocument/2006/relationships/font" Target="fonts/RobotoMono-bold.fntdata"/><Relationship Id="rId70" Type="http://schemas.openxmlformats.org/officeDocument/2006/relationships/font" Target="fonts/RobotoMono-regular.fntdata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font" Target="fonts/Roboto-regular.fntdata"/><Relationship Id="rId61" Type="http://schemas.openxmlformats.org/officeDocument/2006/relationships/font" Target="fonts/Raleway-boldItalic.fntdata"/><Relationship Id="rId20" Type="http://schemas.openxmlformats.org/officeDocument/2006/relationships/slide" Target="slides/slide13.xml"/><Relationship Id="rId64" Type="http://schemas.openxmlformats.org/officeDocument/2006/relationships/font" Target="fonts/Roboto-italic.fntdata"/><Relationship Id="rId63" Type="http://schemas.openxmlformats.org/officeDocument/2006/relationships/font" Target="fonts/Roboto-bold.fntdata"/><Relationship Id="rId22" Type="http://schemas.openxmlformats.org/officeDocument/2006/relationships/slide" Target="slides/slide15.xml"/><Relationship Id="rId66" Type="http://schemas.openxmlformats.org/officeDocument/2006/relationships/font" Target="fonts/Lato-regular.fntdata"/><Relationship Id="rId21" Type="http://schemas.openxmlformats.org/officeDocument/2006/relationships/slide" Target="slides/slide14.xml"/><Relationship Id="rId65" Type="http://schemas.openxmlformats.org/officeDocument/2006/relationships/font" Target="fonts/Roboto-boldItalic.fntdata"/><Relationship Id="rId24" Type="http://schemas.openxmlformats.org/officeDocument/2006/relationships/slide" Target="slides/slide17.xml"/><Relationship Id="rId68" Type="http://schemas.openxmlformats.org/officeDocument/2006/relationships/font" Target="fonts/Lato-italic.fntdata"/><Relationship Id="rId23" Type="http://schemas.openxmlformats.org/officeDocument/2006/relationships/slide" Target="slides/slide16.xml"/><Relationship Id="rId67" Type="http://schemas.openxmlformats.org/officeDocument/2006/relationships/font" Target="fonts/Lato-bold.fntdata"/><Relationship Id="rId60" Type="http://schemas.openxmlformats.org/officeDocument/2006/relationships/font" Target="fonts/Raleway-italic.fntdata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69" Type="http://schemas.openxmlformats.org/officeDocument/2006/relationships/font" Target="fonts/Lato-boldItalic.fntdata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slide" Target="slides/slide48.xml"/><Relationship Id="rId10" Type="http://schemas.openxmlformats.org/officeDocument/2006/relationships/slide" Target="slides/slide3.xml"/><Relationship Id="rId54" Type="http://schemas.openxmlformats.org/officeDocument/2006/relationships/slide" Target="slides/slide47.xml"/><Relationship Id="rId13" Type="http://schemas.openxmlformats.org/officeDocument/2006/relationships/slide" Target="slides/slide6.xml"/><Relationship Id="rId57" Type="http://schemas.openxmlformats.org/officeDocument/2006/relationships/slide" Target="slides/slide50.xml"/><Relationship Id="rId12" Type="http://schemas.openxmlformats.org/officeDocument/2006/relationships/slide" Target="slides/slide5.xml"/><Relationship Id="rId56" Type="http://schemas.openxmlformats.org/officeDocument/2006/relationships/slide" Target="slides/slide49.xml"/><Relationship Id="rId15" Type="http://schemas.openxmlformats.org/officeDocument/2006/relationships/slide" Target="slides/slide8.xml"/><Relationship Id="rId59" Type="http://schemas.openxmlformats.org/officeDocument/2006/relationships/font" Target="fonts/Raleway-bold.fntdata"/><Relationship Id="rId14" Type="http://schemas.openxmlformats.org/officeDocument/2006/relationships/slide" Target="slides/slide7.xml"/><Relationship Id="rId58" Type="http://schemas.openxmlformats.org/officeDocument/2006/relationships/font" Target="fonts/Raleway-regular.fntdata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h4d9b5d7495380ac_5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h4d9b5d7495380ac_5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4d9b5d7495380ac_2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h4d9b5d7495380ac_2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4d9b5d7495380ac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h4d9b5d7495380ac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4d9b5d7495380ac_2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h4d9b5d7495380ac_2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h2c04caa066c0fa8f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h2c04caa066c0fa8f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h2c04caa066c0fa8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h2c04caa066c0fa8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h4d9b5d7495380ac_2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h4d9b5d7495380ac_2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58aa35c2e4d04f53_0_5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h58aa35c2e4d04f53_0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h631936fab7da3848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h631936fab7da3848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h4d9b5d7495380ac_2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h4d9b5d7495380ac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58aa35c2e4d04f53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h58aa35c2e4d04f53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h58aa35c2e4d04f53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h58aa35c2e4d04f53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58aa35c2e4d04f53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h58aa35c2e4d04f53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58aa35c2e4d04f53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h58aa35c2e4d04f53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h58aa35c2e4d04f53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h58aa35c2e4d04f53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h58aa35c2e4d04f53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h58aa35c2e4d04f53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58aa35c2e4d04f53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58aa35c2e4d04f53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h58aa35c2e4d04f53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h58aa35c2e4d04f5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h58aa35c2e4d04f53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h58aa35c2e4d04f5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h58aa35c2e4d04f53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h58aa35c2e4d04f53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h58aa35c2e4d04f53_0_2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h58aa35c2e4d04f53_0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h58aa35c2e4d04f53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h58aa35c2e4d04f53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h58aa35c2e4d04f53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h58aa35c2e4d04f53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58aa35c2e4d04f53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h58aa35c2e4d04f53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h631936fab7da3848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h631936fab7da3848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h631936fab7da3848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h631936fab7da3848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58aa35c2e4d04f53_0_2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h58aa35c2e4d04f53_0_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h58aa35c2e4d04f53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h58aa35c2e4d04f53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h58aa35c2e4d04f53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h58aa35c2e4d04f53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h58aa35c2e4d04f53_0_3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h58aa35c2e4d04f53_0_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58aa35c2e4d04f53_0_3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h58aa35c2e4d04f53_0_3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h58aa35c2e4d04f53_0_3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h58aa35c2e4d04f53_0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58aa35c2e4d04f53_0_3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h58aa35c2e4d04f53_0_3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h58aa35c2e4d04f53_0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h58aa35c2e4d04f53_0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h58aa35c2e4d04f53_0_3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h58aa35c2e4d04f53_0_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h58aa35c2e4d04f53_0_3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h58aa35c2e4d04f53_0_3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h58aa35c2e4d04f53_0_2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h58aa35c2e4d04f53_0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h7cfdbf8587696338_3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h7cfdbf8587696338_3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h58aa35c2e4d04f53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h58aa35c2e4d04f53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h58aa35c2e4d04f53_0_4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h58aa35c2e4d04f53_0_4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h58aa35c2e4d04f53_0_4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h58aa35c2e4d04f53_0_4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h58aa35c2e4d04f53_0_4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h58aa35c2e4d04f53_0_4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h58aa35c2e4d04f53_0_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h58aa35c2e4d04f53_0_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h58aa35c2e4d04f53_0_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h58aa35c2e4d04f53_0_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h58aa35c2e4d04f53_0_4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h58aa35c2e4d04f53_0_4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h58aa35c2e4d04f53_0_5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h58aa35c2e4d04f53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h58aa35c2e4d04f53_0_5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h58aa35c2e4d04f53_0_5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h58aa35c2e4d04f53_0_4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h58aa35c2e4d04f53_0_4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h58aa35c2e4d04f53_0_5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4" name="Google Shape;524;h58aa35c2e4d04f53_0_5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h58aa35c2e4d04f53_0_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h58aa35c2e4d04f53_0_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4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5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5"/>
          <p:cNvSpPr txBox="1"/>
          <p:nvPr>
            <p:ph idx="2" type="body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7"/>
          <p:cNvSpPr txBox="1"/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" name="Google Shape;43;p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" name="Google Shape;46;p8"/>
          <p:cNvSpPr txBox="1"/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9"/>
          <p:cNvSpPr txBox="1"/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" type="subTitle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1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1"/>
          <p:cNvSpPr txBox="1"/>
          <p:nvPr>
            <p:ph hasCustomPrompt="1" type="title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5" name="Google Shape;65;p1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8" name="Google Shape;78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2" name="Google Shape;8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6" name="Google Shape;86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7" name="Google Shape;9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01" name="Google Shape;101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3" name="Google Shape;10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0" name="Google Shape;11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wiss-2">
    <p:bg>
      <p:bgPr>
        <a:gradFill>
          <a:gsLst>
            <a:gs pos="0">
              <a:srgbClr val="EF6C04"/>
            </a:gs>
            <a:gs pos="64000">
              <a:srgbClr val="EF6C04"/>
            </a:gs>
            <a:gs pos="100000">
              <a:srgbClr val="A9530F"/>
            </a:gs>
          </a:gsLst>
          <a:path path="circle">
            <a:fillToRect b="100%" l="0%" r="100%" t="0%"/>
          </a:path>
          <a:tileRect b="0%" l="-100%" r="0%" t="-100%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gradFill>
          <a:gsLst>
            <a:gs pos="0">
              <a:srgbClr val="EF6C04"/>
            </a:gs>
            <a:gs pos="64000">
              <a:srgbClr val="EF6C04"/>
            </a:gs>
            <a:gs pos="100000">
              <a:srgbClr val="A9530F"/>
            </a:gs>
          </a:gsLst>
          <a:path path="circle">
            <a:fillToRect b="100%" l="0%" r="100%" t="0%"/>
          </a:path>
          <a:tileRect b="0%" l="-100%" r="0%" t="-100%"/>
        </a:gra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xkondix/ai-agents-JAVA-SPRING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xkondix/aiSandbox-JAVA-SPIRNG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strandsagents.com/docs/user-guide/migrate/openai/" TargetMode="External"/><Relationship Id="rId4" Type="http://schemas.openxmlformats.org/officeDocument/2006/relationships/hyperlink" Target="https://developers.openai.com/cookbook/examples/reasoning_function_calls" TargetMode="External"/><Relationship Id="rId5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image" Target="../media/image2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9.png"/><Relationship Id="rId4" Type="http://schemas.openxmlformats.org/officeDocument/2006/relationships/image" Target="../media/image2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5.png"/><Relationship Id="rId4" Type="http://schemas.openxmlformats.org/officeDocument/2006/relationships/image" Target="../media/image32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6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0.png"/><Relationship Id="rId4" Type="http://schemas.openxmlformats.org/officeDocument/2006/relationships/image" Target="../media/image3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1.png"/><Relationship Id="rId4" Type="http://schemas.openxmlformats.org/officeDocument/2006/relationships/image" Target="../media/image3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docs.spring.io/spring-ai/reference/upgrade-notes.html#_new_tool_call_limits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1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7.png"/><Relationship Id="rId4" Type="http://schemas.openxmlformats.org/officeDocument/2006/relationships/image" Target="../media/image48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6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3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5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0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7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9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5"/>
          <p:cNvSpPr txBox="1"/>
          <p:nvPr>
            <p:ph type="ctrTitle"/>
          </p:nvPr>
        </p:nvSpPr>
        <p:spPr>
          <a:xfrm>
            <a:off x="1421899" y="852600"/>
            <a:ext cx="6661500" cy="144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The Agent Is a Loop </a:t>
            </a:r>
            <a:endParaRPr/>
          </a:p>
        </p:txBody>
      </p:sp>
      <p:sp>
        <p:nvSpPr>
          <p:cNvPr descr="xkondix AI Sandbox" id="118" name="Google Shape;118;p25"/>
          <p:cNvSpPr txBox="1"/>
          <p:nvPr>
            <p:ph idx="1" type="subTitle"/>
          </p:nvPr>
        </p:nvSpPr>
        <p:spPr>
          <a:xfrm>
            <a:off x="4103000" y="2857100"/>
            <a:ext cx="4621800" cy="9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1"/>
                </a:solidFill>
              </a:rPr>
              <a:t>   </a:t>
            </a:r>
            <a:r>
              <a:rPr lang="pl">
                <a:solidFill>
                  <a:schemeClr val="dk1"/>
                </a:solidFill>
              </a:rPr>
              <a:t>Author: Konrad Kowalczyk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1"/>
                </a:solidFill>
              </a:rPr>
              <a:t>Repository: </a:t>
            </a:r>
            <a:r>
              <a:rPr lang="pl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ai-agents-JAVA-SPRING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Let's start from the beginning</a:t>
            </a:r>
            <a:endParaRPr b="1"/>
          </a:p>
        </p:txBody>
      </p:sp>
      <p:sp>
        <p:nvSpPr>
          <p:cNvPr id="124" name="Google Shape;124;p26"/>
          <p:cNvSpPr txBox="1"/>
          <p:nvPr>
            <p:ph idx="1" type="body"/>
          </p:nvPr>
        </p:nvSpPr>
        <p:spPr>
          <a:xfrm>
            <a:off x="1119825" y="1774750"/>
            <a:ext cx="2949000" cy="99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6400">
                <a:solidFill>
                  <a:schemeClr val="dk1"/>
                </a:solidFill>
              </a:rPr>
              <a:t>This is a continuation of last year's presentation, which focused on… </a:t>
            </a:r>
            <a:endParaRPr sz="64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6"/>
          <p:cNvSpPr txBox="1"/>
          <p:nvPr/>
        </p:nvSpPr>
        <p:spPr>
          <a:xfrm>
            <a:off x="1572000" y="39217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xkondix AI Sandbox</a:t>
            </a:r>
            <a:endParaRPr sz="1600">
              <a:solidFill>
                <a:schemeClr val="lt2"/>
              </a:solidFill>
            </a:endParaRPr>
          </a:p>
        </p:txBody>
      </p:sp>
      <p:sp>
        <p:nvSpPr>
          <p:cNvPr id="126" name="Google Shape;126;p26"/>
          <p:cNvSpPr txBox="1"/>
          <p:nvPr/>
        </p:nvSpPr>
        <p:spPr>
          <a:xfrm>
            <a:off x="5078450" y="1325525"/>
            <a:ext cx="809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RAG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7" name="Google Shape;127;p26"/>
          <p:cNvSpPr txBox="1"/>
          <p:nvPr/>
        </p:nvSpPr>
        <p:spPr>
          <a:xfrm>
            <a:off x="5078525" y="2803325"/>
            <a:ext cx="2725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CHAT MEMORY “REDIS”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8" name="Google Shape;128;p26"/>
          <p:cNvSpPr txBox="1"/>
          <p:nvPr/>
        </p:nvSpPr>
        <p:spPr>
          <a:xfrm>
            <a:off x="5153225" y="2064425"/>
            <a:ext cx="932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TOOLS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9" name="Google Shape;129;p26"/>
          <p:cNvSpPr txBox="1"/>
          <p:nvPr/>
        </p:nvSpPr>
        <p:spPr>
          <a:xfrm>
            <a:off x="525125" y="3985250"/>
            <a:ext cx="1163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chemeClr val="dk1"/>
                </a:solidFill>
              </a:rPr>
              <a:t>OLD REPO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26"/>
          <p:cNvCxnSpPr/>
          <p:nvPr/>
        </p:nvCxnSpPr>
        <p:spPr>
          <a:xfrm flipH="1" rot="10800000">
            <a:off x="1521075" y="4156900"/>
            <a:ext cx="525300" cy="3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1" name="Google Shape;131;p26"/>
          <p:cNvCxnSpPr>
            <a:stCxn id="124" idx="3"/>
            <a:endCxn id="126" idx="1"/>
          </p:cNvCxnSpPr>
          <p:nvPr/>
        </p:nvCxnSpPr>
        <p:spPr>
          <a:xfrm flipH="1" rot="10800000">
            <a:off x="4068825" y="1541200"/>
            <a:ext cx="1009500" cy="729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2" name="Google Shape;132;p26"/>
          <p:cNvCxnSpPr>
            <a:stCxn id="124" idx="3"/>
            <a:endCxn id="128" idx="1"/>
          </p:cNvCxnSpPr>
          <p:nvPr/>
        </p:nvCxnSpPr>
        <p:spPr>
          <a:xfrm>
            <a:off x="4068825" y="2270500"/>
            <a:ext cx="1084500" cy="9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3" name="Google Shape;133;p26"/>
          <p:cNvCxnSpPr>
            <a:stCxn id="124" idx="3"/>
            <a:endCxn id="127" idx="1"/>
          </p:cNvCxnSpPr>
          <p:nvPr/>
        </p:nvCxnSpPr>
        <p:spPr>
          <a:xfrm>
            <a:off x="4068825" y="2270500"/>
            <a:ext cx="1009800" cy="748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Roadmap </a:t>
            </a:r>
            <a:endParaRPr b="1"/>
          </a:p>
        </p:txBody>
      </p:sp>
      <p:sp>
        <p:nvSpPr>
          <p:cNvPr id="139" name="Google Shape;139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1. The Agent Is a Loop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Writing one by hand, and what frameworks hide when they write it for you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2</a:t>
            </a:r>
            <a:r>
              <a:rPr b="1" lang="pl">
                <a:solidFill>
                  <a:schemeClr val="dk1"/>
                </a:solidFill>
              </a:rPr>
              <a:t>. Agentic Workflow Patterns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Five shapes, two frameworks, and when the DSL earns its keep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3. MCP as a Process Boundary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Tools, resources and prompts over two transports: HTTP for agents, STDIO for Claude Desktop 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4. How Do You Know It Works? 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Traces, metrics, logs and dashboards for everything your agents actually do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2500"/>
              <a:t>The Agent Is a Loop</a:t>
            </a:r>
            <a:endParaRPr b="1" sz="2500"/>
          </a:p>
        </p:txBody>
      </p:sp>
      <p:sp>
        <p:nvSpPr>
          <p:cNvPr id="145" name="Google Shape;145;p28"/>
          <p:cNvSpPr txBox="1"/>
          <p:nvPr>
            <p:ph idx="1" type="body"/>
          </p:nvPr>
        </p:nvSpPr>
        <p:spPr>
          <a:xfrm>
            <a:off x="251000" y="1152475"/>
            <a:ext cx="4582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What is an agent? 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Build it</a:t>
            </a:r>
            <a:r>
              <a:rPr lang="pl" sz="1600">
                <a:solidFill>
                  <a:schemeClr val="dk1"/>
                </a:solidFill>
              </a:rPr>
              <a:t>    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Hide it</a:t>
            </a:r>
            <a:r>
              <a:rPr lang="pl" sz="1600">
                <a:solidFill>
                  <a:schemeClr val="dk1"/>
                </a:solidFill>
              </a:rPr>
              <a:t>     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Control it</a:t>
            </a:r>
            <a:r>
              <a:rPr lang="pl" sz="1600">
                <a:solidFill>
                  <a:schemeClr val="dk1"/>
                </a:solidFill>
              </a:rPr>
              <a:t>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Mix it       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2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46" name="Google Shape;146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5426" y="624525"/>
            <a:ext cx="3894451" cy="38944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7" name="Google Shape;147;p28"/>
          <p:cNvSpPr txBox="1"/>
          <p:nvPr/>
        </p:nvSpPr>
        <p:spPr>
          <a:xfrm>
            <a:off x="1400400" y="1610075"/>
            <a:ext cx="2569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→ No framework</a:t>
            </a:r>
            <a:endParaRPr sz="1600"/>
          </a:p>
        </p:txBody>
      </p:sp>
      <p:sp>
        <p:nvSpPr>
          <p:cNvPr id="148" name="Google Shape;148;p28"/>
          <p:cNvSpPr txBox="1"/>
          <p:nvPr/>
        </p:nvSpPr>
        <p:spPr>
          <a:xfrm>
            <a:off x="1400400" y="209322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→ LangChain4j</a:t>
            </a:r>
            <a:endParaRPr/>
          </a:p>
        </p:txBody>
      </p:sp>
      <p:sp>
        <p:nvSpPr>
          <p:cNvPr id="149" name="Google Shape;149;p28"/>
          <p:cNvSpPr txBox="1"/>
          <p:nvPr/>
        </p:nvSpPr>
        <p:spPr>
          <a:xfrm>
            <a:off x="1400400" y="26024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→ Spring AI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50" name="Google Shape;150;p28"/>
          <p:cNvSpPr txBox="1"/>
          <p:nvPr/>
        </p:nvSpPr>
        <p:spPr>
          <a:xfrm>
            <a:off x="1400400" y="3090750"/>
            <a:ext cx="3684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→ One provider, ∞ protocols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750"/>
              <a:t>What is an agent? </a:t>
            </a:r>
            <a:endParaRPr b="1" sz="2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6" name="Google Shape;15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1625" y="1017725"/>
            <a:ext cx="3820977" cy="38209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33201" y="605725"/>
            <a:ext cx="2840300" cy="426042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2" name="Google Shape;162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The Agent</a:t>
            </a:r>
            <a:endParaRPr b="1" sz="2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The true Agent</a:t>
            </a:r>
            <a:endParaRPr b="1" sz="2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31"/>
          <p:cNvSpPr txBox="1"/>
          <p:nvPr>
            <p:ph idx="1" type="body"/>
          </p:nvPr>
        </p:nvSpPr>
        <p:spPr>
          <a:xfrm>
            <a:off x="450500" y="28624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AGENT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69" name="Google Shape;169;p31"/>
          <p:cNvSpPr txBox="1"/>
          <p:nvPr>
            <p:ph idx="1" type="body"/>
          </p:nvPr>
        </p:nvSpPr>
        <p:spPr>
          <a:xfrm>
            <a:off x="1387400" y="28624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=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70" name="Google Shape;170;p31"/>
          <p:cNvSpPr txBox="1"/>
          <p:nvPr>
            <p:ph idx="1" type="body"/>
          </p:nvPr>
        </p:nvSpPr>
        <p:spPr>
          <a:xfrm>
            <a:off x="1734150" y="28624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LOOP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71" name="Google Shape;171;p31"/>
          <p:cNvSpPr txBox="1"/>
          <p:nvPr>
            <p:ph idx="1" type="body"/>
          </p:nvPr>
        </p:nvSpPr>
        <p:spPr>
          <a:xfrm>
            <a:off x="3432900" y="2856100"/>
            <a:ext cx="18225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STOP CONDITION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72" name="Google Shape;172;p31"/>
          <p:cNvSpPr txBox="1"/>
          <p:nvPr/>
        </p:nvSpPr>
        <p:spPr>
          <a:xfrm>
            <a:off x="2474400" y="2859700"/>
            <a:ext cx="500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+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73" name="Google Shape;173;p31"/>
          <p:cNvSpPr txBox="1"/>
          <p:nvPr/>
        </p:nvSpPr>
        <p:spPr>
          <a:xfrm>
            <a:off x="5808625" y="245320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SUCCESS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74" name="Google Shape;174;p31"/>
          <p:cNvSpPr txBox="1"/>
          <p:nvPr/>
        </p:nvSpPr>
        <p:spPr>
          <a:xfrm>
            <a:off x="5808625" y="326620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FAILURE / LIMIT REACHED</a:t>
            </a:r>
            <a:endParaRPr b="1" sz="1500">
              <a:solidFill>
                <a:schemeClr val="dk1"/>
              </a:solidFill>
            </a:endParaRPr>
          </a:p>
        </p:txBody>
      </p:sp>
      <p:cxnSp>
        <p:nvCxnSpPr>
          <p:cNvPr id="175" name="Google Shape;175;p31"/>
          <p:cNvCxnSpPr>
            <a:stCxn id="171" idx="3"/>
            <a:endCxn id="173" idx="1"/>
          </p:cNvCxnSpPr>
          <p:nvPr/>
        </p:nvCxnSpPr>
        <p:spPr>
          <a:xfrm flipH="1" rot="10800000">
            <a:off x="5255400" y="2660950"/>
            <a:ext cx="553200" cy="400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6" name="Google Shape;176;p31"/>
          <p:cNvCxnSpPr>
            <a:stCxn id="171" idx="3"/>
            <a:endCxn id="174" idx="1"/>
          </p:cNvCxnSpPr>
          <p:nvPr/>
        </p:nvCxnSpPr>
        <p:spPr>
          <a:xfrm>
            <a:off x="5255400" y="3061150"/>
            <a:ext cx="553200" cy="412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7" name="Google Shape;177;p31"/>
          <p:cNvSpPr txBox="1"/>
          <p:nvPr/>
        </p:nvSpPr>
        <p:spPr>
          <a:xfrm>
            <a:off x="3226775" y="2853400"/>
            <a:ext cx="500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+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78" name="Google Shape;178;p31"/>
          <p:cNvSpPr txBox="1"/>
          <p:nvPr/>
        </p:nvSpPr>
        <p:spPr>
          <a:xfrm>
            <a:off x="2790275" y="2853400"/>
            <a:ext cx="936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LLM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79" name="Google Shape;179;p31"/>
          <p:cNvSpPr/>
          <p:nvPr/>
        </p:nvSpPr>
        <p:spPr>
          <a:xfrm>
            <a:off x="2790275" y="2859700"/>
            <a:ext cx="2451300" cy="4155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1"/>
          <p:cNvSpPr txBox="1"/>
          <p:nvPr/>
        </p:nvSpPr>
        <p:spPr>
          <a:xfrm>
            <a:off x="311700" y="1346100"/>
            <a:ext cx="8340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Agents are typically just LLMs using tools based on environmental feedback in a loop.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3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42455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Raw Agent</a:t>
            </a:r>
            <a:endParaRPr b="1"/>
          </a:p>
        </p:txBody>
      </p:sp>
      <p:sp>
        <p:nvSpPr>
          <p:cNvPr id="196" name="Google Shape;196;p34"/>
          <p:cNvSpPr txBox="1"/>
          <p:nvPr>
            <p:ph idx="1" type="body"/>
          </p:nvPr>
        </p:nvSpPr>
        <p:spPr>
          <a:xfrm>
            <a:off x="2026800" y="3748775"/>
            <a:ext cx="1624200" cy="50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strandsagents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97" name="Google Shape;197;p34"/>
          <p:cNvSpPr txBox="1"/>
          <p:nvPr/>
        </p:nvSpPr>
        <p:spPr>
          <a:xfrm>
            <a:off x="2002575" y="3400850"/>
            <a:ext cx="893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 u="sng">
                <a:solidFill>
                  <a:schemeClr val="dk1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openai</a:t>
            </a:r>
            <a:endParaRPr b="1" sz="1600" u="sng">
              <a:solidFill>
                <a:schemeClr val="dk1"/>
              </a:solidFill>
            </a:endParaRPr>
          </a:p>
        </p:txBody>
      </p:sp>
      <p:sp>
        <p:nvSpPr>
          <p:cNvPr id="198" name="Google Shape;198;p34"/>
          <p:cNvSpPr txBox="1"/>
          <p:nvPr/>
        </p:nvSpPr>
        <p:spPr>
          <a:xfrm>
            <a:off x="422100" y="3646850"/>
            <a:ext cx="922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sources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199" name="Google Shape;199;p34"/>
          <p:cNvCxnSpPr>
            <a:stCxn id="198" idx="3"/>
            <a:endCxn id="196" idx="1"/>
          </p:cNvCxnSpPr>
          <p:nvPr/>
        </p:nvCxnSpPr>
        <p:spPr>
          <a:xfrm>
            <a:off x="1344600" y="3862400"/>
            <a:ext cx="682200" cy="1371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0" name="Google Shape;200;p34"/>
          <p:cNvCxnSpPr>
            <a:stCxn id="198" idx="3"/>
            <a:endCxn id="197" idx="1"/>
          </p:cNvCxnSpPr>
          <p:nvPr/>
        </p:nvCxnSpPr>
        <p:spPr>
          <a:xfrm flipH="1" rot="10800000">
            <a:off x="1344600" y="3616400"/>
            <a:ext cx="657900" cy="246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1" name="Google Shape;201;p34"/>
          <p:cNvSpPr txBox="1"/>
          <p:nvPr/>
        </p:nvSpPr>
        <p:spPr>
          <a:xfrm>
            <a:off x="422100" y="2356213"/>
            <a:ext cx="3736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stop condition = no more tool calls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202" name="Google Shape;202;p34"/>
          <p:cNvSpPr txBox="1"/>
          <p:nvPr/>
        </p:nvSpPr>
        <p:spPr>
          <a:xfrm>
            <a:off x="422100" y="1224900"/>
            <a:ext cx="3000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 loop exits when the model stops requesting tools.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03" name="Google Shape;203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72000" y="556050"/>
            <a:ext cx="4020475" cy="434170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817">
                <a:latin typeface="Roboto"/>
                <a:ea typeface="Roboto"/>
                <a:cs typeface="Roboto"/>
                <a:sym typeface="Roboto"/>
              </a:rPr>
              <a:t>The request body structure</a:t>
            </a:r>
            <a:endParaRPr b="1" sz="2817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5"/>
          <p:cNvSpPr txBox="1"/>
          <p:nvPr>
            <p:ph idx="1" type="body"/>
          </p:nvPr>
        </p:nvSpPr>
        <p:spPr>
          <a:xfrm>
            <a:off x="-280425" y="2288700"/>
            <a:ext cx="7395000" cy="234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MODEL</a:t>
            </a:r>
            <a:r>
              <a:rPr lang="pl" sz="1600">
                <a:solidFill>
                  <a:schemeClr val="dk1"/>
                </a:solidFill>
              </a:rPr>
              <a:t>               → the model that handles this request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</a:t>
            </a:r>
            <a:r>
              <a:rPr lang="pl" sz="1600">
                <a:solidFill>
                  <a:schemeClr val="dk1"/>
                </a:solidFill>
              </a:rPr>
              <a:t>        → the whole conversation, resent on every call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TOOLS</a:t>
            </a:r>
            <a:r>
              <a:rPr lang="pl" sz="1600">
                <a:solidFill>
                  <a:schemeClr val="dk1"/>
                </a:solidFill>
              </a:rPr>
              <a:t>                → name, description and parameters of each method 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TEMPERATURE</a:t>
            </a:r>
            <a:r>
              <a:rPr lang="pl" sz="1600">
                <a:solidFill>
                  <a:schemeClr val="dk1"/>
                </a:solidFill>
              </a:rPr>
              <a:t> →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STREAM</a:t>
            </a:r>
            <a:r>
              <a:rPr lang="pl" sz="1600">
                <a:solidFill>
                  <a:schemeClr val="dk1"/>
                </a:solidFill>
              </a:rPr>
              <a:t>             →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10" name="Google Shape;210;p35"/>
          <p:cNvSpPr txBox="1"/>
          <p:nvPr/>
        </p:nvSpPr>
        <p:spPr>
          <a:xfrm>
            <a:off x="-96575" y="1214400"/>
            <a:ext cx="5274900" cy="10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Every exchange with the model is JSON. The framework only decides who writes it.</a:t>
            </a:r>
            <a:endParaRPr b="1" sz="1600">
              <a:solidFill>
                <a:schemeClr val="dk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  <p:sp>
        <p:nvSpPr>
          <p:cNvPr id="211" name="Google Shape;211;p35"/>
          <p:cNvSpPr txBox="1"/>
          <p:nvPr/>
        </p:nvSpPr>
        <p:spPr>
          <a:xfrm>
            <a:off x="1566525" y="3955050"/>
            <a:ext cx="3877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false: one complete response</a:t>
            </a:r>
            <a:endParaRPr/>
          </a:p>
        </p:txBody>
      </p:sp>
      <p:sp>
        <p:nvSpPr>
          <p:cNvPr id="212" name="Google Shape;212;p35"/>
          <p:cNvSpPr txBox="1"/>
          <p:nvPr/>
        </p:nvSpPr>
        <p:spPr>
          <a:xfrm>
            <a:off x="2025675" y="4200900"/>
            <a:ext cx="4003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true: chunks as they are generated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13" name="Google Shape;213;p35"/>
          <p:cNvSpPr txBox="1"/>
          <p:nvPr/>
        </p:nvSpPr>
        <p:spPr>
          <a:xfrm>
            <a:off x="2025675" y="34776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lower: more deterministic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14" name="Google Shape;214;p35"/>
          <p:cNvSpPr txBox="1"/>
          <p:nvPr/>
        </p:nvSpPr>
        <p:spPr>
          <a:xfrm>
            <a:off x="2025675" y="368512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higher: more random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15" name="Google Shape;215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63025" y="1038275"/>
            <a:ext cx="2745725" cy="14756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The request body as JSON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6"/>
          <p:cNvSpPr txBox="1"/>
          <p:nvPr>
            <p:ph idx="1" type="body"/>
          </p:nvPr>
        </p:nvSpPr>
        <p:spPr>
          <a:xfrm>
            <a:off x="273025" y="1399075"/>
            <a:ext cx="5519700" cy="317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 </a:t>
            </a:r>
            <a:r>
              <a:rPr lang="pl" sz="1600">
                <a:solidFill>
                  <a:schemeClr val="dk1"/>
                </a:solidFill>
              </a:rPr>
              <a:t>[]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SYSTEM </a:t>
            </a:r>
            <a:r>
              <a:rPr lang="pl" sz="1600">
                <a:solidFill>
                  <a:schemeClr val="dk1"/>
                </a:solidFill>
              </a:rPr>
              <a:t>      →  the instructions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USER </a:t>
            </a:r>
            <a:r>
              <a:rPr lang="pl" sz="1600">
                <a:solidFill>
                  <a:schemeClr val="dk1"/>
                </a:solidFill>
              </a:rPr>
              <a:t>           →  the question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a request for a tool                     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 </a:t>
            </a:r>
            <a:r>
              <a:rPr lang="pl" sz="1600">
                <a:solidFill>
                  <a:schemeClr val="dk1"/>
                </a:solidFill>
              </a:rPr>
              <a:t>           →  the result your code produced     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the answer (response ends the loop)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222" name="Google Shape;222;p36"/>
          <p:cNvSpPr txBox="1"/>
          <p:nvPr/>
        </p:nvSpPr>
        <p:spPr>
          <a:xfrm>
            <a:off x="4864000" y="2929600"/>
            <a:ext cx="884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LOOP</a:t>
            </a:r>
            <a:endParaRPr/>
          </a:p>
        </p:txBody>
      </p:sp>
      <p:pic>
        <p:nvPicPr>
          <p:cNvPr id="223" name="Google Shape;22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3150" y="285013"/>
            <a:ext cx="2326950" cy="457347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4" name="Google Shape;224;p36"/>
          <p:cNvSpPr txBox="1"/>
          <p:nvPr/>
        </p:nvSpPr>
        <p:spPr>
          <a:xfrm>
            <a:off x="4656225" y="2723825"/>
            <a:ext cx="471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┐</a:t>
            </a:r>
            <a:endParaRPr/>
          </a:p>
        </p:txBody>
      </p:sp>
      <p:sp>
        <p:nvSpPr>
          <p:cNvPr id="225" name="Google Shape;225;p36"/>
          <p:cNvSpPr txBox="1"/>
          <p:nvPr/>
        </p:nvSpPr>
        <p:spPr>
          <a:xfrm>
            <a:off x="4656225" y="3154925"/>
            <a:ext cx="437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┘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The request body as JSON </a:t>
            </a:r>
            <a:endParaRPr b="1"/>
          </a:p>
        </p:txBody>
      </p:sp>
      <p:sp>
        <p:nvSpPr>
          <p:cNvPr descr="JSON" id="231" name="Google Shape;231;p37"/>
          <p:cNvSpPr txBox="1"/>
          <p:nvPr>
            <p:ph idx="1" type="body"/>
          </p:nvPr>
        </p:nvSpPr>
        <p:spPr>
          <a:xfrm>
            <a:off x="432575" y="1645625"/>
            <a:ext cx="5248500" cy="26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 </a:t>
            </a:r>
            <a:r>
              <a:rPr lang="pl" sz="1600">
                <a:solidFill>
                  <a:schemeClr val="dk1"/>
                </a:solidFill>
              </a:rPr>
              <a:t>[]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SYSTEM </a:t>
            </a:r>
            <a:r>
              <a:rPr lang="pl" sz="1600">
                <a:solidFill>
                  <a:schemeClr val="dk1"/>
                </a:solidFill>
              </a:rPr>
              <a:t>      →  written by dev, before the conversation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USER </a:t>
            </a:r>
            <a:r>
              <a:rPr lang="pl" sz="1600">
                <a:solidFill>
                  <a:schemeClr val="dk1"/>
                </a:solidFill>
              </a:rPr>
              <a:t>           →  written by the user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written by the model             ┐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 </a:t>
            </a:r>
            <a:r>
              <a:rPr lang="pl" sz="1600">
                <a:solidFill>
                  <a:schemeClr val="dk1"/>
                </a:solidFill>
              </a:rPr>
              <a:t>           →  </a:t>
            </a:r>
            <a:r>
              <a:rPr lang="pl" sz="1600">
                <a:solidFill>
                  <a:schemeClr val="dk1"/>
                </a:solidFill>
              </a:rPr>
              <a:t>written by your app</a:t>
            </a:r>
            <a:r>
              <a:rPr lang="pl" sz="1600">
                <a:solidFill>
                  <a:schemeClr val="dk1"/>
                </a:solidFill>
              </a:rPr>
              <a:t>               ┘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written by the model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4827850" y="31821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LOOP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33" name="Google Shape;233;p37"/>
          <p:cNvSpPr txBox="1"/>
          <p:nvPr/>
        </p:nvSpPr>
        <p:spPr>
          <a:xfrm>
            <a:off x="86875" y="1194875"/>
            <a:ext cx="5098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SYSTEM ROLE </a:t>
            </a:r>
            <a:endParaRPr b="1" sz="2500"/>
          </a:p>
        </p:txBody>
      </p:sp>
      <p:sp>
        <p:nvSpPr>
          <p:cNvPr id="239" name="Google Shape;239;p38"/>
          <p:cNvSpPr txBox="1"/>
          <p:nvPr/>
        </p:nvSpPr>
        <p:spPr>
          <a:xfrm>
            <a:off x="819625" y="1489200"/>
            <a:ext cx="5148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system prompt is the job description.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Written once by a human, resent on every iteration.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40" name="Google Shape;24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450" y="2858150"/>
            <a:ext cx="7814373" cy="10752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USER ROLE</a:t>
            </a:r>
            <a:endParaRPr b="1"/>
          </a:p>
        </p:txBody>
      </p:sp>
      <p:sp>
        <p:nvSpPr>
          <p:cNvPr id="246" name="Google Shape;246;p39"/>
          <p:cNvSpPr txBox="1"/>
          <p:nvPr/>
        </p:nvSpPr>
        <p:spPr>
          <a:xfrm>
            <a:off x="517350" y="1465025"/>
            <a:ext cx="6952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question.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Written by the user, resent on every iteration. 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247" name="Google Shape;24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3375" y="2765900"/>
            <a:ext cx="5747298" cy="13573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ASSISTANT ROLE</a:t>
            </a:r>
            <a:endParaRPr b="1" sz="2500"/>
          </a:p>
        </p:txBody>
      </p:sp>
      <p:sp>
        <p:nvSpPr>
          <p:cNvPr id="253" name="Google Shape;253;p40"/>
          <p:cNvSpPr txBox="1"/>
          <p:nvPr/>
        </p:nvSpPr>
        <p:spPr>
          <a:xfrm>
            <a:off x="361550" y="1189200"/>
            <a:ext cx="6870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model either asks for a tool, or gives the final answer.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A tool request means the loop continues.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54" name="Google Shape;254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5700" y="2446350"/>
            <a:ext cx="3829050" cy="938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55" name="Google Shape;255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875" y="2446350"/>
            <a:ext cx="3929750" cy="255870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56" name="Google Shape;256;p40"/>
          <p:cNvSpPr txBox="1"/>
          <p:nvPr/>
        </p:nvSpPr>
        <p:spPr>
          <a:xfrm>
            <a:off x="874750" y="19407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finish_reason: "tool_calls"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257" name="Google Shape;257;p40"/>
          <p:cNvSpPr txBox="1"/>
          <p:nvPr/>
        </p:nvSpPr>
        <p:spPr>
          <a:xfrm>
            <a:off x="5423425" y="195622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finish_reason: "stop" 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TOOL ROLE</a:t>
            </a:r>
            <a:endParaRPr b="1"/>
          </a:p>
        </p:txBody>
      </p:sp>
      <p:sp>
        <p:nvSpPr>
          <p:cNvPr id="263" name="Google Shape;263;p41"/>
          <p:cNvSpPr txBox="1"/>
          <p:nvPr/>
        </p:nvSpPr>
        <p:spPr>
          <a:xfrm>
            <a:off x="439975" y="1416675"/>
            <a:ext cx="83562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result. Written by your app, never by the model.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tool_call_id </a:t>
            </a:r>
            <a:r>
              <a:rPr lang="pl" sz="1600">
                <a:solidFill>
                  <a:schemeClr val="dk1"/>
                </a:solidFill>
              </a:rPr>
              <a:t>matches the request, because the model may ask for several at once. 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264" name="Google Shape;264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8625" y="2615525"/>
            <a:ext cx="4804501" cy="13481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TOOLS</a:t>
            </a:r>
            <a:endParaRPr b="1"/>
          </a:p>
        </p:txBody>
      </p:sp>
      <p:sp>
        <p:nvSpPr>
          <p:cNvPr id="270" name="Google Shape;270;p42"/>
          <p:cNvSpPr txBox="1"/>
          <p:nvPr/>
        </p:nvSpPr>
        <p:spPr>
          <a:xfrm>
            <a:off x="270000" y="1017725"/>
            <a:ext cx="8874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functions the model may ask you to call.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Name, description and JSON schema that's all it knows about your code. 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271" name="Google Shape;271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2794" y="1815825"/>
            <a:ext cx="4054131" cy="300717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72" name="Google Shape;272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900" y="1815825"/>
            <a:ext cx="3696294" cy="303852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O</a:t>
            </a:r>
            <a:r>
              <a:rPr b="1" lang="pl"/>
              <a:t>bservability</a:t>
            </a:r>
            <a:endParaRPr b="1"/>
          </a:p>
        </p:txBody>
      </p:sp>
      <p:pic>
        <p:nvPicPr>
          <p:cNvPr id="278" name="Google Shape;27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775" y="1471737"/>
            <a:ext cx="4135297" cy="28624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79" name="Google Shape;279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39700" y="1462112"/>
            <a:ext cx="4647025" cy="28817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Agent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44"/>
          <p:cNvSpPr txBox="1"/>
          <p:nvPr>
            <p:ph idx="1" type="body"/>
          </p:nvPr>
        </p:nvSpPr>
        <p:spPr>
          <a:xfrm>
            <a:off x="237000" y="1256525"/>
            <a:ext cx="2622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Everything AiServices does, LangChain4j also lets you do yourself.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Same library, same tools and same model.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Only the level of abstraction moves.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86" name="Google Shape;28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9900" y="1274300"/>
            <a:ext cx="6007199" cy="33808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Abstraction</a:t>
            </a:r>
            <a:endParaRPr b="1"/>
          </a:p>
        </p:txBody>
      </p:sp>
      <p:sp>
        <p:nvSpPr>
          <p:cNvPr id="292" name="Google Shape;292;p45"/>
          <p:cNvSpPr txBox="1"/>
          <p:nvPr>
            <p:ph idx="1" type="body"/>
          </p:nvPr>
        </p:nvSpPr>
        <p:spPr>
          <a:xfrm>
            <a:off x="2066075" y="2193625"/>
            <a:ext cx="7585200" cy="16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ChatModel </a:t>
            </a:r>
            <a:r>
              <a:rPr lang="pl" sz="1600">
                <a:solidFill>
                  <a:schemeClr val="dk1"/>
                </a:solidFill>
              </a:rPr>
              <a:t>           →  you run the loop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AiServices </a:t>
            </a:r>
            <a:r>
              <a:rPr lang="pl" sz="1600">
                <a:solidFill>
                  <a:schemeClr val="dk1"/>
                </a:solidFill>
              </a:rPr>
              <a:t>           →  the framework runs it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AgenticServices   </a:t>
            </a:r>
            <a:r>
              <a:rPr lang="pl" sz="1600">
                <a:solidFill>
                  <a:schemeClr val="dk1"/>
                </a:solidFill>
              </a:rPr>
              <a:t>→  you declare the workflow [part Ⅱ]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Loop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46"/>
          <p:cNvSpPr txBox="1"/>
          <p:nvPr>
            <p:ph idx="1" type="body"/>
          </p:nvPr>
        </p:nvSpPr>
        <p:spPr>
          <a:xfrm>
            <a:off x="877400" y="1098700"/>
            <a:ext cx="2047800" cy="44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</a:t>
            </a:r>
            <a:r>
              <a:rPr lang="pl" sz="1600">
                <a:solidFill>
                  <a:schemeClr val="dk1"/>
                </a:solidFill>
              </a:rPr>
              <a:t>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99" name="Google Shape;299;p46"/>
          <p:cNvSpPr txBox="1"/>
          <p:nvPr/>
        </p:nvSpPr>
        <p:spPr>
          <a:xfrm>
            <a:off x="5328775" y="1107100"/>
            <a:ext cx="2124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00" name="Google Shape;300;p46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46"/>
          <p:cNvSpPr txBox="1"/>
          <p:nvPr/>
        </p:nvSpPr>
        <p:spPr>
          <a:xfrm>
            <a:off x="311711" y="3018400"/>
            <a:ext cx="40959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.toolProvider(toolProvider)</a:t>
            </a:r>
            <a:endParaRPr sz="16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→ </a:t>
            </a:r>
            <a:r>
              <a:rPr lang="pl" sz="1600">
                <a:solidFill>
                  <a:schemeClr val="dk1"/>
                </a:solidFill>
              </a:rPr>
              <a:t> a </a:t>
            </a:r>
            <a:r>
              <a:rPr lang="pl" sz="1600">
                <a:solidFill>
                  <a:schemeClr val="dk1"/>
                </a:solidFill>
              </a:rPr>
              <a:t>custom provider, wrapped for observability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6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02" name="Google Shape;302;p46"/>
          <p:cNvSpPr txBox="1"/>
          <p:nvPr/>
        </p:nvSpPr>
        <p:spPr>
          <a:xfrm>
            <a:off x="311700" y="4010975"/>
            <a:ext cx="36585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.tools(demoTools)</a:t>
            </a:r>
            <a:endParaRPr sz="16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→ simpler with no tool spans unless you hook in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03" name="Google Shape;30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913" y="1627575"/>
            <a:ext cx="3618474" cy="11307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04" name="Google Shape;304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7886" y="1607075"/>
            <a:ext cx="4384410" cy="32921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Traces</a:t>
            </a:r>
            <a:endParaRPr b="1"/>
          </a:p>
        </p:txBody>
      </p:sp>
      <p:sp>
        <p:nvSpPr>
          <p:cNvPr id="310" name="Google Shape;310;p47"/>
          <p:cNvSpPr txBox="1"/>
          <p:nvPr/>
        </p:nvSpPr>
        <p:spPr>
          <a:xfrm>
            <a:off x="1229888" y="12534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11" name="Google Shape;311;p47"/>
          <p:cNvSpPr txBox="1"/>
          <p:nvPr/>
        </p:nvSpPr>
        <p:spPr>
          <a:xfrm>
            <a:off x="5591738" y="12534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12" name="Google Shape;31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4687" y="1811975"/>
            <a:ext cx="4147574" cy="298424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13" name="Google Shape;313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1738" y="1811975"/>
            <a:ext cx="4445934" cy="29842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Logs</a:t>
            </a:r>
            <a:endParaRPr b="1"/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7825" y="3687750"/>
            <a:ext cx="4325874" cy="11456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0300" y="3687738"/>
            <a:ext cx="4288300" cy="6094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1" name="Google Shape;321;p48"/>
          <p:cNvSpPr txBox="1"/>
          <p:nvPr/>
        </p:nvSpPr>
        <p:spPr>
          <a:xfrm>
            <a:off x="214500" y="1310000"/>
            <a:ext cx="67641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loop is still observable, just from the outside.</a:t>
            </a:r>
            <a:r>
              <a:rPr lang="pl" sz="1600">
                <a:solidFill>
                  <a:schemeClr val="dk1"/>
                </a:solidFill>
              </a:rPr>
              <a:t>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A </a:t>
            </a: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ChatModelListener </a:t>
            </a:r>
            <a:r>
              <a:rPr lang="pl" sz="1600">
                <a:solidFill>
                  <a:schemeClr val="dk1"/>
                </a:solidFill>
              </a:rPr>
              <a:t>sees every model call, tool requests included.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A wrapped </a:t>
            </a: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ToolProvider </a:t>
            </a:r>
            <a:r>
              <a:rPr lang="pl" sz="1600">
                <a:solidFill>
                  <a:schemeClr val="dk1"/>
                </a:solidFill>
              </a:rPr>
              <a:t>or the</a:t>
            </a: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tool callbacks </a:t>
            </a:r>
            <a:r>
              <a:rPr lang="pl" sz="1600">
                <a:solidFill>
                  <a:schemeClr val="dk1"/>
                </a:solidFill>
              </a:rPr>
              <a:t>see every tool execution.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22" name="Google Shape;322;p48"/>
          <p:cNvSpPr txBox="1"/>
          <p:nvPr/>
        </p:nvSpPr>
        <p:spPr>
          <a:xfrm>
            <a:off x="1213400" y="2986850"/>
            <a:ext cx="1700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23" name="Google Shape;323;p48"/>
          <p:cNvSpPr txBox="1"/>
          <p:nvPr/>
        </p:nvSpPr>
        <p:spPr>
          <a:xfrm>
            <a:off x="5636350" y="298685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24" name="Google Shape;324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02800" y="356500"/>
            <a:ext cx="2611901" cy="1705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Five ways around one loop </a:t>
            </a:r>
            <a:endParaRPr b="1"/>
          </a:p>
        </p:txBody>
      </p:sp>
      <p:graphicFrame>
        <p:nvGraphicFramePr>
          <p:cNvPr id="330" name="Google Shape;330;p49"/>
          <p:cNvGraphicFramePr/>
          <p:nvPr/>
        </p:nvGraphicFramePr>
        <p:xfrm>
          <a:off x="401025" y="1547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{9D615D2B-6423-4E84-BB85-0A1080EE1EAB}</a:tableStyleId>
              </a:tblPr>
              <a:tblGrid>
                <a:gridCol w="2177625"/>
                <a:gridCol w="4220025"/>
                <a:gridCol w="1944300"/>
              </a:tblGrid>
              <a:tr h="190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>
                          <a:solidFill>
                            <a:schemeClr val="dk1"/>
                          </a:solidFill>
                        </a:rPr>
                        <a:t>Objects &amp;&amp; Functions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>
                          <a:solidFill>
                            <a:schemeClr val="dk1"/>
                          </a:solidFill>
                        </a:rPr>
                        <a:t>Scope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>
                          <a:solidFill>
                            <a:schemeClr val="dk1"/>
                          </a:solidFill>
                        </a:rPr>
                        <a:t>Can change the request or result? 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>
                          <a:solidFill>
                            <a:schemeClr val="dk1"/>
                          </a:solidFill>
                        </a:rPr>
                        <a:t>ChatModelListener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every model call: request, response, error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no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chatRequestTransformer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every request, before it is sent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yes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>
                          <a:solidFill>
                            <a:schemeClr val="dk1"/>
                          </a:solidFill>
                        </a:rPr>
                        <a:t>ToolProvider wrapper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every tool call, around the execution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yes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beforeToolExecution / afterToolExecution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every tool call: request, then result, duration, failure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no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AI Service listeners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the whole call, as events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>
                          <a:solidFill>
                            <a:schemeClr val="dk1"/>
                          </a:solidFill>
                        </a:rPr>
                        <a:t>no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Two callbacks instead of a wrapper </a:t>
            </a:r>
            <a:endParaRPr b="1"/>
          </a:p>
        </p:txBody>
      </p:sp>
      <p:sp>
        <p:nvSpPr>
          <p:cNvPr id="336" name="Google Shape;336;p50"/>
          <p:cNvSpPr txBox="1"/>
          <p:nvPr>
            <p:ph idx="1" type="body"/>
          </p:nvPr>
        </p:nvSpPr>
        <p:spPr>
          <a:xfrm>
            <a:off x="311700" y="1152475"/>
            <a:ext cx="8265600" cy="141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Enough for logs and metrics.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Fragile for spans, because after never runs when the arguments don't parse.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 wrapper starts and ends the span in one try/finally.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37" name="Google Shape;33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2300" y="2610625"/>
            <a:ext cx="5261443" cy="22669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AgenticServices </a:t>
            </a:r>
            <a:endParaRPr sz="2500"/>
          </a:p>
        </p:txBody>
      </p:sp>
      <p:sp>
        <p:nvSpPr>
          <p:cNvPr id="343" name="Google Shape;343;p51"/>
          <p:cNvSpPr txBox="1"/>
          <p:nvPr/>
        </p:nvSpPr>
        <p:spPr>
          <a:xfrm>
            <a:off x="2638675" y="1570350"/>
            <a:ext cx="3140700" cy="7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More in chapter Ⅱ </a:t>
            </a:r>
            <a:endParaRPr sz="1600"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  <p:pic>
        <p:nvPicPr>
          <p:cNvPr id="344" name="Google Shape;344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3325" y="2297700"/>
            <a:ext cx="7083596" cy="24772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Spring AI</a:t>
            </a:r>
            <a:endParaRPr b="1"/>
          </a:p>
        </p:txBody>
      </p:sp>
      <p:sp>
        <p:nvSpPr>
          <p:cNvPr id="350" name="Google Shape;350;p52"/>
          <p:cNvSpPr txBox="1"/>
          <p:nvPr/>
        </p:nvSpPr>
        <p:spPr>
          <a:xfrm>
            <a:off x="238125" y="1596550"/>
            <a:ext cx="4891200" cy="25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Spring AI doesn't hide the loop, it puts it in a chain you can reach </a:t>
            </a:r>
            <a:endParaRPr b="1" sz="1600"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Same chain, same client, same model. </a:t>
            </a:r>
            <a:endParaRPr sz="1600"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Only one advisor is the loop.  </a:t>
            </a:r>
            <a:endParaRPr b="1"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51" name="Google Shape;351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74726" y="478025"/>
            <a:ext cx="3324950" cy="434127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What is an Advisor? </a:t>
            </a:r>
            <a:endParaRPr b="1"/>
          </a:p>
        </p:txBody>
      </p:sp>
      <p:sp>
        <p:nvSpPr>
          <p:cNvPr id="357" name="Google Shape;357;p53"/>
          <p:cNvSpPr txBox="1"/>
          <p:nvPr>
            <p:ph idx="1" type="body"/>
          </p:nvPr>
        </p:nvSpPr>
        <p:spPr>
          <a:xfrm>
            <a:off x="311700" y="1152475"/>
            <a:ext cx="8119200" cy="151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An Advisor is middleware between your application and the AI model. 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It works similarly to an aspect, allowing you to add behavior around AI interactions. </a:t>
            </a:r>
            <a:r>
              <a:rPr lang="pl" sz="1600">
                <a:solidFill>
                  <a:schemeClr val="dk1"/>
                </a:solidFill>
              </a:rPr>
              <a:t>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It can modify requests, process responses, and control the flow of interactions with the model, keeping this logic separate from your application code.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358" name="Google Shape;358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1775" y="2625200"/>
            <a:ext cx="6262450" cy="2413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 Code S</a:t>
            </a:r>
            <a:r>
              <a:rPr b="1" lang="pl"/>
              <a:t>nippet</a:t>
            </a:r>
            <a:r>
              <a:rPr b="1" lang="pl"/>
              <a:t> </a:t>
            </a:r>
            <a:endParaRPr b="1"/>
          </a:p>
        </p:txBody>
      </p:sp>
      <p:sp>
        <p:nvSpPr>
          <p:cNvPr id="364" name="Google Shape;364;p54"/>
          <p:cNvSpPr txBox="1"/>
          <p:nvPr/>
        </p:nvSpPr>
        <p:spPr>
          <a:xfrm>
            <a:off x="6191250" y="2645125"/>
            <a:ext cx="21432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381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1F1F1F"/>
              </a:solidFill>
              <a:highlight>
                <a:srgbClr val="F8F9FA"/>
              </a:highlight>
            </a:endParaRPr>
          </a:p>
        </p:txBody>
      </p:sp>
      <p:sp>
        <p:nvSpPr>
          <p:cNvPr id="365" name="Google Shape;365;p54"/>
          <p:cNvSpPr txBox="1"/>
          <p:nvPr/>
        </p:nvSpPr>
        <p:spPr>
          <a:xfrm>
            <a:off x="6480825" y="2838200"/>
            <a:ext cx="2600100" cy="9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Parameter configuration for advisors (linking an identifier with a message)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66" name="Google Shape;366;p54"/>
          <p:cNvSpPr txBox="1"/>
          <p:nvPr/>
        </p:nvSpPr>
        <p:spPr>
          <a:xfrm>
            <a:off x="6522675" y="1506462"/>
            <a:ext cx="2516400" cy="9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lang="pl" sz="1600">
                <a:solidFill>
                  <a:schemeClr val="dk1"/>
                </a:solidFill>
              </a:rPr>
            </a:br>
            <a:r>
              <a:rPr lang="pl" sz="1600">
                <a:solidFill>
                  <a:schemeClr val="dk1"/>
                </a:solidFill>
              </a:rPr>
              <a:t>Adding advisors to the chain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67" name="Google Shape;367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275" y="1698375"/>
            <a:ext cx="5397971" cy="240139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368" name="Google Shape;368;p54"/>
          <p:cNvCxnSpPr/>
          <p:nvPr/>
        </p:nvCxnSpPr>
        <p:spPr>
          <a:xfrm flipH="1" rot="10800000">
            <a:off x="3360225" y="2250025"/>
            <a:ext cx="3055800" cy="5649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69" name="Google Shape;369;p54"/>
          <p:cNvCxnSpPr/>
          <p:nvPr/>
        </p:nvCxnSpPr>
        <p:spPr>
          <a:xfrm flipH="1" rot="10800000">
            <a:off x="5521775" y="3291475"/>
            <a:ext cx="874500" cy="147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Before and After</a:t>
            </a:r>
            <a:endParaRPr b="1"/>
          </a:p>
        </p:txBody>
      </p:sp>
      <p:pic>
        <p:nvPicPr>
          <p:cNvPr id="375" name="Google Shape;375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3024" y="1627199"/>
            <a:ext cx="4667201" cy="2762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376" name="Google Shape;376;p55"/>
          <p:cNvCxnSpPr/>
          <p:nvPr/>
        </p:nvCxnSpPr>
        <p:spPr>
          <a:xfrm>
            <a:off x="5560550" y="4035250"/>
            <a:ext cx="2451900" cy="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7" name="Google Shape;377;p55"/>
          <p:cNvCxnSpPr/>
          <p:nvPr/>
        </p:nvCxnSpPr>
        <p:spPr>
          <a:xfrm>
            <a:off x="5560550" y="3898050"/>
            <a:ext cx="2954100" cy="2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8" name="Google Shape;378;p55"/>
          <p:cNvCxnSpPr/>
          <p:nvPr/>
        </p:nvCxnSpPr>
        <p:spPr>
          <a:xfrm>
            <a:off x="5618450" y="3278150"/>
            <a:ext cx="2934900" cy="42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79" name="Google Shape;379;p55"/>
          <p:cNvCxnSpPr/>
          <p:nvPr/>
        </p:nvCxnSpPr>
        <p:spPr>
          <a:xfrm>
            <a:off x="5570150" y="3147375"/>
            <a:ext cx="2526000" cy="6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0" name="Google Shape;380;p55"/>
          <p:cNvSpPr txBox="1"/>
          <p:nvPr/>
        </p:nvSpPr>
        <p:spPr>
          <a:xfrm>
            <a:off x="8051200" y="3853025"/>
            <a:ext cx="20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1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81" name="Google Shape;381;p55"/>
          <p:cNvSpPr txBox="1"/>
          <p:nvPr/>
        </p:nvSpPr>
        <p:spPr>
          <a:xfrm>
            <a:off x="8030800" y="294317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1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82" name="Google Shape;382;p55"/>
          <p:cNvSpPr txBox="1"/>
          <p:nvPr/>
        </p:nvSpPr>
        <p:spPr>
          <a:xfrm>
            <a:off x="8514650" y="370292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2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83" name="Google Shape;383;p55"/>
          <p:cNvSpPr txBox="1"/>
          <p:nvPr/>
        </p:nvSpPr>
        <p:spPr>
          <a:xfrm>
            <a:off x="8514650" y="306962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2</a:t>
            </a:r>
            <a:endParaRPr b="1" sz="700">
              <a:solidFill>
                <a:srgbClr val="FF0000"/>
              </a:solidFill>
            </a:endParaRPr>
          </a:p>
        </p:txBody>
      </p:sp>
      <p:pic>
        <p:nvPicPr>
          <p:cNvPr id="384" name="Google Shape;384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4175" y="1021512"/>
            <a:ext cx="3455435" cy="397337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Advisors Inside the Loop </a:t>
            </a:r>
            <a:endParaRPr b="1"/>
          </a:p>
        </p:txBody>
      </p:sp>
      <p:pic>
        <p:nvPicPr>
          <p:cNvPr id="390" name="Google Shape;390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8" y="1177200"/>
            <a:ext cx="4340649" cy="37842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91" name="Google Shape;391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6122" y="1639950"/>
            <a:ext cx="4186853" cy="255513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92" name="Google Shape;392;p56"/>
          <p:cNvSpPr/>
          <p:nvPr/>
        </p:nvSpPr>
        <p:spPr>
          <a:xfrm>
            <a:off x="785175" y="3391675"/>
            <a:ext cx="1563900" cy="15447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393" name="Google Shape;393;p56"/>
          <p:cNvSpPr txBox="1"/>
          <p:nvPr/>
        </p:nvSpPr>
        <p:spPr>
          <a:xfrm>
            <a:off x="356750" y="3391675"/>
            <a:ext cx="830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LOOP</a:t>
            </a:r>
            <a:endParaRPr b="1" sz="7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 </a:t>
            </a:r>
            <a:r>
              <a:rPr b="1" lang="pl"/>
              <a:t>Order</a:t>
            </a:r>
            <a:endParaRPr b="1"/>
          </a:p>
        </p:txBody>
      </p:sp>
      <p:sp>
        <p:nvSpPr>
          <p:cNvPr id="399" name="Google Shape;399;p57"/>
          <p:cNvSpPr txBox="1"/>
          <p:nvPr>
            <p:ph idx="1" type="body"/>
          </p:nvPr>
        </p:nvSpPr>
        <p:spPr>
          <a:xfrm>
            <a:off x="356750" y="2591050"/>
            <a:ext cx="3344100" cy="22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pl" sz="1600">
                <a:solidFill>
                  <a:schemeClr val="dk1"/>
                </a:solidFill>
              </a:rPr>
              <a:t>Lower order = earlier in the chain, farther from the model </a:t>
            </a:r>
            <a:r>
              <a:rPr lang="pl" sz="1600">
                <a:solidFill>
                  <a:schemeClr val="dk1"/>
                </a:solidFill>
              </a:rPr>
              <a:t>[LLM]</a:t>
            </a:r>
            <a:r>
              <a:rPr lang="pl" sz="1600">
                <a:solidFill>
                  <a:schemeClr val="dk1"/>
                </a:solidFill>
              </a:rPr>
              <a:t>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pl" sz="1600">
                <a:solidFill>
                  <a:schemeClr val="dk1"/>
                </a:solidFill>
              </a:rPr>
              <a:t>Higher order = later in the chain, closer to the model [LLM].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400" name="Google Shape;400;p57"/>
          <p:cNvSpPr txBox="1"/>
          <p:nvPr/>
        </p:nvSpPr>
        <p:spPr>
          <a:xfrm>
            <a:off x="4891550" y="12485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57"/>
          <p:cNvSpPr txBox="1"/>
          <p:nvPr/>
        </p:nvSpPr>
        <p:spPr>
          <a:xfrm>
            <a:off x="311700" y="1410300"/>
            <a:ext cx="4476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execution order of advisors in the chain is determined by the </a:t>
            </a:r>
            <a:r>
              <a:rPr b="1"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getOrder()</a:t>
            </a:r>
            <a:r>
              <a:rPr b="1" lang="pl" sz="1600">
                <a:solidFill>
                  <a:schemeClr val="dk1"/>
                </a:solidFill>
              </a:rPr>
              <a:t> method.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402" name="Google Shape;40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1650" y="1391000"/>
            <a:ext cx="1846431" cy="32092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Example of </a:t>
            </a:r>
            <a:r>
              <a:rPr b="1" lang="pl" sz="2500"/>
              <a:t>Advisors</a:t>
            </a:r>
            <a:endParaRPr b="1" sz="2500"/>
          </a:p>
        </p:txBody>
      </p:sp>
      <p:sp>
        <p:nvSpPr>
          <p:cNvPr id="408" name="Google Shape;408;p58"/>
          <p:cNvSpPr txBox="1"/>
          <p:nvPr>
            <p:ph idx="1" type="body"/>
          </p:nvPr>
        </p:nvSpPr>
        <p:spPr>
          <a:xfrm>
            <a:off x="311700" y="1152475"/>
            <a:ext cx="7060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MessageChatMemoryAdvisor </a:t>
            </a:r>
            <a:r>
              <a:rPr lang="pl" sz="1600">
                <a:solidFill>
                  <a:schemeClr val="dk1"/>
                </a:solidFill>
              </a:rPr>
              <a:t>→ adds history as separate messages  </a:t>
            </a:r>
            <a:endParaRPr sz="1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QuestionAnswerAdvisor </a:t>
            </a:r>
            <a:r>
              <a:rPr lang="pl" sz="1600">
                <a:solidFill>
                  <a:schemeClr val="dk1"/>
                </a:solidFill>
              </a:rPr>
              <a:t>→ adds context from a vector store (RAG)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SafeGuardAdvisor </a:t>
            </a:r>
            <a:r>
              <a:rPr lang="pl" sz="1600">
                <a:solidFill>
                  <a:schemeClr val="dk1"/>
                </a:solidFill>
              </a:rPr>
              <a:t>→ checks the prompt and history for banned words </a:t>
            </a:r>
            <a:endParaRPr sz="1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ToolCallingAdvisor </a:t>
            </a:r>
            <a:r>
              <a:rPr lang="pl" sz="1600">
                <a:solidFill>
                  <a:schemeClr val="dk1"/>
                </a:solidFill>
              </a:rPr>
              <a:t>→ owns the tool calling lifecycle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SimpleLoggerAdvisor </a:t>
            </a:r>
            <a:r>
              <a:rPr lang="pl" sz="1600">
                <a:solidFill>
                  <a:schemeClr val="dk1"/>
                </a:solidFill>
              </a:rPr>
              <a:t>→ logs request and response information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58"/>
          <p:cNvSpPr txBox="1"/>
          <p:nvPr/>
        </p:nvSpPr>
        <p:spPr>
          <a:xfrm>
            <a:off x="7047200" y="115247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MIN_VALUE + 200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10" name="Google Shape;410;p58"/>
          <p:cNvSpPr txBox="1"/>
          <p:nvPr/>
        </p:nvSpPr>
        <p:spPr>
          <a:xfrm>
            <a:off x="7047200" y="259847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MIN_VALUE + 300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11" name="Google Shape;411;p58"/>
          <p:cNvSpPr txBox="1"/>
          <p:nvPr/>
        </p:nvSpPr>
        <p:spPr>
          <a:xfrm>
            <a:off x="7047200" y="51582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Order ID Value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12" name="Google Shape;412;p58"/>
          <p:cNvSpPr txBox="1"/>
          <p:nvPr/>
        </p:nvSpPr>
        <p:spPr>
          <a:xfrm>
            <a:off x="7103075" y="1626650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13" name="Google Shape;413;p58"/>
          <p:cNvSpPr txBox="1"/>
          <p:nvPr/>
        </p:nvSpPr>
        <p:spPr>
          <a:xfrm>
            <a:off x="7103075" y="2112563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14" name="Google Shape;414;p58"/>
          <p:cNvSpPr txBox="1"/>
          <p:nvPr/>
        </p:nvSpPr>
        <p:spPr>
          <a:xfrm>
            <a:off x="7103075" y="3114925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15" name="Google Shape;415;p58"/>
          <p:cNvSpPr txBox="1"/>
          <p:nvPr/>
        </p:nvSpPr>
        <p:spPr>
          <a:xfrm>
            <a:off x="262575" y="3743875"/>
            <a:ext cx="7744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Integer.MIN_VALUE = -2 147 483 648 ← HIGHEST_PRECEDENCE (doc name) </a:t>
            </a:r>
            <a:endParaRPr sz="1600"/>
          </a:p>
        </p:txBody>
      </p:sp>
      <p:sp>
        <p:nvSpPr>
          <p:cNvPr id="416" name="Google Shape;416;p58"/>
          <p:cNvSpPr txBox="1"/>
          <p:nvPr/>
        </p:nvSpPr>
        <p:spPr>
          <a:xfrm>
            <a:off x="1914425" y="4401550"/>
            <a:ext cx="6339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Order 0 is not first. It is inside the loop!!! 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Default</a:t>
            </a:r>
            <a:endParaRPr b="1"/>
          </a:p>
        </p:txBody>
      </p:sp>
      <p:pic>
        <p:nvPicPr>
          <p:cNvPr id="422" name="Google Shape;422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0525" y="1261862"/>
            <a:ext cx="4188107" cy="35581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3" name="Google Shape;423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31750" y="2140200"/>
            <a:ext cx="4616425" cy="258074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24" name="Google Shape;424;p59"/>
          <p:cNvSpPr/>
          <p:nvPr/>
        </p:nvSpPr>
        <p:spPr>
          <a:xfrm>
            <a:off x="396375" y="3598800"/>
            <a:ext cx="1377300" cy="11223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425" name="Google Shape;425;p59"/>
          <p:cNvSpPr txBox="1"/>
          <p:nvPr/>
        </p:nvSpPr>
        <p:spPr>
          <a:xfrm>
            <a:off x="48750" y="3503425"/>
            <a:ext cx="539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600">
                <a:solidFill>
                  <a:srgbClr val="FF0000"/>
                </a:solidFill>
              </a:rPr>
              <a:t>LOOP</a:t>
            </a:r>
            <a:endParaRPr b="1" sz="6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Memory in the Loop</a:t>
            </a:r>
            <a:endParaRPr b="1"/>
          </a:p>
        </p:txBody>
      </p:sp>
      <p:pic>
        <p:nvPicPr>
          <p:cNvPr id="431" name="Google Shape;431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950" y="1084400"/>
            <a:ext cx="4422800" cy="387062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32" name="Google Shape;432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5802" y="2787950"/>
            <a:ext cx="4241447" cy="195534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33" name="Google Shape;433;p60"/>
          <p:cNvSpPr txBox="1"/>
          <p:nvPr/>
        </p:nvSpPr>
        <p:spPr>
          <a:xfrm>
            <a:off x="5090350" y="1230825"/>
            <a:ext cx="36060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Now one of them is inside the loop.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 docs advise against two memory advisors. This is why the question is sent twice. </a:t>
            </a:r>
            <a:endParaRPr sz="1600">
              <a:solidFill>
                <a:schemeClr val="dk1"/>
              </a:solidFill>
            </a:endParaRPr>
          </a:p>
        </p:txBody>
      </p:sp>
      <p:cxnSp>
        <p:nvCxnSpPr>
          <p:cNvPr id="434" name="Google Shape;434;p60"/>
          <p:cNvCxnSpPr/>
          <p:nvPr/>
        </p:nvCxnSpPr>
        <p:spPr>
          <a:xfrm>
            <a:off x="7038600" y="2220450"/>
            <a:ext cx="352500" cy="96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35" name="Google Shape;435;p60"/>
          <p:cNvCxnSpPr/>
          <p:nvPr/>
        </p:nvCxnSpPr>
        <p:spPr>
          <a:xfrm flipH="1" rot="10800000">
            <a:off x="7486150" y="3395450"/>
            <a:ext cx="1432800" cy="2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6" name="Google Shape;436;p60"/>
          <p:cNvCxnSpPr/>
          <p:nvPr/>
        </p:nvCxnSpPr>
        <p:spPr>
          <a:xfrm>
            <a:off x="4929475" y="3463350"/>
            <a:ext cx="1107300" cy="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37" name="Google Shape;437;p60"/>
          <p:cNvSpPr/>
          <p:nvPr/>
        </p:nvSpPr>
        <p:spPr>
          <a:xfrm>
            <a:off x="406125" y="3435800"/>
            <a:ext cx="1542600" cy="14724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438" name="Google Shape;438;p60"/>
          <p:cNvSpPr txBox="1"/>
          <p:nvPr/>
        </p:nvSpPr>
        <p:spPr>
          <a:xfrm>
            <a:off x="74875" y="3325050"/>
            <a:ext cx="83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600">
                <a:solidFill>
                  <a:srgbClr val="FF0000"/>
                </a:solidFill>
              </a:rPr>
              <a:t>LOOP</a:t>
            </a:r>
            <a:endParaRPr b="1" sz="6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Three levels of hiding the loop</a:t>
            </a:r>
            <a:endParaRPr b="1" sz="2500"/>
          </a:p>
        </p:txBody>
      </p:sp>
      <p:pic>
        <p:nvPicPr>
          <p:cNvPr id="444" name="Google Shape;444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200" cy="3521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Who stops the loop? </a:t>
            </a:r>
            <a:endParaRPr b="1"/>
          </a:p>
        </p:txBody>
      </p:sp>
      <p:graphicFrame>
        <p:nvGraphicFramePr>
          <p:cNvPr id="450" name="Google Shape;450;p62"/>
          <p:cNvGraphicFramePr/>
          <p:nvPr/>
        </p:nvGraphicFramePr>
        <p:xfrm>
          <a:off x="904375" y="1655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{9D615D2B-6423-4E84-BB85-0A1080EE1EAB}</a:tableStyleId>
              </a:tblPr>
              <a:tblGrid>
                <a:gridCol w="1713450"/>
                <a:gridCol w="1984200"/>
                <a:gridCol w="3476775"/>
              </a:tblGrid>
              <a:tr h="672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Implementation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Limit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When exceeded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raw-agent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10 iterations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a string in HTTP 200, indistinguishable from an answer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LC4j AiServices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100 by default (10 in the demo)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exception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Spring AI 2.0.1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40 per tool / 150 per request </a:t>
                      </a:r>
                      <a:r>
                        <a:rPr b="1" lang="pl" sz="1600" u="sng">
                          <a:solidFill>
                            <a:schemeClr val="dk1"/>
                          </a:solidFill>
                          <a:hlinkClick r:id="rId3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doc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response with a dedicated finish reason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OpenRouter</a:t>
            </a:r>
            <a:endParaRPr b="1"/>
          </a:p>
        </p:txBody>
      </p:sp>
      <p:sp>
        <p:nvSpPr>
          <p:cNvPr id="456" name="Google Shape;456;p63"/>
          <p:cNvSpPr txBox="1"/>
          <p:nvPr>
            <p:ph idx="1" type="body"/>
          </p:nvPr>
        </p:nvSpPr>
        <p:spPr>
          <a:xfrm>
            <a:off x="311700" y="1152475"/>
            <a:ext cx="8520600" cy="111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OpenRouter is a single API in front of hundreds of models from dozens of vendors.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One key, one base URL, and the OpenAI protocol everyone already speaks.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457" name="Google Shape;457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6475" y="2061075"/>
            <a:ext cx="5659149" cy="29943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Configuration</a:t>
            </a:r>
            <a:endParaRPr b="1"/>
          </a:p>
        </p:txBody>
      </p:sp>
      <p:sp>
        <p:nvSpPr>
          <p:cNvPr id="463" name="Google Shape;463;p64"/>
          <p:cNvSpPr txBox="1"/>
          <p:nvPr/>
        </p:nvSpPr>
        <p:spPr>
          <a:xfrm>
            <a:off x="5276438" y="11648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Spring AI configuration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64" name="Google Shape;464;p64"/>
          <p:cNvSpPr txBox="1"/>
          <p:nvPr/>
        </p:nvSpPr>
        <p:spPr>
          <a:xfrm>
            <a:off x="5200125" y="1933163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</a:t>
            </a:r>
            <a:r>
              <a:rPr b="1" lang="pl" sz="1600">
                <a:solidFill>
                  <a:schemeClr val="dk1"/>
                </a:solidFill>
              </a:rPr>
              <a:t>wn properties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465" name="Google Shape;465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956" y="1425875"/>
            <a:ext cx="3706318" cy="340410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66" name="Google Shape;466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1425" y="3279725"/>
            <a:ext cx="4201281" cy="149337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467" name="Google Shape;467;p64"/>
          <p:cNvCxnSpPr/>
          <p:nvPr/>
        </p:nvCxnSpPr>
        <p:spPr>
          <a:xfrm flipH="1">
            <a:off x="6323175" y="2364275"/>
            <a:ext cx="38700" cy="1197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68" name="Google Shape;468;p64"/>
          <p:cNvCxnSpPr/>
          <p:nvPr/>
        </p:nvCxnSpPr>
        <p:spPr>
          <a:xfrm flipH="1">
            <a:off x="3474588" y="1425875"/>
            <a:ext cx="1817700" cy="795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Chat</a:t>
            </a:r>
            <a:endParaRPr b="1"/>
          </a:p>
        </p:txBody>
      </p:sp>
      <p:pic>
        <p:nvPicPr>
          <p:cNvPr id="474" name="Google Shape;474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3875" y="1052225"/>
            <a:ext cx="5836323" cy="382097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Image Generation </a:t>
            </a:r>
            <a:endParaRPr b="1"/>
          </a:p>
        </p:txBody>
      </p:sp>
      <p:pic>
        <p:nvPicPr>
          <p:cNvPr id="480" name="Google Shape;480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825" y="1710525"/>
            <a:ext cx="7423926" cy="28680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6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Speech </a:t>
            </a:r>
            <a:endParaRPr b="1"/>
          </a:p>
        </p:txBody>
      </p:sp>
      <p:pic>
        <p:nvPicPr>
          <p:cNvPr id="486" name="Google Shape;486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1975" y="1135725"/>
            <a:ext cx="5202173" cy="382097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6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Vision </a:t>
            </a:r>
            <a:endParaRPr b="1"/>
          </a:p>
        </p:txBody>
      </p:sp>
      <p:pic>
        <p:nvPicPr>
          <p:cNvPr id="492" name="Google Shape;492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1825" y="1150500"/>
            <a:ext cx="4213644" cy="38209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6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Music </a:t>
            </a:r>
            <a:endParaRPr b="1"/>
          </a:p>
        </p:txBody>
      </p:sp>
      <p:sp>
        <p:nvSpPr>
          <p:cNvPr id="498" name="Google Shape;498;p69"/>
          <p:cNvSpPr txBox="1"/>
          <p:nvPr>
            <p:ph idx="1" type="body"/>
          </p:nvPr>
        </p:nvSpPr>
        <p:spPr>
          <a:xfrm>
            <a:off x="311700" y="16676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Lyria is a chat endpoint. Getting the bytes out took five attempts.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1.  chatModel.call() → timed lyrics, no audio “[0.0:7.3] O-Zone, we dance tonight…]“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2.  + getMedia()      → media blocks = 0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3.  + modalities       → `voice` is required, but was not set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4.  + voice               → 400: Audio output requires stream: true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5.  + stream()          → the stream arrives, media blocks = 0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Every one of those errors was correct and specific. None of them said where to look.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69"/>
          <p:cNvSpPr txBox="1"/>
          <p:nvPr/>
        </p:nvSpPr>
        <p:spPr>
          <a:xfrm>
            <a:off x="311700" y="1127125"/>
            <a:ext cx="447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Here is where the trouble started….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7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Why can't Spring AI reach it?</a:t>
            </a:r>
            <a:endParaRPr b="1"/>
          </a:p>
        </p:txBody>
      </p:sp>
      <p:graphicFrame>
        <p:nvGraphicFramePr>
          <p:cNvPr id="505" name="Google Shape;505;p70"/>
          <p:cNvGraphicFramePr/>
          <p:nvPr/>
        </p:nvGraphicFramePr>
        <p:xfrm>
          <a:off x="450063" y="1297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{9D615D2B-6423-4E84-BB85-0A1080EE1EAB}</a:tableStyleId>
              </a:tblPr>
              <a:tblGrid>
                <a:gridCol w="1441150"/>
                <a:gridCol w="6469225"/>
              </a:tblGrid>
              <a:tr h="190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Layer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Behavior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Google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Exposes Lyria through the Interactions API, not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/audio/speech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OpenRouter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Returns audio from chat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only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when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stream: true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OpenAI SDK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Validates a speech-oriented request schema and requires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voice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Spring AI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Maps audio to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Media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only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in the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non-streaming (blocking) path 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06" name="Google Shape;506;p70"/>
          <p:cNvSpPr txBox="1"/>
          <p:nvPr/>
        </p:nvSpPr>
        <p:spPr>
          <a:xfrm>
            <a:off x="450075" y="3938725"/>
            <a:ext cx="78003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No layer made a mistake, so no layer could warn.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Music dropped to raw HTTP.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One modality on the transport is cheaper than pretending the abstraction covers five.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7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Code Snippet </a:t>
            </a:r>
            <a:endParaRPr b="1"/>
          </a:p>
        </p:txBody>
      </p:sp>
      <p:sp>
        <p:nvSpPr>
          <p:cNvPr id="512" name="Google Shape;512;p71"/>
          <p:cNvSpPr txBox="1"/>
          <p:nvPr/>
        </p:nvSpPr>
        <p:spPr>
          <a:xfrm>
            <a:off x="191000" y="3604100"/>
            <a:ext cx="774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Bytes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513" name="Google Shape;513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150" y="1076775"/>
            <a:ext cx="5969639" cy="382097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514" name="Google Shape;514;p71"/>
          <p:cNvCxnSpPr/>
          <p:nvPr/>
        </p:nvCxnSpPr>
        <p:spPr>
          <a:xfrm>
            <a:off x="928075" y="3903200"/>
            <a:ext cx="1415400" cy="7932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7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Video </a:t>
            </a:r>
            <a:endParaRPr b="1"/>
          </a:p>
        </p:txBody>
      </p:sp>
      <p:sp>
        <p:nvSpPr>
          <p:cNvPr id="520" name="Google Shape;520;p72"/>
          <p:cNvSpPr txBox="1"/>
          <p:nvPr>
            <p:ph idx="1" type="body"/>
          </p:nvPr>
        </p:nvSpPr>
        <p:spPr>
          <a:xfrm>
            <a:off x="273175" y="1122425"/>
            <a:ext cx="4924200" cy="335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Video generation is asynchronous: submit, poll, download.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There is no </a:t>
            </a: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VideoModel </a:t>
            </a:r>
            <a:r>
              <a:rPr lang="pl" sz="1600">
                <a:solidFill>
                  <a:schemeClr val="dk1"/>
                </a:solidFill>
              </a:rPr>
              <a:t>in Spring AI, so the client is custom.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Music had the opposite problem, the abstraction existed and could not be reached. </a:t>
            </a:r>
            <a:endParaRPr sz="2300">
              <a:solidFill>
                <a:schemeClr val="dk1"/>
              </a:solidFill>
            </a:endParaRPr>
          </a:p>
        </p:txBody>
      </p:sp>
      <p:pic>
        <p:nvPicPr>
          <p:cNvPr id="521" name="Google Shape;521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01275" y="594900"/>
            <a:ext cx="246514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7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Is one protocol really enough?</a:t>
            </a:r>
            <a:endParaRPr b="1"/>
          </a:p>
        </p:txBody>
      </p:sp>
      <p:sp>
        <p:nvSpPr>
          <p:cNvPr id="527" name="Google Shape;527;p73"/>
          <p:cNvSpPr txBox="1"/>
          <p:nvPr/>
        </p:nvSpPr>
        <p:spPr>
          <a:xfrm>
            <a:off x="256025" y="1367475"/>
            <a:ext cx="691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800">
                <a:solidFill>
                  <a:schemeClr val="lt2"/>
                </a:solidFill>
              </a:rPr>
              <a:t> </a:t>
            </a:r>
            <a:r>
              <a:rPr b="1" lang="pl" sz="1800">
                <a:solidFill>
                  <a:schemeClr val="dk1"/>
                </a:solidFill>
              </a:rPr>
              <a:t>One provider does not mean one protocol. </a:t>
            </a:r>
            <a:endParaRPr b="1" sz="1800">
              <a:solidFill>
                <a:schemeClr val="dk1"/>
              </a:solidFill>
            </a:endParaRPr>
          </a:p>
        </p:txBody>
      </p:sp>
      <p:pic>
        <p:nvPicPr>
          <p:cNvPr id="528" name="Google Shape;528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225" y="2100625"/>
            <a:ext cx="8839204" cy="21321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7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S</a:t>
            </a:r>
            <a:r>
              <a:rPr b="1" lang="pl" sz="2500"/>
              <a:t>ee you in part </a:t>
            </a:r>
            <a:r>
              <a:rPr b="1" lang="pl" sz="2500"/>
              <a:t>Ⅱ </a:t>
            </a:r>
            <a:r>
              <a:rPr b="1" lang="pl" sz="2500"/>
              <a:t>next week!</a:t>
            </a:r>
            <a:endParaRPr b="1" sz="2500"/>
          </a:p>
        </p:txBody>
      </p:sp>
      <p:pic>
        <p:nvPicPr>
          <p:cNvPr id="534" name="Google Shape;534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6200" y="1017725"/>
            <a:ext cx="6870901" cy="38692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