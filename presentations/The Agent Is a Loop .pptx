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slide+xml" PartName="/ppt/slides/slide40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5"/>
    <p:sldMasterId id="214748367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</p:sldIdLst>
  <p:sldSz cy="5143500" cx="9144000"/>
  <p:notesSz cx="6858000" cy="9144000"/>
  <p:embeddedFontLst>
    <p:embeddedFont>
      <p:font typeface="Raleway"/>
      <p:regular r:id="rId54"/>
      <p:bold r:id="rId55"/>
      <p:italic r:id="rId56"/>
      <p:boldItalic r:id="rId57"/>
    </p:embeddedFont>
    <p:embeddedFont>
      <p:font typeface="Roboto"/>
      <p:regular r:id="rId58"/>
      <p:bold r:id="rId59"/>
      <p:italic r:id="rId60"/>
      <p:boldItalic r:id="rId61"/>
    </p:embeddedFont>
    <p:embeddedFont>
      <p:font typeface="Lato"/>
      <p:regular r:id="rId62"/>
      <p:bold r:id="rId63"/>
      <p:italic r:id="rId64"/>
      <p:boldItalic r:id="rId65"/>
    </p:embeddedFont>
    <p:embeddedFont>
      <p:font typeface="Roboto Mono"/>
      <p:regular r:id="rId66"/>
      <p:bold r:id="rId67"/>
      <p:italic r:id="rId68"/>
      <p:boldItalic r:id="rId6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F215772-F3B7-4B58-AF57-4B86662D7F26}">
  <a:tblStyle styleId="{DF215772-F3B7-4B58-AF57-4B86662D7F2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3.xml"/><Relationship Id="rId42" Type="http://schemas.openxmlformats.org/officeDocument/2006/relationships/slide" Target="slides/slide35.xml"/><Relationship Id="rId41" Type="http://schemas.openxmlformats.org/officeDocument/2006/relationships/slide" Target="slides/slide34.xml"/><Relationship Id="rId44" Type="http://schemas.openxmlformats.org/officeDocument/2006/relationships/slide" Target="slides/slide37.xml"/><Relationship Id="rId43" Type="http://schemas.openxmlformats.org/officeDocument/2006/relationships/slide" Target="slides/slide36.xml"/><Relationship Id="rId46" Type="http://schemas.openxmlformats.org/officeDocument/2006/relationships/slide" Target="slides/slide39.xml"/><Relationship Id="rId45" Type="http://schemas.openxmlformats.org/officeDocument/2006/relationships/slide" Target="slides/slide38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2.xml"/><Relationship Id="rId48" Type="http://schemas.openxmlformats.org/officeDocument/2006/relationships/slide" Target="slides/slide41.xml"/><Relationship Id="rId47" Type="http://schemas.openxmlformats.org/officeDocument/2006/relationships/slide" Target="slides/slide40.xml"/><Relationship Id="rId49" Type="http://schemas.openxmlformats.org/officeDocument/2006/relationships/slide" Target="slides/slide42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33" Type="http://schemas.openxmlformats.org/officeDocument/2006/relationships/slide" Target="slides/slide26.xml"/><Relationship Id="rId32" Type="http://schemas.openxmlformats.org/officeDocument/2006/relationships/slide" Target="slides/slide25.xml"/><Relationship Id="rId35" Type="http://schemas.openxmlformats.org/officeDocument/2006/relationships/slide" Target="slides/slide28.xml"/><Relationship Id="rId34" Type="http://schemas.openxmlformats.org/officeDocument/2006/relationships/slide" Target="slides/slide27.xml"/><Relationship Id="rId37" Type="http://schemas.openxmlformats.org/officeDocument/2006/relationships/slide" Target="slides/slide30.xml"/><Relationship Id="rId36" Type="http://schemas.openxmlformats.org/officeDocument/2006/relationships/slide" Target="slides/slide29.xml"/><Relationship Id="rId39" Type="http://schemas.openxmlformats.org/officeDocument/2006/relationships/slide" Target="slides/slide32.xml"/><Relationship Id="rId38" Type="http://schemas.openxmlformats.org/officeDocument/2006/relationships/slide" Target="slides/slide31.xml"/><Relationship Id="rId62" Type="http://schemas.openxmlformats.org/officeDocument/2006/relationships/font" Target="fonts/Lato-regular.fntdata"/><Relationship Id="rId61" Type="http://schemas.openxmlformats.org/officeDocument/2006/relationships/font" Target="fonts/Roboto-boldItalic.fntdata"/><Relationship Id="rId20" Type="http://schemas.openxmlformats.org/officeDocument/2006/relationships/slide" Target="slides/slide13.xml"/><Relationship Id="rId64" Type="http://schemas.openxmlformats.org/officeDocument/2006/relationships/font" Target="fonts/Lato-italic.fntdata"/><Relationship Id="rId63" Type="http://schemas.openxmlformats.org/officeDocument/2006/relationships/font" Target="fonts/Lato-bold.fntdata"/><Relationship Id="rId22" Type="http://schemas.openxmlformats.org/officeDocument/2006/relationships/slide" Target="slides/slide15.xml"/><Relationship Id="rId66" Type="http://schemas.openxmlformats.org/officeDocument/2006/relationships/font" Target="fonts/RobotoMono-regular.fntdata"/><Relationship Id="rId21" Type="http://schemas.openxmlformats.org/officeDocument/2006/relationships/slide" Target="slides/slide14.xml"/><Relationship Id="rId65" Type="http://schemas.openxmlformats.org/officeDocument/2006/relationships/font" Target="fonts/Lato-boldItalic.fntdata"/><Relationship Id="rId24" Type="http://schemas.openxmlformats.org/officeDocument/2006/relationships/slide" Target="slides/slide17.xml"/><Relationship Id="rId68" Type="http://schemas.openxmlformats.org/officeDocument/2006/relationships/font" Target="fonts/RobotoMono-italic.fntdata"/><Relationship Id="rId23" Type="http://schemas.openxmlformats.org/officeDocument/2006/relationships/slide" Target="slides/slide16.xml"/><Relationship Id="rId67" Type="http://schemas.openxmlformats.org/officeDocument/2006/relationships/font" Target="fonts/RobotoMono-bold.fntdata"/><Relationship Id="rId60" Type="http://schemas.openxmlformats.org/officeDocument/2006/relationships/font" Target="fonts/Roboto-italic.fntdata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69" Type="http://schemas.openxmlformats.org/officeDocument/2006/relationships/font" Target="fonts/RobotoMono-boldItalic.fntdata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29" Type="http://schemas.openxmlformats.org/officeDocument/2006/relationships/slide" Target="slides/slide22.xml"/><Relationship Id="rId51" Type="http://schemas.openxmlformats.org/officeDocument/2006/relationships/slide" Target="slides/slide44.xml"/><Relationship Id="rId50" Type="http://schemas.openxmlformats.org/officeDocument/2006/relationships/slide" Target="slides/slide43.xml"/><Relationship Id="rId53" Type="http://schemas.openxmlformats.org/officeDocument/2006/relationships/slide" Target="slides/slide46.xml"/><Relationship Id="rId52" Type="http://schemas.openxmlformats.org/officeDocument/2006/relationships/slide" Target="slides/slide45.xml"/><Relationship Id="rId11" Type="http://schemas.openxmlformats.org/officeDocument/2006/relationships/slide" Target="slides/slide4.xml"/><Relationship Id="rId55" Type="http://schemas.openxmlformats.org/officeDocument/2006/relationships/font" Target="fonts/Raleway-bold.fntdata"/><Relationship Id="rId10" Type="http://schemas.openxmlformats.org/officeDocument/2006/relationships/slide" Target="slides/slide3.xml"/><Relationship Id="rId54" Type="http://schemas.openxmlformats.org/officeDocument/2006/relationships/font" Target="fonts/Raleway-regular.fntdata"/><Relationship Id="rId13" Type="http://schemas.openxmlformats.org/officeDocument/2006/relationships/slide" Target="slides/slide6.xml"/><Relationship Id="rId57" Type="http://schemas.openxmlformats.org/officeDocument/2006/relationships/font" Target="fonts/Raleway-boldItalic.fntdata"/><Relationship Id="rId12" Type="http://schemas.openxmlformats.org/officeDocument/2006/relationships/slide" Target="slides/slide5.xml"/><Relationship Id="rId56" Type="http://schemas.openxmlformats.org/officeDocument/2006/relationships/font" Target="fonts/Raleway-italic.fntdata"/><Relationship Id="rId15" Type="http://schemas.openxmlformats.org/officeDocument/2006/relationships/slide" Target="slides/slide8.xml"/><Relationship Id="rId59" Type="http://schemas.openxmlformats.org/officeDocument/2006/relationships/font" Target="fonts/Roboto-bold.fntdata"/><Relationship Id="rId14" Type="http://schemas.openxmlformats.org/officeDocument/2006/relationships/slide" Target="slides/slide7.xml"/><Relationship Id="rId58" Type="http://schemas.openxmlformats.org/officeDocument/2006/relationships/font" Target="fonts/Roboto-regular.fntdata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h4d9b5d7495380ac_5_45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h4d9b5d7495380ac_5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h4d9b5d7495380ac_2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h4d9b5d7495380ac_2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h4d9b5d7495380ac_2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h4d9b5d7495380ac_2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h4d9b5d7495380ac_2_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h4d9b5d7495380ac_2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h4d9b5d7495380ac_2_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h4d9b5d7495380ac_2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h58aa35c2e4d04f53_0_5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h58aa35c2e4d04f53_0_5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h4d9b5d7495380ac_2_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h4d9b5d7495380ac_2_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h4d9b5d7495380ac_2_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h4d9b5d7495380ac_2_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h58aa35c2e4d04f53_0_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h58aa35c2e4d04f53_0_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h58aa35c2e4d04f53_0_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h58aa35c2e4d04f53_0_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h58aa35c2e4d04f53_0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" name="Google Shape;208;h58aa35c2e4d04f53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h58aa35c2e4d04f53_0_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h58aa35c2e4d04f53_0_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h58aa35c2e4d04f53_0_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3" name="Google Shape;223;h58aa35c2e4d04f53_0_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h58aa35c2e4d04f53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0" name="Google Shape;230;h58aa35c2e4d04f53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h58aa35c2e4d04f53_0_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7" name="Google Shape;237;h58aa35c2e4d04f53_0_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h58aa35c2e4d04f53_0_1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h58aa35c2e4d04f53_0_1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h58aa35c2e4d04f53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2" name="Google Shape;252;h58aa35c2e4d04f53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h58aa35c2e4d04f53_0_2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9" name="Google Shape;259;h58aa35c2e4d04f53_0_2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h58aa35c2e4d04f53_0_2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h58aa35c2e4d04f53_0_2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h58aa35c2e4d04f53_0_1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2" name="Google Shape;272;h58aa35c2e4d04f53_0_1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h58aa35c2e4d04f53_0_1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" name="Google Shape;284;h58aa35c2e4d04f53_0_1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h58aa35c2e4d04f53_0_1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h58aa35c2e4d04f53_0_1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h58aa35c2e4d04f53_0_2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4" name="Google Shape;304;h58aa35c2e4d04f53_0_2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h58aa35c2e4d04f53_0_2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1" name="Google Shape;311;h58aa35c2e4d04f53_0_2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h58aa35c2e4d04f53_0_3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8" name="Google Shape;318;h58aa35c2e4d04f53_0_3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h58aa35c2e4d04f53_0_3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5" name="Google Shape;325;h58aa35c2e4d04f53_0_3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h58aa35c2e4d04f53_0_3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6" name="Google Shape;336;h58aa35c2e4d04f53_0_3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h58aa35c2e4d04f53_0_3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1" name="Google Shape;351;h58aa35c2e4d04f53_0_3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8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h58aa35c2e4d04f53_0_3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0" name="Google Shape;360;h58aa35c2e4d04f53_0_3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h58aa35c2e4d04f53_0_3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9" name="Google Shape;369;h58aa35c2e4d04f53_0_3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h58aa35c2e4d04f53_0_3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3" name="Google Shape;383;h58aa35c2e4d04f53_0_3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h58aa35c2e4d04f53_0_3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0" name="Google Shape;390;h58aa35c2e4d04f53_0_3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h58aa35c2e4d04f53_0_2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1" name="Google Shape;401;h58aa35c2e4d04f53_0_2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h7cfdbf8587696338_3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7" name="Google Shape;407;h7cfdbf8587696338_3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h58aa35c2e4d04f53_0_4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3" name="Google Shape;413;h58aa35c2e4d04f53_0_4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8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h58aa35c2e4d04f53_0_4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0" name="Google Shape;420;h58aa35c2e4d04f53_0_4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9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h58aa35c2e4d04f53_0_4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1" name="Google Shape;431;h58aa35c2e4d04f53_0_4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h58aa35c2e4d04f53_0_47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h58aa35c2e4d04f53_0_4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h58aa35c2e4d04f53_0_4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3" name="Google Shape;443;h58aa35c2e4d04f53_0_4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h58aa35c2e4d04f53_0_4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9" name="Google Shape;449;h58aa35c2e4d04f53_0_4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3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h58aa35c2e4d04f53_0_4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5" name="Google Shape;455;h58aa35c2e4d04f53_0_4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0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h58aa35c2e4d04f53_0_5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2" name="Google Shape;462;h58aa35c2e4d04f53_0_5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7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h58aa35c2e4d04f53_0_5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h58aa35c2e4d04f53_0_5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5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h58aa35c2e4d04f53_0_4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7" name="Google Shape;477;h58aa35c2e4d04f53_0_4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2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h58aa35c2e4d04f53_0_5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4" name="Google Shape;484;h58aa35c2e4d04f53_0_5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9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h58aa35c2e4d04f53_0_2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1" name="Google Shape;491;h58aa35c2e4d04f53_0_2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Google Shape;10;p2"/>
          <p:cNvCxnSpPr/>
          <p:nvPr/>
        </p:nvCxnSpPr>
        <p:spPr>
          <a:xfrm>
            <a:off x="2477724" y="415650"/>
            <a:ext cx="6244200" cy="0"/>
          </a:xfrm>
          <a:prstGeom prst="straightConnector1">
            <a:avLst/>
          </a:prstGeom>
          <a:noFill/>
          <a:ln cap="flat" cmpd="sng" w="3810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" name="Google Shape;11;p2"/>
          <p:cNvCxnSpPr/>
          <p:nvPr/>
        </p:nvCxnSpPr>
        <p:spPr>
          <a:xfrm>
            <a:off x="2477724" y="4740000"/>
            <a:ext cx="62442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" name="Google Shape;12;p2"/>
          <p:cNvCxnSpPr/>
          <p:nvPr/>
        </p:nvCxnSpPr>
        <p:spPr>
          <a:xfrm>
            <a:off x="425198" y="415650"/>
            <a:ext cx="183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" name="Google Shape;13;p2"/>
          <p:cNvSpPr txBox="1"/>
          <p:nvPr>
            <p:ph type="ctrTitle"/>
          </p:nvPr>
        </p:nvSpPr>
        <p:spPr>
          <a:xfrm>
            <a:off x="2371725" y="630225"/>
            <a:ext cx="6331500" cy="1542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4" name="Google Shape;14;p2"/>
          <p:cNvSpPr txBox="1"/>
          <p:nvPr>
            <p:ph idx="1" type="subTitle"/>
          </p:nvPr>
        </p:nvSpPr>
        <p:spPr>
          <a:xfrm>
            <a:off x="2390267" y="3238450"/>
            <a:ext cx="6331500" cy="1241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2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Google Shape;17;p3"/>
          <p:cNvCxnSpPr/>
          <p:nvPr/>
        </p:nvCxnSpPr>
        <p:spPr>
          <a:xfrm>
            <a:off x="425200" y="415650"/>
            <a:ext cx="8296800" cy="0"/>
          </a:xfrm>
          <a:prstGeom prst="straightConnector1">
            <a:avLst/>
          </a:prstGeom>
          <a:noFill/>
          <a:ln cap="flat" cmpd="sng" w="3810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" name="Google Shape;18;p3"/>
          <p:cNvCxnSpPr/>
          <p:nvPr/>
        </p:nvCxnSpPr>
        <p:spPr>
          <a:xfrm>
            <a:off x="425200" y="4740000"/>
            <a:ext cx="82968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" name="Google Shape;19;p3"/>
          <p:cNvSpPr txBox="1"/>
          <p:nvPr>
            <p:ph type="title"/>
          </p:nvPr>
        </p:nvSpPr>
        <p:spPr>
          <a:xfrm>
            <a:off x="406425" y="1806825"/>
            <a:ext cx="8296800" cy="1542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4"/>
          <p:cNvCxnSpPr/>
          <p:nvPr/>
        </p:nvCxnSpPr>
        <p:spPr>
          <a:xfrm>
            <a:off x="2477724" y="415650"/>
            <a:ext cx="6244200" cy="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3" name="Google Shape;23;p4"/>
          <p:cNvCxnSpPr/>
          <p:nvPr/>
        </p:nvCxnSpPr>
        <p:spPr>
          <a:xfrm>
            <a:off x="2477724" y="4740000"/>
            <a:ext cx="6244200" cy="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4" name="Google Shape;24;p4"/>
          <p:cNvCxnSpPr/>
          <p:nvPr/>
        </p:nvCxnSpPr>
        <p:spPr>
          <a:xfrm>
            <a:off x="425198" y="415650"/>
            <a:ext cx="183300" cy="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" name="Google Shape;25;p4"/>
          <p:cNvSpPr txBox="1"/>
          <p:nvPr>
            <p:ph type="title"/>
          </p:nvPr>
        </p:nvSpPr>
        <p:spPr>
          <a:xfrm>
            <a:off x="2400250" y="575950"/>
            <a:ext cx="6321600" cy="63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" type="body"/>
          </p:nvPr>
        </p:nvSpPr>
        <p:spPr>
          <a:xfrm>
            <a:off x="2410112" y="1595776"/>
            <a:ext cx="6321600" cy="300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7" name="Google Shape;27;p4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" name="Google Shape;29;p5"/>
          <p:cNvCxnSpPr/>
          <p:nvPr/>
        </p:nvCxnSpPr>
        <p:spPr>
          <a:xfrm>
            <a:off x="2477724" y="415650"/>
            <a:ext cx="6244200" cy="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0" name="Google Shape;30;p5"/>
          <p:cNvCxnSpPr/>
          <p:nvPr/>
        </p:nvCxnSpPr>
        <p:spPr>
          <a:xfrm>
            <a:off x="2477724" y="4740000"/>
            <a:ext cx="6244200" cy="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1" name="Google Shape;31;p5"/>
          <p:cNvCxnSpPr/>
          <p:nvPr/>
        </p:nvCxnSpPr>
        <p:spPr>
          <a:xfrm>
            <a:off x="425198" y="415650"/>
            <a:ext cx="183300" cy="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2" name="Google Shape;32;p5"/>
          <p:cNvSpPr txBox="1"/>
          <p:nvPr>
            <p:ph type="title"/>
          </p:nvPr>
        </p:nvSpPr>
        <p:spPr>
          <a:xfrm>
            <a:off x="2400250" y="575950"/>
            <a:ext cx="6321600" cy="63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1" type="body"/>
          </p:nvPr>
        </p:nvSpPr>
        <p:spPr>
          <a:xfrm>
            <a:off x="2400303" y="1602675"/>
            <a:ext cx="3071400" cy="300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4" name="Google Shape;34;p5"/>
          <p:cNvSpPr txBox="1"/>
          <p:nvPr>
            <p:ph idx="2" type="body"/>
          </p:nvPr>
        </p:nvSpPr>
        <p:spPr>
          <a:xfrm>
            <a:off x="5650572" y="1602675"/>
            <a:ext cx="3071400" cy="300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5" name="Google Shape;35;p5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6"/>
          <p:cNvSpPr txBox="1"/>
          <p:nvPr>
            <p:ph type="title"/>
          </p:nvPr>
        </p:nvSpPr>
        <p:spPr>
          <a:xfrm>
            <a:off x="303300" y="411575"/>
            <a:ext cx="8520600" cy="63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0" name="Google Shape;40;p7"/>
          <p:cNvCxnSpPr/>
          <p:nvPr/>
        </p:nvCxnSpPr>
        <p:spPr>
          <a:xfrm>
            <a:off x="425198" y="415650"/>
            <a:ext cx="183300" cy="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7"/>
          <p:cNvSpPr txBox="1"/>
          <p:nvPr>
            <p:ph type="title"/>
          </p:nvPr>
        </p:nvSpPr>
        <p:spPr>
          <a:xfrm>
            <a:off x="319500" y="936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319500" y="1846804"/>
            <a:ext cx="2808000" cy="280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3" name="Google Shape;43;p7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" name="Google Shape;45;p8"/>
          <p:cNvCxnSpPr/>
          <p:nvPr/>
        </p:nvCxnSpPr>
        <p:spPr>
          <a:xfrm>
            <a:off x="425198" y="415650"/>
            <a:ext cx="183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6" name="Google Shape;46;p8"/>
          <p:cNvSpPr txBox="1"/>
          <p:nvPr>
            <p:ph type="title"/>
          </p:nvPr>
        </p:nvSpPr>
        <p:spPr>
          <a:xfrm>
            <a:off x="283103" y="712141"/>
            <a:ext cx="6244200" cy="3835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" name="Google Shape;47;p8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9"/>
          <p:cNvSpPr/>
          <p:nvPr/>
        </p:nvSpPr>
        <p:spPr>
          <a:xfrm>
            <a:off x="4572000" y="1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50" name="Google Shape;50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1" name="Google Shape;51;p9"/>
          <p:cNvSpPr txBox="1"/>
          <p:nvPr>
            <p:ph type="title"/>
          </p:nvPr>
        </p:nvSpPr>
        <p:spPr>
          <a:xfrm>
            <a:off x="265500" y="1397350"/>
            <a:ext cx="4045200" cy="1318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52" name="Google Shape;52;p9"/>
          <p:cNvSpPr txBox="1"/>
          <p:nvPr>
            <p:ph idx="1" type="subTitle"/>
          </p:nvPr>
        </p:nvSpPr>
        <p:spPr>
          <a:xfrm>
            <a:off x="265500" y="2735371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53" name="Google Shape;53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4" name="Google Shape;54;p9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6" name="Google Shape;56;p10"/>
          <p:cNvCxnSpPr/>
          <p:nvPr/>
        </p:nvCxnSpPr>
        <p:spPr>
          <a:xfrm>
            <a:off x="425200" y="4740000"/>
            <a:ext cx="8296800" cy="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7" name="Google Shape;57;p10"/>
          <p:cNvCxnSpPr/>
          <p:nvPr/>
        </p:nvCxnSpPr>
        <p:spPr>
          <a:xfrm>
            <a:off x="425198" y="415650"/>
            <a:ext cx="183300" cy="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8" name="Google Shape;58;p10"/>
          <p:cNvSpPr txBox="1"/>
          <p:nvPr>
            <p:ph idx="1" type="body"/>
          </p:nvPr>
        </p:nvSpPr>
        <p:spPr>
          <a:xfrm>
            <a:off x="328017" y="4226025"/>
            <a:ext cx="83886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59" name="Google Shape;59;p10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1" name="Google Shape;61;p11"/>
          <p:cNvCxnSpPr/>
          <p:nvPr/>
        </p:nvCxnSpPr>
        <p:spPr>
          <a:xfrm>
            <a:off x="425200" y="4740000"/>
            <a:ext cx="8296800" cy="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" name="Google Shape;62;p11"/>
          <p:cNvCxnSpPr/>
          <p:nvPr/>
        </p:nvCxnSpPr>
        <p:spPr>
          <a:xfrm>
            <a:off x="425200" y="415650"/>
            <a:ext cx="8296800" cy="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" name="Google Shape;63;p11"/>
          <p:cNvSpPr txBox="1"/>
          <p:nvPr>
            <p:ph hasCustomPrompt="1" type="title"/>
          </p:nvPr>
        </p:nvSpPr>
        <p:spPr>
          <a:xfrm>
            <a:off x="853950" y="1304850"/>
            <a:ext cx="7436100" cy="153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r>
              <a:t>xx%</a:t>
            </a:r>
          </a:p>
        </p:txBody>
      </p:sp>
      <p:sp>
        <p:nvSpPr>
          <p:cNvPr id="64" name="Google Shape;64;p11"/>
          <p:cNvSpPr txBox="1"/>
          <p:nvPr>
            <p:ph idx="1" type="body"/>
          </p:nvPr>
        </p:nvSpPr>
        <p:spPr>
          <a:xfrm>
            <a:off x="853950" y="2919450"/>
            <a:ext cx="7436100" cy="10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5" name="Google Shape;65;p11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2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74" name="Google Shape;74;p1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75" name="Google Shape;75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5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78" name="Google Shape;78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81" name="Google Shape;81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82" name="Google Shape;82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85" name="Google Shape;85;p17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86" name="Google Shape;86;p17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87" name="Google Shape;87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90" name="Google Shape;90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9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93" name="Google Shape;93;p19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94" name="Google Shape;94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0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97" name="Google Shape;97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1"/>
          <p:cNvSpPr/>
          <p:nvPr/>
        </p:nvSpPr>
        <p:spPr>
          <a:xfrm>
            <a:off x="4572000" y="2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21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101" name="Google Shape;101;p21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02" name="Google Shape;102;p2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03" name="Google Shape;103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2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3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09" name="Google Shape;109;p23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10" name="Google Shape;110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wiss-2">
    <p:bg>
      <p:bgPr>
        <a:gradFill>
          <a:gsLst>
            <a:gs pos="0">
              <a:srgbClr val="EF6C04"/>
            </a:gs>
            <a:gs pos="64000">
              <a:srgbClr val="EF6C04"/>
            </a:gs>
            <a:gs pos="100000">
              <a:srgbClr val="A9530F"/>
            </a:gs>
          </a:gsLst>
          <a:path path="circle">
            <a:fillToRect b="100%" l="0%" r="100%" t="0%"/>
          </a:path>
          <a:tileRect b="0%" l="-100%" r="0%" t="-100%"/>
        </a:gra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2400250" y="575950"/>
            <a:ext cx="6321600" cy="63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b="1" sz="30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b="1" sz="30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b="1" sz="30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b="1" sz="30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b="1" sz="30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b="1" sz="30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b="1" sz="30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b="1" sz="30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b="1" sz="30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2410112" y="1595776"/>
            <a:ext cx="6321600" cy="30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Lato"/>
              <a:buChar char="●"/>
              <a:defRPr sz="18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dark-2">
    <p:bg>
      <p:bgPr>
        <a:gradFill>
          <a:gsLst>
            <a:gs pos="0">
              <a:srgbClr val="EF6C04"/>
            </a:gs>
            <a:gs pos="64000">
              <a:srgbClr val="EF6C04"/>
            </a:gs>
            <a:gs pos="100000">
              <a:srgbClr val="A9530F"/>
            </a:gs>
          </a:gsLst>
          <a:path path="circle">
            <a:fillToRect b="100%" l="0%" r="100%" t="0%"/>
          </a:path>
          <a:tileRect b="0%" l="-100%" r="0%" t="-100%"/>
        </a:gradFill>
      </p:bgPr>
    </p:bg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0" name="Google Shape;70;p1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 sz="1800">
                <a:solidFill>
                  <a:schemeClr val="lt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71" name="Google Shape;71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lt2"/>
                </a:solidFill>
              </a:defRPr>
            </a:lvl1pPr>
            <a:lvl2pPr lvl="1" algn="r">
              <a:buNone/>
              <a:defRPr sz="1000">
                <a:solidFill>
                  <a:schemeClr val="lt2"/>
                </a:solidFill>
              </a:defRPr>
            </a:lvl2pPr>
            <a:lvl3pPr lvl="2" algn="r">
              <a:buNone/>
              <a:defRPr sz="1000">
                <a:solidFill>
                  <a:schemeClr val="lt2"/>
                </a:solidFill>
              </a:defRPr>
            </a:lvl3pPr>
            <a:lvl4pPr lvl="3" algn="r">
              <a:buNone/>
              <a:defRPr sz="1000">
                <a:solidFill>
                  <a:schemeClr val="lt2"/>
                </a:solidFill>
              </a:defRPr>
            </a:lvl4pPr>
            <a:lvl5pPr lvl="4" algn="r">
              <a:buNone/>
              <a:defRPr sz="1000">
                <a:solidFill>
                  <a:schemeClr val="lt2"/>
                </a:solidFill>
              </a:defRPr>
            </a:lvl5pPr>
            <a:lvl6pPr lvl="5" algn="r">
              <a:buNone/>
              <a:defRPr sz="1000">
                <a:solidFill>
                  <a:schemeClr val="lt2"/>
                </a:solidFill>
              </a:defRPr>
            </a:lvl6pPr>
            <a:lvl7pPr lvl="6" algn="r">
              <a:buNone/>
              <a:defRPr sz="1000">
                <a:solidFill>
                  <a:schemeClr val="lt2"/>
                </a:solidFill>
              </a:defRPr>
            </a:lvl7pPr>
            <a:lvl8pPr lvl="7" algn="r">
              <a:buNone/>
              <a:defRPr sz="1000">
                <a:solidFill>
                  <a:schemeClr val="lt2"/>
                </a:solidFill>
              </a:defRPr>
            </a:lvl8pPr>
            <a:lvl9pPr lvl="8" algn="r">
              <a:buNone/>
              <a:defRPr sz="1000">
                <a:solidFill>
                  <a:schemeClr val="lt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github.com/xkondix/ai-agents-JAVA-SPRING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github.com/xkondix/aiSandbox-JAVA-SPIRNG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strandsagents.com/docs/user-guide/migrate/openai/" TargetMode="External"/><Relationship Id="rId4" Type="http://schemas.openxmlformats.org/officeDocument/2006/relationships/image" Target="../media/image6.png"/><Relationship Id="rId5" Type="http://schemas.openxmlformats.org/officeDocument/2006/relationships/hyperlink" Target="https://developers.openai.com/cookbook/examples/reasoning_function_calls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0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8.png"/><Relationship Id="rId4" Type="http://schemas.openxmlformats.org/officeDocument/2006/relationships/image" Target="../media/image1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7.png"/><Relationship Id="rId4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9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Relationship Id="rId4" Type="http://schemas.openxmlformats.org/officeDocument/2006/relationships/image" Target="../media/image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1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9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5.png"/><Relationship Id="rId4" Type="http://schemas.openxmlformats.org/officeDocument/2006/relationships/image" Target="../media/image2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3.png"/><Relationship Id="rId4" Type="http://schemas.openxmlformats.org/officeDocument/2006/relationships/image" Target="../media/image2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1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6.png"/><Relationship Id="rId4" Type="http://schemas.openxmlformats.org/officeDocument/2006/relationships/image" Target="../media/image33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34.png"/><Relationship Id="rId4" Type="http://schemas.openxmlformats.org/officeDocument/2006/relationships/image" Target="../media/image28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39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docs.spring.io/spring-ai/reference/upgrade-notes.html#_new_tool_call_limits" TargetMode="Externa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26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37.png"/><Relationship Id="rId4" Type="http://schemas.openxmlformats.org/officeDocument/2006/relationships/image" Target="../media/image47.pn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4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30.png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35.png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46.png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40.png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43.png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4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5"/>
          <p:cNvSpPr txBox="1"/>
          <p:nvPr>
            <p:ph type="ctrTitle"/>
          </p:nvPr>
        </p:nvSpPr>
        <p:spPr>
          <a:xfrm>
            <a:off x="1421899" y="852600"/>
            <a:ext cx="6661500" cy="1448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The Agent Is a Loop </a:t>
            </a:r>
            <a:endParaRPr/>
          </a:p>
        </p:txBody>
      </p:sp>
      <p:sp>
        <p:nvSpPr>
          <p:cNvPr descr="xkondix AI Sandbox" id="118" name="Google Shape;118;p25"/>
          <p:cNvSpPr txBox="1"/>
          <p:nvPr>
            <p:ph idx="1" type="subTitle"/>
          </p:nvPr>
        </p:nvSpPr>
        <p:spPr>
          <a:xfrm>
            <a:off x="4103000" y="2857100"/>
            <a:ext cx="4621800" cy="93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1"/>
                </a:solidFill>
              </a:rPr>
              <a:t>   </a:t>
            </a:r>
            <a:r>
              <a:rPr lang="pl">
                <a:solidFill>
                  <a:schemeClr val="dk1"/>
                </a:solidFill>
              </a:rPr>
              <a:t>Author: Konrad Kowalczyk</a:t>
            </a:r>
            <a:endParaRPr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1"/>
                </a:solidFill>
              </a:rPr>
              <a:t>Repository: </a:t>
            </a:r>
            <a:r>
              <a:rPr lang="pl" u="sng">
                <a:solidFill>
                  <a:schemeClr val="dk1"/>
                </a:solidFill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ai-agents-JAVA-SPRING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Let's start from the beginning</a:t>
            </a:r>
            <a:endParaRPr b="1"/>
          </a:p>
        </p:txBody>
      </p:sp>
      <p:sp>
        <p:nvSpPr>
          <p:cNvPr id="124" name="Google Shape;124;p26"/>
          <p:cNvSpPr txBox="1"/>
          <p:nvPr>
            <p:ph idx="1" type="body"/>
          </p:nvPr>
        </p:nvSpPr>
        <p:spPr>
          <a:xfrm>
            <a:off x="1119825" y="1774750"/>
            <a:ext cx="2949000" cy="99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6400">
                <a:solidFill>
                  <a:schemeClr val="dk1"/>
                </a:solidFill>
              </a:rPr>
              <a:t>This is a continuation of last year's presentation, which focused on… </a:t>
            </a:r>
            <a:endParaRPr sz="6400">
              <a:solidFill>
                <a:schemeClr val="dk1"/>
              </a:solidFill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6"/>
          <p:cNvSpPr txBox="1"/>
          <p:nvPr/>
        </p:nvSpPr>
        <p:spPr>
          <a:xfrm>
            <a:off x="1688225" y="3921700"/>
            <a:ext cx="3000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l" sz="1600" u="sng">
                <a:solidFill>
                  <a:schemeClr val="dk1"/>
                </a:solidFill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xkondix AI Sandbox</a:t>
            </a:r>
            <a:endParaRPr sz="1600">
              <a:solidFill>
                <a:schemeClr val="lt2"/>
              </a:solidFill>
            </a:endParaRPr>
          </a:p>
        </p:txBody>
      </p:sp>
      <p:sp>
        <p:nvSpPr>
          <p:cNvPr id="126" name="Google Shape;126;p26"/>
          <p:cNvSpPr txBox="1"/>
          <p:nvPr/>
        </p:nvSpPr>
        <p:spPr>
          <a:xfrm>
            <a:off x="5078450" y="1325525"/>
            <a:ext cx="8094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RAG</a:t>
            </a:r>
            <a:endParaRPr b="1" sz="1600">
              <a:solidFill>
                <a:schemeClr val="dk1"/>
              </a:solidFill>
            </a:endParaRPr>
          </a:p>
        </p:txBody>
      </p:sp>
      <p:sp>
        <p:nvSpPr>
          <p:cNvPr id="127" name="Google Shape;127;p26"/>
          <p:cNvSpPr txBox="1"/>
          <p:nvPr/>
        </p:nvSpPr>
        <p:spPr>
          <a:xfrm>
            <a:off x="5078525" y="2803325"/>
            <a:ext cx="27252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CHAT MEMORY “REDIS”</a:t>
            </a:r>
            <a:endParaRPr b="1" sz="1600">
              <a:solidFill>
                <a:schemeClr val="dk1"/>
              </a:solidFill>
            </a:endParaRPr>
          </a:p>
        </p:txBody>
      </p:sp>
      <p:sp>
        <p:nvSpPr>
          <p:cNvPr id="128" name="Google Shape;128;p26"/>
          <p:cNvSpPr txBox="1"/>
          <p:nvPr/>
        </p:nvSpPr>
        <p:spPr>
          <a:xfrm>
            <a:off x="5153225" y="2064425"/>
            <a:ext cx="9324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TOOLS</a:t>
            </a:r>
            <a:endParaRPr b="1" sz="1600">
              <a:solidFill>
                <a:schemeClr val="dk1"/>
              </a:solidFill>
            </a:endParaRPr>
          </a:p>
        </p:txBody>
      </p:sp>
      <p:sp>
        <p:nvSpPr>
          <p:cNvPr id="129" name="Google Shape;129;p26"/>
          <p:cNvSpPr txBox="1"/>
          <p:nvPr/>
        </p:nvSpPr>
        <p:spPr>
          <a:xfrm>
            <a:off x="525125" y="3985250"/>
            <a:ext cx="11631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000">
                <a:solidFill>
                  <a:schemeClr val="dk1"/>
                </a:solidFill>
              </a:rPr>
              <a:t>OLD REPO</a:t>
            </a:r>
            <a:endParaRPr b="1"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30" name="Google Shape;130;p26"/>
          <p:cNvCxnSpPr/>
          <p:nvPr/>
        </p:nvCxnSpPr>
        <p:spPr>
          <a:xfrm flipH="1" rot="10800000">
            <a:off x="1644150" y="4156925"/>
            <a:ext cx="402600" cy="99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31" name="Google Shape;131;p26"/>
          <p:cNvCxnSpPr>
            <a:stCxn id="124" idx="3"/>
            <a:endCxn id="126" idx="1"/>
          </p:cNvCxnSpPr>
          <p:nvPr/>
        </p:nvCxnSpPr>
        <p:spPr>
          <a:xfrm flipH="1" rot="10800000">
            <a:off x="4068825" y="1541200"/>
            <a:ext cx="1009500" cy="7293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32" name="Google Shape;132;p26"/>
          <p:cNvCxnSpPr>
            <a:stCxn id="124" idx="3"/>
            <a:endCxn id="128" idx="1"/>
          </p:cNvCxnSpPr>
          <p:nvPr/>
        </p:nvCxnSpPr>
        <p:spPr>
          <a:xfrm>
            <a:off x="4068825" y="2270500"/>
            <a:ext cx="1084500" cy="96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33" name="Google Shape;133;p26"/>
          <p:cNvCxnSpPr>
            <a:stCxn id="124" idx="3"/>
            <a:endCxn id="127" idx="1"/>
          </p:cNvCxnSpPr>
          <p:nvPr/>
        </p:nvCxnSpPr>
        <p:spPr>
          <a:xfrm>
            <a:off x="4068825" y="2270500"/>
            <a:ext cx="1009800" cy="7485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Roadmap </a:t>
            </a:r>
            <a:endParaRPr b="1"/>
          </a:p>
        </p:txBody>
      </p:sp>
      <p:sp>
        <p:nvSpPr>
          <p:cNvPr id="139" name="Google Shape;139;p2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>
                <a:solidFill>
                  <a:schemeClr val="dk1"/>
                </a:solidFill>
              </a:rPr>
              <a:t>1. The Agent Is a Loop</a:t>
            </a:r>
            <a:br>
              <a:rPr b="1" lang="pl" sz="1100">
                <a:solidFill>
                  <a:schemeClr val="dk1"/>
                </a:solidFill>
              </a:rPr>
            </a:br>
            <a:r>
              <a:rPr lang="pl" sz="1200">
                <a:solidFill>
                  <a:schemeClr val="dk1"/>
                </a:solidFill>
              </a:rPr>
              <a:t> </a:t>
            </a:r>
            <a:r>
              <a:rPr i="1" lang="pl" sz="1200">
                <a:solidFill>
                  <a:schemeClr val="dk1"/>
                </a:solidFill>
              </a:rPr>
              <a:t>Writing one by hand, and what frameworks hide when they write it for you</a:t>
            </a:r>
            <a:endParaRPr i="1"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>
                <a:solidFill>
                  <a:schemeClr val="dk1"/>
                </a:solidFill>
              </a:rPr>
              <a:t>2</a:t>
            </a:r>
            <a:r>
              <a:rPr b="1" lang="pl">
                <a:solidFill>
                  <a:schemeClr val="dk1"/>
                </a:solidFill>
              </a:rPr>
              <a:t>. Agentic Workflow Patterns</a:t>
            </a:r>
            <a:br>
              <a:rPr b="1" lang="pl" sz="1100">
                <a:solidFill>
                  <a:schemeClr val="dk1"/>
                </a:solidFill>
              </a:rPr>
            </a:br>
            <a:r>
              <a:rPr lang="pl" sz="1200">
                <a:solidFill>
                  <a:schemeClr val="dk1"/>
                </a:solidFill>
              </a:rPr>
              <a:t> </a:t>
            </a:r>
            <a:r>
              <a:rPr i="1" lang="pl" sz="1200">
                <a:solidFill>
                  <a:schemeClr val="dk1"/>
                </a:solidFill>
              </a:rPr>
              <a:t>Five shapes, two frameworks, and when the DSL earns its keep</a:t>
            </a:r>
            <a:endParaRPr i="1"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>
                <a:solidFill>
                  <a:schemeClr val="dk1"/>
                </a:solidFill>
              </a:rPr>
              <a:t>3. MCP as a Process Boundary</a:t>
            </a:r>
            <a:br>
              <a:rPr b="1" lang="pl" sz="1100">
                <a:solidFill>
                  <a:schemeClr val="dk1"/>
                </a:solidFill>
              </a:rPr>
            </a:br>
            <a:r>
              <a:rPr lang="pl" sz="1200">
                <a:solidFill>
                  <a:schemeClr val="dk1"/>
                </a:solidFill>
              </a:rPr>
              <a:t> </a:t>
            </a:r>
            <a:r>
              <a:rPr i="1" lang="pl" sz="1200">
                <a:solidFill>
                  <a:schemeClr val="dk1"/>
                </a:solidFill>
              </a:rPr>
              <a:t>Tools, resources and prompts over two transports: HTTP for agents, STDIO for Claude Desktop </a:t>
            </a:r>
            <a:endParaRPr i="1"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pl">
                <a:solidFill>
                  <a:schemeClr val="dk1"/>
                </a:solidFill>
              </a:rPr>
              <a:t>4. How Do You Know It Works? </a:t>
            </a:r>
            <a:br>
              <a:rPr b="1" lang="pl" sz="1100">
                <a:solidFill>
                  <a:schemeClr val="dk1"/>
                </a:solidFill>
              </a:rPr>
            </a:br>
            <a:r>
              <a:rPr lang="pl" sz="1200">
                <a:solidFill>
                  <a:schemeClr val="dk1"/>
                </a:solidFill>
              </a:rPr>
              <a:t> </a:t>
            </a:r>
            <a:r>
              <a:rPr i="1" lang="pl" sz="1200">
                <a:solidFill>
                  <a:schemeClr val="dk1"/>
                </a:solidFill>
              </a:rPr>
              <a:t>Traces, metrics, logs and dashboards for everything your agents actually do</a:t>
            </a: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pl" sz="2500"/>
              <a:t>The Agent Is a Loop</a:t>
            </a:r>
            <a:endParaRPr b="1" sz="2500"/>
          </a:p>
        </p:txBody>
      </p:sp>
      <p:sp>
        <p:nvSpPr>
          <p:cNvPr id="145" name="Google Shape;145;p28"/>
          <p:cNvSpPr txBox="1"/>
          <p:nvPr>
            <p:ph idx="1" type="body"/>
          </p:nvPr>
        </p:nvSpPr>
        <p:spPr>
          <a:xfrm>
            <a:off x="251000" y="1152475"/>
            <a:ext cx="45822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AutoNum type="arabicPeriod"/>
            </a:pPr>
            <a:r>
              <a:rPr b="1" lang="pl" sz="1600">
                <a:solidFill>
                  <a:schemeClr val="dk1"/>
                </a:solidFill>
              </a:rPr>
              <a:t>What is an agent? </a:t>
            </a:r>
            <a:endParaRPr b="1" sz="1600">
              <a:solidFill>
                <a:schemeClr val="dk1"/>
              </a:solidFill>
            </a:endParaRPr>
          </a:p>
          <a:p>
            <a:pPr indent="-3302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AutoNum type="arabicPeriod"/>
            </a:pPr>
            <a:r>
              <a:rPr b="1" lang="pl" sz="1600">
                <a:solidFill>
                  <a:schemeClr val="dk1"/>
                </a:solidFill>
              </a:rPr>
              <a:t>Build it</a:t>
            </a:r>
            <a:r>
              <a:rPr lang="pl" sz="1600">
                <a:solidFill>
                  <a:schemeClr val="dk1"/>
                </a:solidFill>
              </a:rPr>
              <a:t> </a:t>
            </a:r>
            <a:r>
              <a:rPr b="1" lang="pl" sz="1600">
                <a:solidFill>
                  <a:schemeClr val="dk1"/>
                </a:solidFill>
              </a:rPr>
              <a:t>-&gt;</a:t>
            </a:r>
            <a:r>
              <a:rPr lang="pl" sz="1600">
                <a:solidFill>
                  <a:schemeClr val="dk1"/>
                </a:solidFill>
              </a:rPr>
              <a:t> No framework</a:t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AutoNum type="arabicPeriod"/>
            </a:pPr>
            <a:r>
              <a:rPr b="1" lang="pl" sz="1600">
                <a:solidFill>
                  <a:schemeClr val="dk1"/>
                </a:solidFill>
              </a:rPr>
              <a:t>Hide it</a:t>
            </a:r>
            <a:r>
              <a:rPr lang="pl" sz="1600">
                <a:solidFill>
                  <a:schemeClr val="dk1"/>
                </a:solidFill>
              </a:rPr>
              <a:t> </a:t>
            </a:r>
            <a:r>
              <a:rPr b="1" lang="pl" sz="1600">
                <a:solidFill>
                  <a:schemeClr val="dk1"/>
                </a:solidFill>
              </a:rPr>
              <a:t>-&gt;</a:t>
            </a:r>
            <a:r>
              <a:rPr lang="pl" sz="1600">
                <a:solidFill>
                  <a:schemeClr val="dk1"/>
                </a:solidFill>
              </a:rPr>
              <a:t> LangChain4j </a:t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AutoNum type="arabicPeriod"/>
            </a:pPr>
            <a:r>
              <a:rPr b="1" lang="pl" sz="1600">
                <a:solidFill>
                  <a:schemeClr val="dk1"/>
                </a:solidFill>
              </a:rPr>
              <a:t>Control it</a:t>
            </a:r>
            <a:r>
              <a:rPr lang="pl" sz="1600">
                <a:solidFill>
                  <a:schemeClr val="dk1"/>
                </a:solidFill>
              </a:rPr>
              <a:t> </a:t>
            </a:r>
            <a:r>
              <a:rPr b="1" lang="pl" sz="1600">
                <a:solidFill>
                  <a:schemeClr val="dk1"/>
                </a:solidFill>
              </a:rPr>
              <a:t>-&gt;</a:t>
            </a:r>
            <a:r>
              <a:rPr lang="pl" sz="1600">
                <a:solidFill>
                  <a:schemeClr val="dk1"/>
                </a:solidFill>
              </a:rPr>
              <a:t> Spring AI </a:t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AutoNum type="arabicPeriod"/>
            </a:pPr>
            <a:r>
              <a:rPr b="1" lang="pl" sz="1600">
                <a:solidFill>
                  <a:schemeClr val="dk1"/>
                </a:solidFill>
              </a:rPr>
              <a:t>Mix it  -&gt;</a:t>
            </a:r>
            <a:r>
              <a:rPr lang="pl" sz="1600">
                <a:solidFill>
                  <a:schemeClr val="dk1"/>
                </a:solidFill>
              </a:rPr>
              <a:t> One provider, ∞ protocols </a:t>
            </a:r>
            <a:endParaRPr sz="1600">
              <a:solidFill>
                <a:schemeClr val="dk1"/>
              </a:solidFill>
            </a:endParaRPr>
          </a:p>
          <a:p>
            <a:pPr indent="0" lvl="0" marL="457200" rtl="0" algn="l">
              <a:lnSpc>
                <a:spcPct val="20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</p:txBody>
      </p:sp>
      <p:pic>
        <p:nvPicPr>
          <p:cNvPr id="146" name="Google Shape;146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75426" y="624525"/>
            <a:ext cx="3894451" cy="3894451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500"/>
              <a:t>W</a:t>
            </a:r>
            <a:r>
              <a:rPr b="1" lang="pl" sz="2500"/>
              <a:t>hat is an agent? </a:t>
            </a:r>
            <a:endParaRPr b="1" sz="2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29"/>
          <p:cNvSpPr txBox="1"/>
          <p:nvPr>
            <p:ph idx="1" type="body"/>
          </p:nvPr>
        </p:nvSpPr>
        <p:spPr>
          <a:xfrm>
            <a:off x="1082250" y="2366700"/>
            <a:ext cx="936900" cy="410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b="1" lang="pl" sz="1500">
                <a:solidFill>
                  <a:schemeClr val="dk1"/>
                </a:solidFill>
              </a:rPr>
              <a:t>AGENT</a:t>
            </a:r>
            <a:endParaRPr b="1" sz="1500">
              <a:solidFill>
                <a:schemeClr val="dk1"/>
              </a:solidFill>
            </a:endParaRPr>
          </a:p>
        </p:txBody>
      </p:sp>
      <p:sp>
        <p:nvSpPr>
          <p:cNvPr id="153" name="Google Shape;153;p29"/>
          <p:cNvSpPr txBox="1"/>
          <p:nvPr>
            <p:ph idx="1" type="body"/>
          </p:nvPr>
        </p:nvSpPr>
        <p:spPr>
          <a:xfrm>
            <a:off x="2019150" y="2366700"/>
            <a:ext cx="936900" cy="410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b="1" lang="pl" sz="1500">
                <a:solidFill>
                  <a:schemeClr val="dk1"/>
                </a:solidFill>
              </a:rPr>
              <a:t>=</a:t>
            </a:r>
            <a:endParaRPr b="1" sz="1500">
              <a:solidFill>
                <a:schemeClr val="dk1"/>
              </a:solidFill>
            </a:endParaRPr>
          </a:p>
        </p:txBody>
      </p:sp>
      <p:sp>
        <p:nvSpPr>
          <p:cNvPr id="154" name="Google Shape;154;p29"/>
          <p:cNvSpPr txBox="1"/>
          <p:nvPr>
            <p:ph idx="1" type="body"/>
          </p:nvPr>
        </p:nvSpPr>
        <p:spPr>
          <a:xfrm>
            <a:off x="2365900" y="2366700"/>
            <a:ext cx="936900" cy="410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b="1" lang="pl" sz="1500">
                <a:solidFill>
                  <a:schemeClr val="dk1"/>
                </a:solidFill>
              </a:rPr>
              <a:t>LOOP</a:t>
            </a:r>
            <a:endParaRPr b="1" sz="1500">
              <a:solidFill>
                <a:schemeClr val="dk1"/>
              </a:solidFill>
            </a:endParaRPr>
          </a:p>
        </p:txBody>
      </p:sp>
      <p:sp>
        <p:nvSpPr>
          <p:cNvPr id="155" name="Google Shape;155;p29"/>
          <p:cNvSpPr txBox="1"/>
          <p:nvPr>
            <p:ph idx="1" type="body"/>
          </p:nvPr>
        </p:nvSpPr>
        <p:spPr>
          <a:xfrm>
            <a:off x="3418300" y="2366700"/>
            <a:ext cx="1822500" cy="410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b="1" lang="pl" sz="1500">
                <a:solidFill>
                  <a:schemeClr val="dk1"/>
                </a:solidFill>
              </a:rPr>
              <a:t>STOP CONDITION</a:t>
            </a:r>
            <a:endParaRPr b="1" sz="1500">
              <a:solidFill>
                <a:schemeClr val="dk1"/>
              </a:solidFill>
            </a:endParaRPr>
          </a:p>
        </p:txBody>
      </p:sp>
      <p:sp>
        <p:nvSpPr>
          <p:cNvPr id="156" name="Google Shape;156;p29"/>
          <p:cNvSpPr txBox="1"/>
          <p:nvPr/>
        </p:nvSpPr>
        <p:spPr>
          <a:xfrm>
            <a:off x="3125575" y="2364000"/>
            <a:ext cx="5004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b="1" lang="pl" sz="1500">
                <a:solidFill>
                  <a:schemeClr val="dk1"/>
                </a:solidFill>
              </a:rPr>
              <a:t>+</a:t>
            </a:r>
            <a:endParaRPr b="1" sz="1500">
              <a:solidFill>
                <a:schemeClr val="dk1"/>
              </a:solidFill>
            </a:endParaRPr>
          </a:p>
        </p:txBody>
      </p:sp>
      <p:sp>
        <p:nvSpPr>
          <p:cNvPr id="157" name="Google Shape;157;p29"/>
          <p:cNvSpPr txBox="1"/>
          <p:nvPr/>
        </p:nvSpPr>
        <p:spPr>
          <a:xfrm>
            <a:off x="5794025" y="1963800"/>
            <a:ext cx="30000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500">
                <a:solidFill>
                  <a:schemeClr val="dk1"/>
                </a:solidFill>
              </a:rPr>
              <a:t>SUCCESS</a:t>
            </a:r>
            <a:endParaRPr b="1" sz="1500">
              <a:solidFill>
                <a:schemeClr val="dk1"/>
              </a:solidFill>
            </a:endParaRPr>
          </a:p>
        </p:txBody>
      </p:sp>
      <p:sp>
        <p:nvSpPr>
          <p:cNvPr id="158" name="Google Shape;158;p29"/>
          <p:cNvSpPr txBox="1"/>
          <p:nvPr/>
        </p:nvSpPr>
        <p:spPr>
          <a:xfrm>
            <a:off x="5794025" y="2776800"/>
            <a:ext cx="30000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500">
                <a:solidFill>
                  <a:schemeClr val="dk1"/>
                </a:solidFill>
              </a:rPr>
              <a:t>FAILURE / LIMIT REACHED</a:t>
            </a:r>
            <a:endParaRPr b="1" sz="1500">
              <a:solidFill>
                <a:schemeClr val="dk1"/>
              </a:solidFill>
            </a:endParaRPr>
          </a:p>
        </p:txBody>
      </p:sp>
      <p:cxnSp>
        <p:nvCxnSpPr>
          <p:cNvPr id="159" name="Google Shape;159;p29"/>
          <p:cNvCxnSpPr>
            <a:stCxn id="155" idx="3"/>
            <a:endCxn id="157" idx="1"/>
          </p:cNvCxnSpPr>
          <p:nvPr/>
        </p:nvCxnSpPr>
        <p:spPr>
          <a:xfrm flipH="1" rot="10800000">
            <a:off x="5240800" y="2171550"/>
            <a:ext cx="553200" cy="4002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60" name="Google Shape;160;p29"/>
          <p:cNvCxnSpPr>
            <a:stCxn id="155" idx="3"/>
            <a:endCxn id="158" idx="1"/>
          </p:cNvCxnSpPr>
          <p:nvPr/>
        </p:nvCxnSpPr>
        <p:spPr>
          <a:xfrm>
            <a:off x="5240800" y="2571750"/>
            <a:ext cx="553200" cy="4128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" name="Google Shape;165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8602133" cy="4838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0" name="Google Shape;170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3225" y="516225"/>
            <a:ext cx="8898773" cy="4111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3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Raw Agent</a:t>
            </a:r>
            <a:endParaRPr b="1"/>
          </a:p>
        </p:txBody>
      </p:sp>
      <p:sp>
        <p:nvSpPr>
          <p:cNvPr id="176" name="Google Shape;176;p32"/>
          <p:cNvSpPr txBox="1"/>
          <p:nvPr>
            <p:ph idx="1" type="body"/>
          </p:nvPr>
        </p:nvSpPr>
        <p:spPr>
          <a:xfrm>
            <a:off x="2026800" y="3748775"/>
            <a:ext cx="1624200" cy="50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b="1" lang="pl" sz="1600" u="sng">
                <a:solidFill>
                  <a:schemeClr val="dk1"/>
                </a:solidFill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strandsagents</a:t>
            </a:r>
            <a:endParaRPr b="1" sz="1600">
              <a:solidFill>
                <a:schemeClr val="dk1"/>
              </a:solidFill>
            </a:endParaRPr>
          </a:p>
        </p:txBody>
      </p:sp>
      <p:pic>
        <p:nvPicPr>
          <p:cNvPr id="177" name="Google Shape;177;p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33877" y="373013"/>
            <a:ext cx="3736750" cy="439747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8" name="Google Shape;178;p32"/>
          <p:cNvSpPr txBox="1"/>
          <p:nvPr/>
        </p:nvSpPr>
        <p:spPr>
          <a:xfrm>
            <a:off x="2002575" y="3400850"/>
            <a:ext cx="8931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 u="sng">
                <a:solidFill>
                  <a:schemeClr val="dk1"/>
                </a:solidFill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openai</a:t>
            </a:r>
            <a:endParaRPr b="1" sz="1600" u="sng">
              <a:solidFill>
                <a:schemeClr val="dk1"/>
              </a:solidFill>
            </a:endParaRPr>
          </a:p>
        </p:txBody>
      </p:sp>
      <p:sp>
        <p:nvSpPr>
          <p:cNvPr id="179" name="Google Shape;179;p32"/>
          <p:cNvSpPr txBox="1"/>
          <p:nvPr/>
        </p:nvSpPr>
        <p:spPr>
          <a:xfrm>
            <a:off x="422100" y="3646850"/>
            <a:ext cx="9225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sources</a:t>
            </a:r>
            <a:endParaRPr sz="1200">
              <a:solidFill>
                <a:schemeClr val="dk1"/>
              </a:solidFill>
            </a:endParaRPr>
          </a:p>
        </p:txBody>
      </p:sp>
      <p:cxnSp>
        <p:nvCxnSpPr>
          <p:cNvPr id="180" name="Google Shape;180;p32"/>
          <p:cNvCxnSpPr>
            <a:stCxn id="179" idx="3"/>
            <a:endCxn id="176" idx="1"/>
          </p:cNvCxnSpPr>
          <p:nvPr/>
        </p:nvCxnSpPr>
        <p:spPr>
          <a:xfrm>
            <a:off x="1344600" y="3862400"/>
            <a:ext cx="682200" cy="1371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81" name="Google Shape;181;p32"/>
          <p:cNvCxnSpPr>
            <a:stCxn id="179" idx="3"/>
            <a:endCxn id="178" idx="1"/>
          </p:cNvCxnSpPr>
          <p:nvPr/>
        </p:nvCxnSpPr>
        <p:spPr>
          <a:xfrm flipH="1" rot="10800000">
            <a:off x="1344600" y="3616400"/>
            <a:ext cx="657900" cy="2460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82" name="Google Shape;182;p32"/>
          <p:cNvSpPr txBox="1"/>
          <p:nvPr/>
        </p:nvSpPr>
        <p:spPr>
          <a:xfrm>
            <a:off x="422100" y="2356213"/>
            <a:ext cx="37368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stop condition = no more tool calls </a:t>
            </a:r>
            <a:endParaRPr b="1" sz="1600">
              <a:solidFill>
                <a:schemeClr val="dk1"/>
              </a:solidFill>
            </a:endParaRPr>
          </a:p>
        </p:txBody>
      </p:sp>
      <p:sp>
        <p:nvSpPr>
          <p:cNvPr id="183" name="Google Shape;183;p32"/>
          <p:cNvSpPr txBox="1"/>
          <p:nvPr/>
        </p:nvSpPr>
        <p:spPr>
          <a:xfrm>
            <a:off x="422100" y="1224900"/>
            <a:ext cx="30000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The loop exits when the model stops requesting tools.</a:t>
            </a:r>
            <a:endParaRPr sz="16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3043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817">
                <a:latin typeface="Roboto"/>
                <a:ea typeface="Roboto"/>
                <a:cs typeface="Roboto"/>
                <a:sym typeface="Roboto"/>
              </a:rPr>
              <a:t>The request body structure</a:t>
            </a:r>
            <a:endParaRPr b="1" sz="2817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33"/>
          <p:cNvSpPr txBox="1"/>
          <p:nvPr>
            <p:ph idx="1" type="body"/>
          </p:nvPr>
        </p:nvSpPr>
        <p:spPr>
          <a:xfrm>
            <a:off x="-280425" y="2288700"/>
            <a:ext cx="6516600" cy="234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MODEL</a:t>
            </a:r>
            <a:r>
              <a:rPr lang="pl" sz="1600">
                <a:solidFill>
                  <a:schemeClr val="dk1"/>
                </a:solidFill>
              </a:rPr>
              <a:t>               → the model that handles this request </a:t>
            </a:r>
            <a:endParaRPr sz="16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MESSAGES</a:t>
            </a:r>
            <a:r>
              <a:rPr lang="pl" sz="1600">
                <a:solidFill>
                  <a:schemeClr val="dk1"/>
                </a:solidFill>
              </a:rPr>
              <a:t>        → the whole conversation, resent on every call</a:t>
            </a:r>
            <a:endParaRPr sz="16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TOOLS</a:t>
            </a:r>
            <a:r>
              <a:rPr lang="pl" sz="1600">
                <a:solidFill>
                  <a:schemeClr val="dk1"/>
                </a:solidFill>
              </a:rPr>
              <a:t>                → your Java methods, exposed to the model </a:t>
            </a:r>
            <a:endParaRPr sz="16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TEMPERATURE</a:t>
            </a:r>
            <a:r>
              <a:rPr lang="pl" sz="1600">
                <a:solidFill>
                  <a:schemeClr val="dk1"/>
                </a:solidFill>
              </a:rPr>
              <a:t> → </a:t>
            </a:r>
            <a:endParaRPr sz="16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STREAM</a:t>
            </a:r>
            <a:r>
              <a:rPr lang="pl" sz="1600">
                <a:solidFill>
                  <a:schemeClr val="dk1"/>
                </a:solidFill>
              </a:rPr>
              <a:t>             →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</p:txBody>
      </p:sp>
      <p:pic>
        <p:nvPicPr>
          <p:cNvPr id="190" name="Google Shape;190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27400" y="2055950"/>
            <a:ext cx="2604900" cy="162917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91" name="Google Shape;191;p33"/>
          <p:cNvSpPr txBox="1"/>
          <p:nvPr/>
        </p:nvSpPr>
        <p:spPr>
          <a:xfrm>
            <a:off x="-96575" y="1214400"/>
            <a:ext cx="5274900" cy="107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381000" marR="3810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Every exchange with the model is JSON. The framework only decides who writes it.</a:t>
            </a:r>
            <a:endParaRPr b="1" sz="1600">
              <a:solidFill>
                <a:schemeClr val="dk1"/>
              </a:solidFill>
            </a:endParaRPr>
          </a:p>
          <a:p>
            <a:pPr indent="0" lvl="0" marL="381000" marR="38100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 sz="1100"/>
          </a:p>
        </p:txBody>
      </p:sp>
      <p:sp>
        <p:nvSpPr>
          <p:cNvPr id="192" name="Google Shape;192;p33"/>
          <p:cNvSpPr txBox="1"/>
          <p:nvPr/>
        </p:nvSpPr>
        <p:spPr>
          <a:xfrm>
            <a:off x="1566525" y="3955050"/>
            <a:ext cx="38778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false: one complete response</a:t>
            </a:r>
            <a:endParaRPr/>
          </a:p>
        </p:txBody>
      </p:sp>
      <p:sp>
        <p:nvSpPr>
          <p:cNvPr id="193" name="Google Shape;193;p33"/>
          <p:cNvSpPr txBox="1"/>
          <p:nvPr/>
        </p:nvSpPr>
        <p:spPr>
          <a:xfrm>
            <a:off x="2025675" y="4200900"/>
            <a:ext cx="40035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true: chunks as they are generated </a:t>
            </a:r>
            <a:endParaRPr sz="1600">
              <a:solidFill>
                <a:schemeClr val="dk1"/>
              </a:solidFill>
            </a:endParaRPr>
          </a:p>
        </p:txBody>
      </p:sp>
      <p:sp>
        <p:nvSpPr>
          <p:cNvPr id="194" name="Google Shape;194;p33"/>
          <p:cNvSpPr txBox="1"/>
          <p:nvPr/>
        </p:nvSpPr>
        <p:spPr>
          <a:xfrm>
            <a:off x="2025675" y="3477600"/>
            <a:ext cx="3000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lower: more deterministic </a:t>
            </a:r>
            <a:endParaRPr sz="1600">
              <a:solidFill>
                <a:schemeClr val="dk1"/>
              </a:solidFill>
            </a:endParaRPr>
          </a:p>
        </p:txBody>
      </p:sp>
      <p:sp>
        <p:nvSpPr>
          <p:cNvPr id="195" name="Google Shape;195;p33"/>
          <p:cNvSpPr txBox="1"/>
          <p:nvPr/>
        </p:nvSpPr>
        <p:spPr>
          <a:xfrm>
            <a:off x="2025675" y="3685125"/>
            <a:ext cx="3000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higher: more random </a:t>
            </a:r>
            <a:endParaRPr sz="16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3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The request body as JSON </a:t>
            </a:r>
            <a:endParaRPr b="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34"/>
          <p:cNvSpPr txBox="1"/>
          <p:nvPr>
            <p:ph idx="1" type="body"/>
          </p:nvPr>
        </p:nvSpPr>
        <p:spPr>
          <a:xfrm>
            <a:off x="273025" y="1399075"/>
            <a:ext cx="5031000" cy="3170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MESSAGES </a:t>
            </a:r>
            <a:r>
              <a:rPr lang="pl" sz="1600">
                <a:solidFill>
                  <a:schemeClr val="dk1"/>
                </a:solidFill>
              </a:rPr>
              <a:t>[]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SYSTEM </a:t>
            </a:r>
            <a:r>
              <a:rPr lang="pl" sz="1600">
                <a:solidFill>
                  <a:schemeClr val="dk1"/>
                </a:solidFill>
              </a:rPr>
              <a:t>      →  the instructions  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USER </a:t>
            </a:r>
            <a:r>
              <a:rPr lang="pl" sz="1600">
                <a:solidFill>
                  <a:schemeClr val="dk1"/>
                </a:solidFill>
              </a:rPr>
              <a:t>           →  the question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ASSISTANT </a:t>
            </a:r>
            <a:r>
              <a:rPr lang="pl" sz="1600">
                <a:solidFill>
                  <a:schemeClr val="dk1"/>
                </a:solidFill>
              </a:rPr>
              <a:t> →  a request for a tool                       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TOOL </a:t>
            </a:r>
            <a:r>
              <a:rPr lang="pl" sz="1600">
                <a:solidFill>
                  <a:schemeClr val="dk1"/>
                </a:solidFill>
              </a:rPr>
              <a:t>           →  the result your code produced       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ASSISTANT </a:t>
            </a:r>
            <a:r>
              <a:rPr lang="pl" sz="1600">
                <a:solidFill>
                  <a:schemeClr val="dk1"/>
                </a:solidFill>
              </a:rPr>
              <a:t> →  the answer 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600"/>
          </a:p>
        </p:txBody>
      </p:sp>
      <p:sp>
        <p:nvSpPr>
          <p:cNvPr id="202" name="Google Shape;202;p34"/>
          <p:cNvSpPr txBox="1"/>
          <p:nvPr/>
        </p:nvSpPr>
        <p:spPr>
          <a:xfrm>
            <a:off x="4864000" y="2929600"/>
            <a:ext cx="8847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LOOP</a:t>
            </a:r>
            <a:endParaRPr/>
          </a:p>
        </p:txBody>
      </p:sp>
      <p:pic>
        <p:nvPicPr>
          <p:cNvPr id="203" name="Google Shape;203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23150" y="285013"/>
            <a:ext cx="2326950" cy="4573476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04" name="Google Shape;204;p34"/>
          <p:cNvSpPr txBox="1"/>
          <p:nvPr/>
        </p:nvSpPr>
        <p:spPr>
          <a:xfrm>
            <a:off x="4656225" y="2723825"/>
            <a:ext cx="4713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┐</a:t>
            </a:r>
            <a:endParaRPr/>
          </a:p>
        </p:txBody>
      </p:sp>
      <p:sp>
        <p:nvSpPr>
          <p:cNvPr id="205" name="Google Shape;205;p34"/>
          <p:cNvSpPr txBox="1"/>
          <p:nvPr/>
        </p:nvSpPr>
        <p:spPr>
          <a:xfrm>
            <a:off x="4656225" y="3154925"/>
            <a:ext cx="4374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┘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3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The request body as JSON </a:t>
            </a:r>
            <a:endParaRPr b="1"/>
          </a:p>
        </p:txBody>
      </p:sp>
      <p:sp>
        <p:nvSpPr>
          <p:cNvPr descr="JSON" id="211" name="Google Shape;211;p35"/>
          <p:cNvSpPr txBox="1"/>
          <p:nvPr>
            <p:ph idx="1" type="body"/>
          </p:nvPr>
        </p:nvSpPr>
        <p:spPr>
          <a:xfrm>
            <a:off x="432575" y="1645625"/>
            <a:ext cx="5248500" cy="269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MESSAGES </a:t>
            </a:r>
            <a:r>
              <a:rPr lang="pl" sz="1600">
                <a:solidFill>
                  <a:schemeClr val="dk1"/>
                </a:solidFill>
              </a:rPr>
              <a:t>[]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SYSTEM </a:t>
            </a:r>
            <a:r>
              <a:rPr lang="pl" sz="1600">
                <a:solidFill>
                  <a:schemeClr val="dk1"/>
                </a:solidFill>
              </a:rPr>
              <a:t>      →  written by dev, before the conversation 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USER </a:t>
            </a:r>
            <a:r>
              <a:rPr lang="pl" sz="1600">
                <a:solidFill>
                  <a:schemeClr val="dk1"/>
                </a:solidFill>
              </a:rPr>
              <a:t>           →  written by the user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ASSISTANT </a:t>
            </a:r>
            <a:r>
              <a:rPr lang="pl" sz="1600">
                <a:solidFill>
                  <a:schemeClr val="dk1"/>
                </a:solidFill>
              </a:rPr>
              <a:t> →  written by the model             ┐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TOOL </a:t>
            </a:r>
            <a:r>
              <a:rPr lang="pl" sz="1600">
                <a:solidFill>
                  <a:schemeClr val="dk1"/>
                </a:solidFill>
              </a:rPr>
              <a:t>           →  </a:t>
            </a:r>
            <a:r>
              <a:rPr lang="pl" sz="1600">
                <a:solidFill>
                  <a:schemeClr val="dk1"/>
                </a:solidFill>
              </a:rPr>
              <a:t>written by your app</a:t>
            </a:r>
            <a:r>
              <a:rPr lang="pl" sz="1600">
                <a:solidFill>
                  <a:schemeClr val="dk1"/>
                </a:solidFill>
              </a:rPr>
              <a:t>               ┘ 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ASSISTANT </a:t>
            </a:r>
            <a:r>
              <a:rPr lang="pl" sz="1600">
                <a:solidFill>
                  <a:schemeClr val="dk1"/>
                </a:solidFill>
              </a:rPr>
              <a:t> →  written by the model 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</p:txBody>
      </p:sp>
      <p:sp>
        <p:nvSpPr>
          <p:cNvPr id="212" name="Google Shape;212;p35"/>
          <p:cNvSpPr txBox="1"/>
          <p:nvPr/>
        </p:nvSpPr>
        <p:spPr>
          <a:xfrm>
            <a:off x="4827850" y="3182175"/>
            <a:ext cx="3000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LOOP</a:t>
            </a:r>
            <a:endParaRPr b="1" sz="1200">
              <a:solidFill>
                <a:schemeClr val="dk1"/>
              </a:solidFill>
            </a:endParaRPr>
          </a:p>
        </p:txBody>
      </p:sp>
      <p:sp>
        <p:nvSpPr>
          <p:cNvPr id="213" name="Google Shape;213;p35"/>
          <p:cNvSpPr txBox="1"/>
          <p:nvPr/>
        </p:nvSpPr>
        <p:spPr>
          <a:xfrm>
            <a:off x="86875" y="1194875"/>
            <a:ext cx="50988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381000" marR="38100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 sz="11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b="1" lang="pl" sz="2500"/>
              <a:t>SYSTEM ROLE </a:t>
            </a:r>
            <a:endParaRPr b="1" sz="2500"/>
          </a:p>
        </p:txBody>
      </p:sp>
      <p:pic>
        <p:nvPicPr>
          <p:cNvPr id="219" name="Google Shape;219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9625" y="2978425"/>
            <a:ext cx="6848475" cy="1085850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20" name="Google Shape;220;p36"/>
          <p:cNvSpPr txBox="1"/>
          <p:nvPr/>
        </p:nvSpPr>
        <p:spPr>
          <a:xfrm>
            <a:off x="819625" y="1489200"/>
            <a:ext cx="51489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The system prompt is the job description.</a:t>
            </a:r>
            <a:endParaRPr b="1"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Written once by a human, resent on every iteration. </a:t>
            </a:r>
            <a:endParaRPr sz="16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USER ROLE</a:t>
            </a:r>
            <a:endParaRPr b="1"/>
          </a:p>
        </p:txBody>
      </p:sp>
      <p:pic>
        <p:nvPicPr>
          <p:cNvPr id="226" name="Google Shape;226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25075" y="3314450"/>
            <a:ext cx="4410075" cy="101917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27" name="Google Shape;227;p37"/>
          <p:cNvSpPr txBox="1"/>
          <p:nvPr/>
        </p:nvSpPr>
        <p:spPr>
          <a:xfrm>
            <a:off x="517350" y="1465025"/>
            <a:ext cx="69528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The question.</a:t>
            </a:r>
            <a:endParaRPr b="1"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Written by the user, resent on every iteration. </a:t>
            </a:r>
            <a:endParaRPr b="1" sz="16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b="1" lang="pl" sz="2500"/>
              <a:t>ASSISTANT ROLE</a:t>
            </a:r>
            <a:endParaRPr b="1" sz="2500"/>
          </a:p>
        </p:txBody>
      </p:sp>
      <p:pic>
        <p:nvPicPr>
          <p:cNvPr id="233" name="Google Shape;233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43538" y="2400725"/>
            <a:ext cx="4276725" cy="2305050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34" name="Google Shape;234;p38"/>
          <p:cNvSpPr txBox="1"/>
          <p:nvPr/>
        </p:nvSpPr>
        <p:spPr>
          <a:xfrm>
            <a:off x="575375" y="1232925"/>
            <a:ext cx="68706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The model either asks for a tool, or gives the final answer.</a:t>
            </a:r>
            <a:endParaRPr b="1"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A tool request means the loop continues. </a:t>
            </a:r>
            <a:endParaRPr sz="16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3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TOOL ROLE</a:t>
            </a:r>
            <a:endParaRPr b="1"/>
          </a:p>
        </p:txBody>
      </p:sp>
      <p:pic>
        <p:nvPicPr>
          <p:cNvPr id="240" name="Google Shape;240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24563" y="3137438"/>
            <a:ext cx="4124325" cy="12668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41" name="Google Shape;241;p39"/>
          <p:cNvSpPr txBox="1"/>
          <p:nvPr/>
        </p:nvSpPr>
        <p:spPr>
          <a:xfrm>
            <a:off x="439975" y="1416675"/>
            <a:ext cx="80118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The result. Written by your app, never by the model.</a:t>
            </a:r>
            <a:endParaRPr b="1"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tool_call_id</a:t>
            </a:r>
            <a:r>
              <a:rPr lang="pl" sz="1600">
                <a:solidFill>
                  <a:schemeClr val="dk1"/>
                </a:solidFill>
              </a:rPr>
              <a:t> matches the request, because the model may ask for several at once. </a:t>
            </a:r>
            <a:endParaRPr b="1" sz="16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4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TOOLS</a:t>
            </a:r>
            <a:endParaRPr b="1"/>
          </a:p>
        </p:txBody>
      </p:sp>
      <p:pic>
        <p:nvPicPr>
          <p:cNvPr id="247" name="Google Shape;247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6775" y="1800588"/>
            <a:ext cx="2698825" cy="3037650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48" name="Google Shape;248;p4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94450" y="1815825"/>
            <a:ext cx="3502294" cy="300717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49" name="Google Shape;249;p40"/>
          <p:cNvSpPr txBox="1"/>
          <p:nvPr/>
        </p:nvSpPr>
        <p:spPr>
          <a:xfrm>
            <a:off x="270000" y="1017725"/>
            <a:ext cx="88740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The functions the model may ask you to call.</a:t>
            </a:r>
            <a:endParaRPr b="1"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Name, description and JSON schema that's all it knows about your code. </a:t>
            </a:r>
            <a:endParaRPr b="1" sz="16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4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O</a:t>
            </a:r>
            <a:r>
              <a:rPr b="1" lang="pl"/>
              <a:t>bservability</a:t>
            </a:r>
            <a:endParaRPr b="1"/>
          </a:p>
        </p:txBody>
      </p:sp>
      <p:pic>
        <p:nvPicPr>
          <p:cNvPr id="255" name="Google Shape;255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6450" y="1579225"/>
            <a:ext cx="4104999" cy="2425234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56" name="Google Shape;256;p4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92309" y="1579225"/>
            <a:ext cx="4778090" cy="24252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4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LangChain4j Agent</a:t>
            </a:r>
            <a:endParaRPr b="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p42"/>
          <p:cNvSpPr txBox="1"/>
          <p:nvPr>
            <p:ph idx="1" type="body"/>
          </p:nvPr>
        </p:nvSpPr>
        <p:spPr>
          <a:xfrm>
            <a:off x="237000" y="1256525"/>
            <a:ext cx="2622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Everything AiServices does, LangChain4j also lets you do yourself.</a:t>
            </a:r>
            <a:endParaRPr b="1"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Same library, same tools, same model. Only the level of abstraction moves. </a:t>
            </a:r>
            <a:endParaRPr sz="1600">
              <a:solidFill>
                <a:schemeClr val="dk1"/>
              </a:solidFill>
            </a:endParaRPr>
          </a:p>
        </p:txBody>
      </p:sp>
      <p:pic>
        <p:nvPicPr>
          <p:cNvPr id="263" name="Google Shape;263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59900" y="1274300"/>
            <a:ext cx="6007199" cy="3380851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4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LangChain4j Abstraction</a:t>
            </a:r>
            <a:endParaRPr b="1"/>
          </a:p>
        </p:txBody>
      </p:sp>
      <p:sp>
        <p:nvSpPr>
          <p:cNvPr id="269" name="Google Shape;269;p43"/>
          <p:cNvSpPr txBox="1"/>
          <p:nvPr>
            <p:ph idx="1" type="body"/>
          </p:nvPr>
        </p:nvSpPr>
        <p:spPr>
          <a:xfrm>
            <a:off x="311700" y="1751400"/>
            <a:ext cx="7585200" cy="1640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ChatModel </a:t>
            </a:r>
            <a:r>
              <a:rPr lang="pl" sz="1600">
                <a:solidFill>
                  <a:schemeClr val="dk1"/>
                </a:solidFill>
              </a:rPr>
              <a:t>           →  you run the loop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AiServices </a:t>
            </a:r>
            <a:r>
              <a:rPr lang="pl" sz="1600">
                <a:solidFill>
                  <a:schemeClr val="dk1"/>
                </a:solidFill>
              </a:rPr>
              <a:t>           →  the framework runs it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AgenticServices   </a:t>
            </a:r>
            <a:r>
              <a:rPr lang="pl" sz="1600">
                <a:solidFill>
                  <a:schemeClr val="dk1"/>
                </a:solidFill>
              </a:rPr>
              <a:t>→  you declare the workflow [part Ⅱ]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 </a:t>
            </a:r>
            <a:endParaRPr sz="16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4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LangChain4j Loop</a:t>
            </a:r>
            <a:endParaRPr b="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44"/>
          <p:cNvSpPr txBox="1"/>
          <p:nvPr>
            <p:ph idx="1" type="body"/>
          </p:nvPr>
        </p:nvSpPr>
        <p:spPr>
          <a:xfrm>
            <a:off x="877400" y="1107100"/>
            <a:ext cx="2047800" cy="447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with </a:t>
            </a:r>
            <a:r>
              <a:rPr lang="pl" sz="1600">
                <a:solidFill>
                  <a:schemeClr val="dk1"/>
                </a:solidFill>
              </a:rPr>
              <a:t>AiServices</a:t>
            </a:r>
            <a:endParaRPr sz="1600">
              <a:solidFill>
                <a:schemeClr val="dk1"/>
              </a:solidFill>
            </a:endParaRPr>
          </a:p>
        </p:txBody>
      </p:sp>
      <p:sp>
        <p:nvSpPr>
          <p:cNvPr id="276" name="Google Shape;276;p44"/>
          <p:cNvSpPr txBox="1"/>
          <p:nvPr/>
        </p:nvSpPr>
        <p:spPr>
          <a:xfrm>
            <a:off x="5035800" y="1115500"/>
            <a:ext cx="21249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without AiServices</a:t>
            </a:r>
            <a:endParaRPr sz="1600">
              <a:solidFill>
                <a:schemeClr val="dk1"/>
              </a:solidFill>
            </a:endParaRPr>
          </a:p>
        </p:txBody>
      </p:sp>
      <p:pic>
        <p:nvPicPr>
          <p:cNvPr id="277" name="Google Shape;277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05950" y="1576675"/>
            <a:ext cx="4373950" cy="32620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78" name="Google Shape;278;p44"/>
          <p:cNvSpPr txBox="1"/>
          <p:nvPr/>
        </p:nvSpPr>
        <p:spPr>
          <a:xfrm>
            <a:off x="0" y="0"/>
            <a:ext cx="3000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79" name="Google Shape;279;p4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0025" y="1576675"/>
            <a:ext cx="3517375" cy="1206350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80" name="Google Shape;280;p44"/>
          <p:cNvSpPr txBox="1"/>
          <p:nvPr/>
        </p:nvSpPr>
        <p:spPr>
          <a:xfrm>
            <a:off x="311700" y="3018400"/>
            <a:ext cx="3000000" cy="116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.toolProvider(toolProvider)</a:t>
            </a:r>
            <a:r>
              <a:rPr lang="pl" sz="1600">
                <a:solidFill>
                  <a:schemeClr val="dk1"/>
                </a:solidFill>
              </a:rPr>
              <a:t>is a </a:t>
            </a:r>
            <a:r>
              <a:rPr lang="pl" sz="1600">
                <a:solidFill>
                  <a:schemeClr val="dk1"/>
                </a:solidFill>
              </a:rPr>
              <a:t>custom provider, wrapped for observability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endParaRPr sz="16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81" name="Google Shape;281;p44"/>
          <p:cNvSpPr txBox="1"/>
          <p:nvPr/>
        </p:nvSpPr>
        <p:spPr>
          <a:xfrm>
            <a:off x="311690" y="4010975"/>
            <a:ext cx="35673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.tools(demoTools)</a:t>
            </a:r>
            <a:r>
              <a:rPr lang="pl" sz="1600">
                <a:solidFill>
                  <a:schemeClr val="dk1"/>
                </a:solidFill>
              </a:rPr>
              <a:t>is simpler, but invisible in traces</a:t>
            </a:r>
            <a:endParaRPr sz="16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4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Traces</a:t>
            </a:r>
            <a:endParaRPr b="1"/>
          </a:p>
        </p:txBody>
      </p:sp>
      <p:pic>
        <p:nvPicPr>
          <p:cNvPr id="287" name="Google Shape;287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25050" y="1762225"/>
            <a:ext cx="4069501" cy="2626451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88" name="Google Shape;288;p4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1000" y="1762225"/>
            <a:ext cx="4069501" cy="2625800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89" name="Google Shape;289;p45"/>
          <p:cNvSpPr txBox="1"/>
          <p:nvPr/>
        </p:nvSpPr>
        <p:spPr>
          <a:xfrm>
            <a:off x="1061900" y="1248550"/>
            <a:ext cx="3000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with AiServices</a:t>
            </a:r>
            <a:endParaRPr sz="1600">
              <a:solidFill>
                <a:schemeClr val="dk1"/>
              </a:solidFill>
            </a:endParaRPr>
          </a:p>
        </p:txBody>
      </p:sp>
      <p:sp>
        <p:nvSpPr>
          <p:cNvPr id="290" name="Google Shape;290;p45"/>
          <p:cNvSpPr txBox="1"/>
          <p:nvPr/>
        </p:nvSpPr>
        <p:spPr>
          <a:xfrm>
            <a:off x="5423750" y="1248550"/>
            <a:ext cx="3000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without AiServices</a:t>
            </a:r>
            <a:endParaRPr sz="16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4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Logs</a:t>
            </a:r>
            <a:endParaRPr b="1"/>
          </a:p>
        </p:txBody>
      </p:sp>
      <p:pic>
        <p:nvPicPr>
          <p:cNvPr id="296" name="Google Shape;296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0625" y="3227600"/>
            <a:ext cx="4325874" cy="11456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97" name="Google Shape;297;p4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3100" y="3227588"/>
            <a:ext cx="4288300" cy="6094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98" name="Google Shape;298;p46"/>
          <p:cNvSpPr txBox="1"/>
          <p:nvPr/>
        </p:nvSpPr>
        <p:spPr>
          <a:xfrm>
            <a:off x="133100" y="1169150"/>
            <a:ext cx="63117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The loop is still observable, just from the outside.</a:t>
            </a:r>
            <a:endParaRPr b="1"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A </a:t>
            </a:r>
            <a:r>
              <a:rPr lang="pl" sz="16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ChatModelListener </a:t>
            </a:r>
            <a:r>
              <a:rPr lang="pl" sz="1600">
                <a:solidFill>
                  <a:schemeClr val="dk1"/>
                </a:solidFill>
              </a:rPr>
              <a:t>sees every model call and tool request. 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A wrapped </a:t>
            </a:r>
            <a:r>
              <a:rPr lang="pl" sz="16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ToolProvider </a:t>
            </a:r>
            <a:r>
              <a:rPr lang="pl" sz="1600">
                <a:solidFill>
                  <a:schemeClr val="dk1"/>
                </a:solidFill>
              </a:rPr>
              <a:t>sees every tool execution.  </a:t>
            </a:r>
            <a:endParaRPr b="1" sz="1600">
              <a:solidFill>
                <a:schemeClr val="dk1"/>
              </a:solidFill>
            </a:endParaRPr>
          </a:p>
        </p:txBody>
      </p:sp>
      <p:sp>
        <p:nvSpPr>
          <p:cNvPr id="299" name="Google Shape;299;p46"/>
          <p:cNvSpPr txBox="1"/>
          <p:nvPr/>
        </p:nvSpPr>
        <p:spPr>
          <a:xfrm>
            <a:off x="1176200" y="2526700"/>
            <a:ext cx="17007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with AiServices</a:t>
            </a:r>
            <a:endParaRPr sz="1600">
              <a:solidFill>
                <a:schemeClr val="dk1"/>
              </a:solidFill>
            </a:endParaRPr>
          </a:p>
        </p:txBody>
      </p:sp>
      <p:sp>
        <p:nvSpPr>
          <p:cNvPr id="300" name="Google Shape;300;p46"/>
          <p:cNvSpPr txBox="1"/>
          <p:nvPr/>
        </p:nvSpPr>
        <p:spPr>
          <a:xfrm>
            <a:off x="5599150" y="2526700"/>
            <a:ext cx="3000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without AiServices</a:t>
            </a:r>
            <a:endParaRPr sz="1600">
              <a:solidFill>
                <a:schemeClr val="dk1"/>
              </a:solidFill>
            </a:endParaRPr>
          </a:p>
        </p:txBody>
      </p:sp>
      <p:pic>
        <p:nvPicPr>
          <p:cNvPr id="301" name="Google Shape;301;p4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051475" y="445025"/>
            <a:ext cx="2718946" cy="18773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4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b="1" lang="pl" sz="2500"/>
              <a:t>AgenticServices </a:t>
            </a:r>
            <a:endParaRPr sz="2500"/>
          </a:p>
        </p:txBody>
      </p:sp>
      <p:sp>
        <p:nvSpPr>
          <p:cNvPr id="307" name="Google Shape;307;p47"/>
          <p:cNvSpPr txBox="1"/>
          <p:nvPr/>
        </p:nvSpPr>
        <p:spPr>
          <a:xfrm>
            <a:off x="2638675" y="1570350"/>
            <a:ext cx="3140700" cy="79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381000" marR="3810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More in chapter Ⅱ </a:t>
            </a:r>
            <a:endParaRPr sz="1600">
              <a:solidFill>
                <a:schemeClr val="dk1"/>
              </a:solidFill>
            </a:endParaRPr>
          </a:p>
          <a:p>
            <a:pPr indent="0" lvl="0" marL="0" marR="38100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 sz="1100"/>
          </a:p>
        </p:txBody>
      </p:sp>
      <p:pic>
        <p:nvPicPr>
          <p:cNvPr id="308" name="Google Shape;308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9125" y="2327225"/>
            <a:ext cx="7905750" cy="21812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4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Spring AI</a:t>
            </a:r>
            <a:endParaRPr b="1"/>
          </a:p>
        </p:txBody>
      </p:sp>
      <p:sp>
        <p:nvSpPr>
          <p:cNvPr id="314" name="Google Shape;314;p48"/>
          <p:cNvSpPr txBox="1"/>
          <p:nvPr/>
        </p:nvSpPr>
        <p:spPr>
          <a:xfrm>
            <a:off x="238125" y="1596550"/>
            <a:ext cx="4891200" cy="236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3810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Spring AI doesn't hide the loop, it puts it in a chain you can reach </a:t>
            </a:r>
            <a:endParaRPr b="1" sz="1600">
              <a:solidFill>
                <a:schemeClr val="dk1"/>
              </a:solidFill>
            </a:endParaRPr>
          </a:p>
          <a:p>
            <a:pPr indent="0" lvl="0" marL="0" marR="3810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Same chain, same client, same model. Only one advisor is the loop.  </a:t>
            </a:r>
            <a:endParaRPr b="1" sz="2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</p:txBody>
      </p:sp>
      <p:pic>
        <p:nvPicPr>
          <p:cNvPr id="315" name="Google Shape;315;p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75775" y="661263"/>
            <a:ext cx="2523380" cy="3820977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4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What is an Advisor? </a:t>
            </a:r>
            <a:endParaRPr b="1"/>
          </a:p>
        </p:txBody>
      </p:sp>
      <p:sp>
        <p:nvSpPr>
          <p:cNvPr id="321" name="Google Shape;321;p49"/>
          <p:cNvSpPr txBox="1"/>
          <p:nvPr>
            <p:ph idx="1" type="body"/>
          </p:nvPr>
        </p:nvSpPr>
        <p:spPr>
          <a:xfrm>
            <a:off x="311700" y="1152475"/>
            <a:ext cx="8119200" cy="151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An Advisor is middleware between your application and the AI model. It works similarly to an aspect, allowing you to add behavior around AI interactions. </a:t>
            </a:r>
            <a:r>
              <a:rPr lang="pl" sz="1600">
                <a:solidFill>
                  <a:schemeClr val="dk1"/>
                </a:solidFill>
              </a:rPr>
              <a:t> 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It can modify requests, process responses, and control the flow of interactions with the model, keeping this logic separate from your application code. </a:t>
            </a:r>
            <a:endParaRPr sz="2100">
              <a:solidFill>
                <a:schemeClr val="dk1"/>
              </a:solidFill>
            </a:endParaRPr>
          </a:p>
        </p:txBody>
      </p:sp>
      <p:pic>
        <p:nvPicPr>
          <p:cNvPr id="322" name="Google Shape;322;p4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61500" y="2571750"/>
            <a:ext cx="6262450" cy="24136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5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Advisor Code S</a:t>
            </a:r>
            <a:r>
              <a:rPr b="1" lang="pl"/>
              <a:t>nippet</a:t>
            </a:r>
            <a:r>
              <a:rPr b="1" lang="pl"/>
              <a:t> </a:t>
            </a:r>
            <a:endParaRPr b="1"/>
          </a:p>
        </p:txBody>
      </p:sp>
      <p:pic>
        <p:nvPicPr>
          <p:cNvPr id="328" name="Google Shape;32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7750" y="1665675"/>
            <a:ext cx="5182874" cy="25559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29" name="Google Shape;329;p50"/>
          <p:cNvCxnSpPr/>
          <p:nvPr/>
        </p:nvCxnSpPr>
        <p:spPr>
          <a:xfrm flipH="1" rot="10800000">
            <a:off x="3687700" y="2111025"/>
            <a:ext cx="2722500" cy="8031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30" name="Google Shape;330;p50"/>
          <p:cNvCxnSpPr/>
          <p:nvPr/>
        </p:nvCxnSpPr>
        <p:spPr>
          <a:xfrm flipH="1" rot="10800000">
            <a:off x="5552025" y="3185600"/>
            <a:ext cx="928800" cy="1281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331" name="Google Shape;331;p50"/>
          <p:cNvSpPr txBox="1"/>
          <p:nvPr/>
        </p:nvSpPr>
        <p:spPr>
          <a:xfrm>
            <a:off x="6191250" y="2645125"/>
            <a:ext cx="21432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38100" rtl="0" algn="l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100">
              <a:solidFill>
                <a:srgbClr val="1F1F1F"/>
              </a:solidFill>
              <a:highlight>
                <a:srgbClr val="F8F9FA"/>
              </a:highlight>
            </a:endParaRPr>
          </a:p>
        </p:txBody>
      </p:sp>
      <p:sp>
        <p:nvSpPr>
          <p:cNvPr id="332" name="Google Shape;332;p50"/>
          <p:cNvSpPr txBox="1"/>
          <p:nvPr/>
        </p:nvSpPr>
        <p:spPr>
          <a:xfrm>
            <a:off x="6480825" y="2838200"/>
            <a:ext cx="2600100" cy="99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Parameter configuration for advisors (linking an identifier with a message)</a:t>
            </a:r>
            <a:endParaRPr sz="1600">
              <a:solidFill>
                <a:schemeClr val="dk1"/>
              </a:solidFill>
            </a:endParaRPr>
          </a:p>
        </p:txBody>
      </p:sp>
      <p:sp>
        <p:nvSpPr>
          <p:cNvPr id="333" name="Google Shape;333;p50"/>
          <p:cNvSpPr txBox="1"/>
          <p:nvPr/>
        </p:nvSpPr>
        <p:spPr>
          <a:xfrm>
            <a:off x="6522675" y="1506462"/>
            <a:ext cx="2516400" cy="99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br>
              <a:rPr lang="pl" sz="1600">
                <a:solidFill>
                  <a:schemeClr val="dk1"/>
                </a:solidFill>
              </a:rPr>
            </a:br>
            <a:r>
              <a:rPr lang="pl" sz="1600">
                <a:solidFill>
                  <a:schemeClr val="dk1"/>
                </a:solidFill>
              </a:rPr>
              <a:t>Adding advisors to the chain</a:t>
            </a:r>
            <a:endParaRPr sz="16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5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Before and After</a:t>
            </a:r>
            <a:endParaRPr b="1"/>
          </a:p>
        </p:txBody>
      </p:sp>
      <p:pic>
        <p:nvPicPr>
          <p:cNvPr id="339" name="Google Shape;339;p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83024" y="1627199"/>
            <a:ext cx="4667201" cy="2762000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340" name="Google Shape;340;p5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9100" y="1287625"/>
            <a:ext cx="3295950" cy="3603600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cxnSp>
        <p:nvCxnSpPr>
          <p:cNvPr id="341" name="Google Shape;341;p51"/>
          <p:cNvCxnSpPr/>
          <p:nvPr/>
        </p:nvCxnSpPr>
        <p:spPr>
          <a:xfrm>
            <a:off x="5560550" y="4035250"/>
            <a:ext cx="2451900" cy="0"/>
          </a:xfrm>
          <a:prstGeom prst="straightConnector1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42" name="Google Shape;342;p51"/>
          <p:cNvCxnSpPr/>
          <p:nvPr/>
        </p:nvCxnSpPr>
        <p:spPr>
          <a:xfrm>
            <a:off x="5560550" y="3898050"/>
            <a:ext cx="2954100" cy="2100"/>
          </a:xfrm>
          <a:prstGeom prst="straightConnector1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43" name="Google Shape;343;p51"/>
          <p:cNvCxnSpPr/>
          <p:nvPr/>
        </p:nvCxnSpPr>
        <p:spPr>
          <a:xfrm>
            <a:off x="5618450" y="3278150"/>
            <a:ext cx="2934900" cy="4200"/>
          </a:xfrm>
          <a:prstGeom prst="straightConnector1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44" name="Google Shape;344;p51"/>
          <p:cNvCxnSpPr/>
          <p:nvPr/>
        </p:nvCxnSpPr>
        <p:spPr>
          <a:xfrm>
            <a:off x="5570150" y="3147375"/>
            <a:ext cx="2526000" cy="6300"/>
          </a:xfrm>
          <a:prstGeom prst="straightConnector1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45" name="Google Shape;345;p51"/>
          <p:cNvSpPr txBox="1"/>
          <p:nvPr/>
        </p:nvSpPr>
        <p:spPr>
          <a:xfrm>
            <a:off x="8051200" y="3853025"/>
            <a:ext cx="205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pl" sz="700">
                <a:solidFill>
                  <a:srgbClr val="FF0000"/>
                </a:solidFill>
              </a:rPr>
              <a:t>1</a:t>
            </a:r>
            <a:endParaRPr b="1" sz="700">
              <a:solidFill>
                <a:srgbClr val="FF0000"/>
              </a:solidFill>
            </a:endParaRPr>
          </a:p>
        </p:txBody>
      </p:sp>
      <p:sp>
        <p:nvSpPr>
          <p:cNvPr id="346" name="Google Shape;346;p51"/>
          <p:cNvSpPr txBox="1"/>
          <p:nvPr/>
        </p:nvSpPr>
        <p:spPr>
          <a:xfrm>
            <a:off x="8030800" y="2943175"/>
            <a:ext cx="2466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pl" sz="700">
                <a:solidFill>
                  <a:srgbClr val="FF0000"/>
                </a:solidFill>
              </a:rPr>
              <a:t>1</a:t>
            </a:r>
            <a:endParaRPr b="1" sz="700">
              <a:solidFill>
                <a:srgbClr val="FF0000"/>
              </a:solidFill>
            </a:endParaRPr>
          </a:p>
        </p:txBody>
      </p:sp>
      <p:sp>
        <p:nvSpPr>
          <p:cNvPr id="347" name="Google Shape;347;p51"/>
          <p:cNvSpPr txBox="1"/>
          <p:nvPr/>
        </p:nvSpPr>
        <p:spPr>
          <a:xfrm>
            <a:off x="8514650" y="3702925"/>
            <a:ext cx="2466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pl" sz="700">
                <a:solidFill>
                  <a:srgbClr val="FF0000"/>
                </a:solidFill>
              </a:rPr>
              <a:t>2</a:t>
            </a:r>
            <a:endParaRPr b="1" sz="700">
              <a:solidFill>
                <a:srgbClr val="FF0000"/>
              </a:solidFill>
            </a:endParaRPr>
          </a:p>
        </p:txBody>
      </p:sp>
      <p:sp>
        <p:nvSpPr>
          <p:cNvPr id="348" name="Google Shape;348;p51"/>
          <p:cNvSpPr txBox="1"/>
          <p:nvPr/>
        </p:nvSpPr>
        <p:spPr>
          <a:xfrm>
            <a:off x="8514650" y="3069625"/>
            <a:ext cx="2466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pl" sz="700">
                <a:solidFill>
                  <a:srgbClr val="FF0000"/>
                </a:solidFill>
              </a:rPr>
              <a:t>2</a:t>
            </a:r>
            <a:endParaRPr b="1" sz="70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5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Advisors Inside the Loop </a:t>
            </a:r>
            <a:endParaRPr b="1"/>
          </a:p>
        </p:txBody>
      </p:sp>
      <p:pic>
        <p:nvPicPr>
          <p:cNvPr id="354" name="Google Shape;354;p5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698" y="1177200"/>
            <a:ext cx="4340649" cy="378427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355" name="Google Shape;355;p5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66122" y="1639950"/>
            <a:ext cx="4186853" cy="2555134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356" name="Google Shape;356;p52"/>
          <p:cNvSpPr/>
          <p:nvPr/>
        </p:nvSpPr>
        <p:spPr>
          <a:xfrm>
            <a:off x="785175" y="3391675"/>
            <a:ext cx="1563900" cy="1544700"/>
          </a:xfrm>
          <a:prstGeom prst="rect">
            <a:avLst/>
          </a:prstGeom>
          <a:noFill/>
          <a:ln cap="flat" cmpd="sng" w="190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rgbClr val="FF0000"/>
              </a:solidFill>
            </a:endParaRPr>
          </a:p>
        </p:txBody>
      </p:sp>
      <p:sp>
        <p:nvSpPr>
          <p:cNvPr id="357" name="Google Shape;357;p52"/>
          <p:cNvSpPr txBox="1"/>
          <p:nvPr/>
        </p:nvSpPr>
        <p:spPr>
          <a:xfrm>
            <a:off x="356750" y="3391675"/>
            <a:ext cx="8301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700">
                <a:solidFill>
                  <a:srgbClr val="FF0000"/>
                </a:solidFill>
              </a:rPr>
              <a:t>LOOP</a:t>
            </a:r>
            <a:endParaRPr b="1" sz="70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5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Advisor </a:t>
            </a:r>
            <a:r>
              <a:rPr b="1" lang="pl"/>
              <a:t>Order</a:t>
            </a:r>
            <a:endParaRPr b="1"/>
          </a:p>
        </p:txBody>
      </p:sp>
      <p:sp>
        <p:nvSpPr>
          <p:cNvPr id="363" name="Google Shape;363;p53"/>
          <p:cNvSpPr txBox="1"/>
          <p:nvPr>
            <p:ph idx="1" type="body"/>
          </p:nvPr>
        </p:nvSpPr>
        <p:spPr>
          <a:xfrm>
            <a:off x="356750" y="2591050"/>
            <a:ext cx="3344100" cy="223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pl" sz="1600">
                <a:solidFill>
                  <a:schemeClr val="dk1"/>
                </a:solidFill>
              </a:rPr>
              <a:t>Lower order = earlier in the chain, farther from the model </a:t>
            </a:r>
            <a:r>
              <a:rPr lang="pl" sz="1600">
                <a:solidFill>
                  <a:schemeClr val="dk1"/>
                </a:solidFill>
              </a:rPr>
              <a:t>[LLM]</a:t>
            </a:r>
            <a:r>
              <a:rPr lang="pl" sz="1600">
                <a:solidFill>
                  <a:schemeClr val="dk1"/>
                </a:solidFill>
              </a:rPr>
              <a:t>. 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SzPts val="1018"/>
              <a:buNone/>
            </a:pPr>
            <a:r>
              <a:rPr lang="pl" sz="1600">
                <a:solidFill>
                  <a:schemeClr val="dk1"/>
                </a:solidFill>
              </a:rPr>
              <a:t>Higher order = later in the chain, closer to the model [LLM]. </a:t>
            </a:r>
            <a:endParaRPr sz="1600">
              <a:solidFill>
                <a:schemeClr val="dk1"/>
              </a:solidFill>
            </a:endParaRPr>
          </a:p>
        </p:txBody>
      </p:sp>
      <p:sp>
        <p:nvSpPr>
          <p:cNvPr id="364" name="Google Shape;364;p53"/>
          <p:cNvSpPr txBox="1"/>
          <p:nvPr/>
        </p:nvSpPr>
        <p:spPr>
          <a:xfrm>
            <a:off x="4891550" y="1248525"/>
            <a:ext cx="3000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5" name="Google Shape;365;p53"/>
          <p:cNvSpPr txBox="1"/>
          <p:nvPr/>
        </p:nvSpPr>
        <p:spPr>
          <a:xfrm>
            <a:off x="311700" y="1410300"/>
            <a:ext cx="44769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The execution order of advisors in the chain is determined by the </a:t>
            </a:r>
            <a:r>
              <a:rPr b="1" lang="pl" sz="16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getOrder()</a:t>
            </a:r>
            <a:r>
              <a:rPr b="1" lang="pl" sz="1600">
                <a:solidFill>
                  <a:schemeClr val="dk1"/>
                </a:solidFill>
              </a:rPr>
              <a:t> method.</a:t>
            </a:r>
            <a:endParaRPr b="1" sz="1600">
              <a:solidFill>
                <a:schemeClr val="dk1"/>
              </a:solidFill>
            </a:endParaRPr>
          </a:p>
        </p:txBody>
      </p:sp>
      <p:pic>
        <p:nvPicPr>
          <p:cNvPr id="366" name="Google Shape;366;p5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841650" y="1391000"/>
            <a:ext cx="1846431" cy="32092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5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500"/>
              <a:t>Example of </a:t>
            </a:r>
            <a:r>
              <a:rPr b="1" lang="pl" sz="2500"/>
              <a:t>Advisors</a:t>
            </a:r>
            <a:endParaRPr b="1" sz="2500"/>
          </a:p>
        </p:txBody>
      </p:sp>
      <p:sp>
        <p:nvSpPr>
          <p:cNvPr id="372" name="Google Shape;372;p54"/>
          <p:cNvSpPr txBox="1"/>
          <p:nvPr>
            <p:ph idx="1" type="body"/>
          </p:nvPr>
        </p:nvSpPr>
        <p:spPr>
          <a:xfrm>
            <a:off x="311700" y="1152475"/>
            <a:ext cx="70608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MessageChatMemoryAdvisor </a:t>
            </a:r>
            <a:r>
              <a:rPr lang="pl" sz="1600">
                <a:solidFill>
                  <a:schemeClr val="dk1"/>
                </a:solidFill>
              </a:rPr>
              <a:t>→ adds history as separate messages  </a:t>
            </a:r>
            <a:endParaRPr sz="16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QuestionAnswerAdvisor </a:t>
            </a:r>
            <a:r>
              <a:rPr lang="pl" sz="1600">
                <a:solidFill>
                  <a:schemeClr val="dk1"/>
                </a:solidFill>
              </a:rPr>
              <a:t>→ adds context from a vector store (RAG)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SafeGuardAdvisor </a:t>
            </a:r>
            <a:r>
              <a:rPr lang="pl" sz="1600">
                <a:solidFill>
                  <a:schemeClr val="dk1"/>
                </a:solidFill>
              </a:rPr>
              <a:t>→ checks the prompt and history for banned words </a:t>
            </a:r>
            <a:endParaRPr sz="16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ToolCallingAdvisor </a:t>
            </a:r>
            <a:r>
              <a:rPr lang="pl" sz="1600">
                <a:solidFill>
                  <a:schemeClr val="dk1"/>
                </a:solidFill>
              </a:rPr>
              <a:t>→ owns the tool calling lifecycle 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SimpleLoggerAdvisor </a:t>
            </a:r>
            <a:r>
              <a:rPr lang="pl" sz="1600">
                <a:solidFill>
                  <a:schemeClr val="dk1"/>
                </a:solidFill>
              </a:rPr>
              <a:t>→ logs request and response information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73" name="Google Shape;373;p54"/>
          <p:cNvSpPr txBox="1"/>
          <p:nvPr/>
        </p:nvSpPr>
        <p:spPr>
          <a:xfrm>
            <a:off x="7047200" y="1152475"/>
            <a:ext cx="19179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MIN_VALUE + 200 </a:t>
            </a:r>
            <a:endParaRPr b="1" sz="1600">
              <a:solidFill>
                <a:schemeClr val="dk1"/>
              </a:solidFill>
            </a:endParaRPr>
          </a:p>
        </p:txBody>
      </p:sp>
      <p:sp>
        <p:nvSpPr>
          <p:cNvPr id="374" name="Google Shape;374;p54"/>
          <p:cNvSpPr txBox="1"/>
          <p:nvPr/>
        </p:nvSpPr>
        <p:spPr>
          <a:xfrm>
            <a:off x="7047200" y="2598475"/>
            <a:ext cx="19179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MIN_VALUE + 300 </a:t>
            </a:r>
            <a:endParaRPr b="1" sz="1600">
              <a:solidFill>
                <a:schemeClr val="dk1"/>
              </a:solidFill>
            </a:endParaRPr>
          </a:p>
        </p:txBody>
      </p:sp>
      <p:sp>
        <p:nvSpPr>
          <p:cNvPr id="375" name="Google Shape;375;p54"/>
          <p:cNvSpPr txBox="1"/>
          <p:nvPr/>
        </p:nvSpPr>
        <p:spPr>
          <a:xfrm>
            <a:off x="7047200" y="515825"/>
            <a:ext cx="19179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Order ID Value</a:t>
            </a:r>
            <a:endParaRPr b="1" sz="1600">
              <a:solidFill>
                <a:schemeClr val="dk1"/>
              </a:solidFill>
            </a:endParaRPr>
          </a:p>
        </p:txBody>
      </p:sp>
      <p:sp>
        <p:nvSpPr>
          <p:cNvPr id="376" name="Google Shape;376;p54"/>
          <p:cNvSpPr txBox="1"/>
          <p:nvPr/>
        </p:nvSpPr>
        <p:spPr>
          <a:xfrm>
            <a:off x="7103075" y="1626650"/>
            <a:ext cx="324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0</a:t>
            </a:r>
            <a:endParaRPr b="1" sz="1600">
              <a:solidFill>
                <a:schemeClr val="dk1"/>
              </a:solidFill>
            </a:endParaRPr>
          </a:p>
        </p:txBody>
      </p:sp>
      <p:sp>
        <p:nvSpPr>
          <p:cNvPr id="377" name="Google Shape;377;p54"/>
          <p:cNvSpPr txBox="1"/>
          <p:nvPr/>
        </p:nvSpPr>
        <p:spPr>
          <a:xfrm>
            <a:off x="7103075" y="2112563"/>
            <a:ext cx="324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0</a:t>
            </a:r>
            <a:endParaRPr b="1" sz="1600">
              <a:solidFill>
                <a:schemeClr val="dk1"/>
              </a:solidFill>
            </a:endParaRPr>
          </a:p>
        </p:txBody>
      </p:sp>
      <p:sp>
        <p:nvSpPr>
          <p:cNvPr id="378" name="Google Shape;378;p54"/>
          <p:cNvSpPr txBox="1"/>
          <p:nvPr/>
        </p:nvSpPr>
        <p:spPr>
          <a:xfrm>
            <a:off x="7103075" y="3114925"/>
            <a:ext cx="324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0</a:t>
            </a:r>
            <a:endParaRPr b="1" sz="1600">
              <a:solidFill>
                <a:schemeClr val="dk1"/>
              </a:solidFill>
            </a:endParaRPr>
          </a:p>
        </p:txBody>
      </p:sp>
      <p:sp>
        <p:nvSpPr>
          <p:cNvPr id="379" name="Google Shape;379;p54"/>
          <p:cNvSpPr txBox="1"/>
          <p:nvPr/>
        </p:nvSpPr>
        <p:spPr>
          <a:xfrm>
            <a:off x="262575" y="3743875"/>
            <a:ext cx="77442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Integer.MIN_VALUE = -2 147 483 648 ← HIGHEST_PRECEDENCE (doc name) </a:t>
            </a:r>
            <a:endParaRPr sz="1600"/>
          </a:p>
        </p:txBody>
      </p:sp>
      <p:sp>
        <p:nvSpPr>
          <p:cNvPr id="380" name="Google Shape;380;p54"/>
          <p:cNvSpPr txBox="1"/>
          <p:nvPr/>
        </p:nvSpPr>
        <p:spPr>
          <a:xfrm>
            <a:off x="237825" y="4280050"/>
            <a:ext cx="63396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Order 0 is not first. It is inside the loop!!! </a:t>
            </a:r>
            <a:endParaRPr b="1" sz="16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5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Default</a:t>
            </a:r>
            <a:endParaRPr b="1"/>
          </a:p>
        </p:txBody>
      </p:sp>
      <p:pic>
        <p:nvPicPr>
          <p:cNvPr id="386" name="Google Shape;386;p5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0525" y="1261862"/>
            <a:ext cx="4188107" cy="35581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387" name="Google Shape;387;p5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31750" y="2140200"/>
            <a:ext cx="4616425" cy="2580749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5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Memory in the Loop</a:t>
            </a:r>
            <a:endParaRPr b="1"/>
          </a:p>
        </p:txBody>
      </p:sp>
      <p:pic>
        <p:nvPicPr>
          <p:cNvPr id="393" name="Google Shape;393;p5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2927" y="1135150"/>
            <a:ext cx="4364826" cy="381987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394" name="Google Shape;394;p5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35802" y="2787950"/>
            <a:ext cx="4241447" cy="1955346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395" name="Google Shape;395;p56"/>
          <p:cNvSpPr txBox="1"/>
          <p:nvPr/>
        </p:nvSpPr>
        <p:spPr>
          <a:xfrm>
            <a:off x="5090350" y="1230825"/>
            <a:ext cx="3606000" cy="116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Now one of them is inside the loop.</a:t>
            </a:r>
            <a:endParaRPr b="1"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The docs advise against two memory advisors. This is why the question is sent twice. </a:t>
            </a:r>
            <a:endParaRPr sz="1600">
              <a:solidFill>
                <a:schemeClr val="dk1"/>
              </a:solidFill>
            </a:endParaRPr>
          </a:p>
        </p:txBody>
      </p:sp>
      <p:cxnSp>
        <p:nvCxnSpPr>
          <p:cNvPr id="396" name="Google Shape;396;p56"/>
          <p:cNvCxnSpPr/>
          <p:nvPr/>
        </p:nvCxnSpPr>
        <p:spPr>
          <a:xfrm>
            <a:off x="7038600" y="2220450"/>
            <a:ext cx="352500" cy="9648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97" name="Google Shape;397;p56"/>
          <p:cNvCxnSpPr/>
          <p:nvPr/>
        </p:nvCxnSpPr>
        <p:spPr>
          <a:xfrm flipH="1" rot="10800000">
            <a:off x="7486150" y="3395450"/>
            <a:ext cx="1432800" cy="2100"/>
          </a:xfrm>
          <a:prstGeom prst="straightConnector1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98" name="Google Shape;398;p56"/>
          <p:cNvCxnSpPr/>
          <p:nvPr/>
        </p:nvCxnSpPr>
        <p:spPr>
          <a:xfrm>
            <a:off x="4929475" y="3463350"/>
            <a:ext cx="1107300" cy="300"/>
          </a:xfrm>
          <a:prstGeom prst="straightConnector1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5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b="1" lang="pl" sz="2500"/>
              <a:t>Three levels of hiding the loop</a:t>
            </a:r>
            <a:endParaRPr b="1" sz="2500"/>
          </a:p>
        </p:txBody>
      </p:sp>
      <p:pic>
        <p:nvPicPr>
          <p:cNvPr id="404" name="Google Shape;404;p5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70125"/>
            <a:ext cx="8839200" cy="35218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5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Who stops the loop? </a:t>
            </a:r>
            <a:endParaRPr b="1"/>
          </a:p>
        </p:txBody>
      </p:sp>
      <p:graphicFrame>
        <p:nvGraphicFramePr>
          <p:cNvPr id="410" name="Google Shape;410;p58"/>
          <p:cNvGraphicFramePr/>
          <p:nvPr/>
        </p:nvGraphicFramePr>
        <p:xfrm>
          <a:off x="904375" y="16553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{DF215772-F3B7-4B58-AF57-4B86662D7F26}</a:tableStyleId>
              </a:tblPr>
              <a:tblGrid>
                <a:gridCol w="1713450"/>
                <a:gridCol w="1984200"/>
                <a:gridCol w="3476775"/>
              </a:tblGrid>
              <a:tr h="67275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l" sz="1600">
                          <a:solidFill>
                            <a:schemeClr val="dk1"/>
                          </a:solidFill>
                        </a:rPr>
                        <a:t>Implementation</a:t>
                      </a:r>
                      <a:endParaRPr b="1" sz="16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l" sz="1600">
                          <a:solidFill>
                            <a:schemeClr val="dk1"/>
                          </a:solidFill>
                        </a:rPr>
                        <a:t>Limit</a:t>
                      </a:r>
                      <a:endParaRPr b="1" sz="16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l" sz="1600">
                          <a:solidFill>
                            <a:schemeClr val="dk1"/>
                          </a:solidFill>
                        </a:rPr>
                        <a:t>When exceeded</a:t>
                      </a:r>
                      <a:endParaRPr b="1" sz="16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182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1600">
                          <a:solidFill>
                            <a:schemeClr val="dk1"/>
                          </a:solidFill>
                        </a:rPr>
                        <a:t>raw-agent</a:t>
                      </a:r>
                      <a:endParaRPr sz="16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1600">
                          <a:solidFill>
                            <a:schemeClr val="dk1"/>
                          </a:solidFill>
                        </a:rPr>
                        <a:t>10 iterations</a:t>
                      </a:r>
                      <a:endParaRPr sz="16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1600">
                          <a:solidFill>
                            <a:schemeClr val="dk1"/>
                          </a:solidFill>
                        </a:rPr>
                        <a:t>a string in HTTP 200, indistinguishable from an answer</a:t>
                      </a:r>
                      <a:endParaRPr sz="16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182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1600">
                          <a:solidFill>
                            <a:schemeClr val="dk1"/>
                          </a:solidFill>
                        </a:rPr>
                        <a:t>LC4j AiServices</a:t>
                      </a:r>
                      <a:endParaRPr sz="16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1600">
                          <a:solidFill>
                            <a:schemeClr val="dk1"/>
                          </a:solidFill>
                        </a:rPr>
                        <a:t>100 by default (10 in the demo)</a:t>
                      </a:r>
                      <a:endParaRPr sz="16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1600">
                          <a:solidFill>
                            <a:schemeClr val="dk1"/>
                          </a:solidFill>
                        </a:rPr>
                        <a:t>exception</a:t>
                      </a:r>
                      <a:endParaRPr sz="16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182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1600">
                          <a:solidFill>
                            <a:schemeClr val="dk1"/>
                          </a:solidFill>
                        </a:rPr>
                        <a:t>Spring AI 2.0.1</a:t>
                      </a:r>
                      <a:endParaRPr sz="16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1600">
                          <a:solidFill>
                            <a:schemeClr val="dk1"/>
                          </a:solidFill>
                        </a:rPr>
                        <a:t>40 per tool / 150 per request </a:t>
                      </a:r>
                      <a:r>
                        <a:rPr b="1" lang="pl" sz="1600" u="sng">
                          <a:solidFill>
                            <a:schemeClr val="dk1"/>
                          </a:solidFill>
                          <a:hlinkClick r:id="rId3">
                            <a:extLst>
                              <a:ext uri="{A12FA001-AC4F-418D-AE19-62706E023703}">
                                <ahyp:hlinkClr val="tx"/>
                              </a:ext>
                            </a:extLst>
                          </a:hlinkClick>
                        </a:rPr>
                        <a:t>doc</a:t>
                      </a:r>
                      <a:endParaRPr sz="16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1600">
                          <a:solidFill>
                            <a:schemeClr val="dk1"/>
                          </a:solidFill>
                        </a:rPr>
                        <a:t>response with a dedicated finish reason</a:t>
                      </a:r>
                      <a:endParaRPr sz="16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4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5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OpenRouter</a:t>
            </a:r>
            <a:endParaRPr b="1"/>
          </a:p>
        </p:txBody>
      </p:sp>
      <p:sp>
        <p:nvSpPr>
          <p:cNvPr id="416" name="Google Shape;416;p59"/>
          <p:cNvSpPr txBox="1"/>
          <p:nvPr>
            <p:ph idx="1" type="body"/>
          </p:nvPr>
        </p:nvSpPr>
        <p:spPr>
          <a:xfrm>
            <a:off x="311700" y="1152475"/>
            <a:ext cx="8520600" cy="111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OpenRouter is a single API in front of hundreds of models from dozens of vendors.</a:t>
            </a:r>
            <a:endParaRPr b="1"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One key, one base URL, and the OpenAI protocol everyone already speaks. </a:t>
            </a:r>
            <a:endParaRPr sz="1600">
              <a:solidFill>
                <a:schemeClr val="dk1"/>
              </a:solidFill>
            </a:endParaRPr>
          </a:p>
        </p:txBody>
      </p:sp>
      <p:pic>
        <p:nvPicPr>
          <p:cNvPr id="417" name="Google Shape;417;p5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46475" y="2061075"/>
            <a:ext cx="5659149" cy="299437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p6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Configuration</a:t>
            </a:r>
            <a:endParaRPr b="1"/>
          </a:p>
        </p:txBody>
      </p:sp>
      <p:pic>
        <p:nvPicPr>
          <p:cNvPr id="423" name="Google Shape;423;p6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1900" y="1274325"/>
            <a:ext cx="3656765" cy="3725751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424" name="Google Shape;424;p6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347338" y="3344050"/>
            <a:ext cx="4420625" cy="16560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425" name="Google Shape;425;p60"/>
          <p:cNvSpPr txBox="1"/>
          <p:nvPr/>
        </p:nvSpPr>
        <p:spPr>
          <a:xfrm>
            <a:off x="5276438" y="1164875"/>
            <a:ext cx="3000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Spring AI configuration </a:t>
            </a:r>
            <a:endParaRPr b="1" sz="1600">
              <a:solidFill>
                <a:schemeClr val="dk1"/>
              </a:solidFill>
            </a:endParaRPr>
          </a:p>
        </p:txBody>
      </p:sp>
      <p:sp>
        <p:nvSpPr>
          <p:cNvPr id="426" name="Google Shape;426;p60"/>
          <p:cNvSpPr txBox="1"/>
          <p:nvPr/>
        </p:nvSpPr>
        <p:spPr>
          <a:xfrm>
            <a:off x="5200125" y="1933163"/>
            <a:ext cx="3000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381000" marR="38100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O</a:t>
            </a:r>
            <a:r>
              <a:rPr b="1" lang="pl" sz="1600">
                <a:solidFill>
                  <a:schemeClr val="dk1"/>
                </a:solidFill>
              </a:rPr>
              <a:t>wn properties</a:t>
            </a:r>
            <a:endParaRPr b="1" sz="1600">
              <a:solidFill>
                <a:schemeClr val="dk1"/>
              </a:solidFill>
            </a:endParaRPr>
          </a:p>
        </p:txBody>
      </p:sp>
      <p:cxnSp>
        <p:nvCxnSpPr>
          <p:cNvPr id="427" name="Google Shape;427;p60"/>
          <p:cNvCxnSpPr>
            <a:stCxn id="425" idx="1"/>
          </p:cNvCxnSpPr>
          <p:nvPr/>
        </p:nvCxnSpPr>
        <p:spPr>
          <a:xfrm flipH="1">
            <a:off x="3835838" y="1380425"/>
            <a:ext cx="1440600" cy="5889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428" name="Google Shape;428;p60"/>
          <p:cNvCxnSpPr/>
          <p:nvPr/>
        </p:nvCxnSpPr>
        <p:spPr>
          <a:xfrm flipH="1">
            <a:off x="6564425" y="2338525"/>
            <a:ext cx="38700" cy="11970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2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p6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Chat</a:t>
            </a:r>
            <a:endParaRPr b="1"/>
          </a:p>
        </p:txBody>
      </p:sp>
      <p:pic>
        <p:nvPicPr>
          <p:cNvPr id="434" name="Google Shape;434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68250" y="1060700"/>
            <a:ext cx="5727406" cy="382097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Image Generation </a:t>
            </a:r>
            <a:endParaRPr b="1"/>
          </a:p>
        </p:txBody>
      </p:sp>
      <p:pic>
        <p:nvPicPr>
          <p:cNvPr id="440" name="Google Shape;440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8200" y="1356775"/>
            <a:ext cx="7467600" cy="30194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4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6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Speech </a:t>
            </a:r>
            <a:endParaRPr b="1"/>
          </a:p>
        </p:txBody>
      </p:sp>
      <p:pic>
        <p:nvPicPr>
          <p:cNvPr id="446" name="Google Shape;446;p6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96900" y="1017725"/>
            <a:ext cx="5328025" cy="3926224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0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p6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Vision </a:t>
            </a:r>
            <a:endParaRPr b="1"/>
          </a:p>
        </p:txBody>
      </p:sp>
      <p:pic>
        <p:nvPicPr>
          <p:cNvPr id="452" name="Google Shape;452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74350" y="1074775"/>
            <a:ext cx="4452049" cy="3689726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6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p6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Music </a:t>
            </a:r>
            <a:endParaRPr b="1"/>
          </a:p>
        </p:txBody>
      </p:sp>
      <p:sp>
        <p:nvSpPr>
          <p:cNvPr id="458" name="Google Shape;458;p65"/>
          <p:cNvSpPr txBox="1"/>
          <p:nvPr>
            <p:ph idx="1" type="body"/>
          </p:nvPr>
        </p:nvSpPr>
        <p:spPr>
          <a:xfrm>
            <a:off x="311700" y="166762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Lyria is a chat endpoint. Getting the bytes out took five attempts.</a:t>
            </a:r>
            <a:endParaRPr b="1"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1.  chatModel.call() → timed lyrics, no audio “[0.0:7.3] O-Zone, we dance tonight…]“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2.  + getMedia()      → media blocks = 0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3.  + modalities       → `voice` is required, but was not set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4.  + voice               → 400: Audio output requires stream: true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5.  + stream()          → the stream arrives, media blocks = 0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Every one of those errors was correct and specific. None of them said where to look.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459" name="Google Shape;459;p65"/>
          <p:cNvSpPr txBox="1"/>
          <p:nvPr/>
        </p:nvSpPr>
        <p:spPr>
          <a:xfrm>
            <a:off x="311700" y="1127125"/>
            <a:ext cx="4473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Here is where the trouble started….</a:t>
            </a:r>
            <a:endParaRPr b="1" sz="16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3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p6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Why can't Spring AI reach it?</a:t>
            </a:r>
            <a:endParaRPr b="1"/>
          </a:p>
        </p:txBody>
      </p:sp>
      <p:graphicFrame>
        <p:nvGraphicFramePr>
          <p:cNvPr id="465" name="Google Shape;465;p66"/>
          <p:cNvGraphicFramePr/>
          <p:nvPr/>
        </p:nvGraphicFramePr>
        <p:xfrm>
          <a:off x="450063" y="12973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{DF215772-F3B7-4B58-AF57-4B86662D7F26}</a:tableStyleId>
              </a:tblPr>
              <a:tblGrid>
                <a:gridCol w="1441150"/>
                <a:gridCol w="6469225"/>
              </a:tblGrid>
              <a:tr h="19050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l" sz="1600">
                          <a:solidFill>
                            <a:schemeClr val="dk1"/>
                          </a:solidFill>
                        </a:rPr>
                        <a:t>Layer</a:t>
                      </a:r>
                      <a:endParaRPr b="1" sz="16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l" sz="1600">
                          <a:solidFill>
                            <a:schemeClr val="dk1"/>
                          </a:solidFill>
                        </a:rPr>
                        <a:t>Behavior</a:t>
                      </a:r>
                      <a:endParaRPr b="1" sz="16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1600">
                          <a:solidFill>
                            <a:schemeClr val="dk1"/>
                          </a:solidFill>
                        </a:rPr>
                        <a:t>Google</a:t>
                      </a:r>
                      <a:endParaRPr sz="16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1600">
                          <a:solidFill>
                            <a:schemeClr val="dk1"/>
                          </a:solidFill>
                        </a:rPr>
                        <a:t>Exposes Lyria through the Interactions API, not </a:t>
                      </a:r>
                      <a:r>
                        <a:rPr lang="pl" sz="1600">
                          <a:solidFill>
                            <a:schemeClr val="dk1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/audio/speech</a:t>
                      </a:r>
                      <a:endParaRPr sz="1600">
                        <a:solidFill>
                          <a:schemeClr val="dk1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1600">
                          <a:solidFill>
                            <a:schemeClr val="dk1"/>
                          </a:solidFill>
                        </a:rPr>
                        <a:t>OpenRouter</a:t>
                      </a:r>
                      <a:endParaRPr sz="16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1600">
                          <a:solidFill>
                            <a:schemeClr val="dk1"/>
                          </a:solidFill>
                        </a:rPr>
                        <a:t>Returns audio from chat </a:t>
                      </a:r>
                      <a:r>
                        <a:rPr lang="pl" sz="1600">
                          <a:solidFill>
                            <a:schemeClr val="dk1"/>
                          </a:solidFill>
                        </a:rPr>
                        <a:t>only </a:t>
                      </a:r>
                      <a:r>
                        <a:rPr lang="pl" sz="1600">
                          <a:solidFill>
                            <a:schemeClr val="dk1"/>
                          </a:solidFill>
                        </a:rPr>
                        <a:t>when </a:t>
                      </a:r>
                      <a:r>
                        <a:rPr lang="pl" sz="1600">
                          <a:solidFill>
                            <a:schemeClr val="dk1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stream: true</a:t>
                      </a:r>
                      <a:endParaRPr sz="1600">
                        <a:solidFill>
                          <a:schemeClr val="dk1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1600">
                          <a:solidFill>
                            <a:schemeClr val="dk1"/>
                          </a:solidFill>
                        </a:rPr>
                        <a:t>OpenAI SDK</a:t>
                      </a:r>
                      <a:endParaRPr sz="16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1600">
                          <a:solidFill>
                            <a:schemeClr val="dk1"/>
                          </a:solidFill>
                        </a:rPr>
                        <a:t>Validates a speech-oriented request schema and requires </a:t>
                      </a:r>
                      <a:r>
                        <a:rPr lang="pl" sz="1600">
                          <a:solidFill>
                            <a:schemeClr val="dk1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voice</a:t>
                      </a:r>
                      <a:endParaRPr sz="1600">
                        <a:solidFill>
                          <a:schemeClr val="dk1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1600">
                          <a:solidFill>
                            <a:schemeClr val="dk1"/>
                          </a:solidFill>
                        </a:rPr>
                        <a:t>Spring AI</a:t>
                      </a:r>
                      <a:endParaRPr sz="16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1600">
                          <a:solidFill>
                            <a:schemeClr val="dk1"/>
                          </a:solidFill>
                        </a:rPr>
                        <a:t>Maps audio to </a:t>
                      </a:r>
                      <a:r>
                        <a:rPr lang="pl" sz="1600">
                          <a:solidFill>
                            <a:schemeClr val="dk1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Media</a:t>
                      </a:r>
                      <a:r>
                        <a:rPr lang="pl" sz="160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pl" sz="1600">
                          <a:solidFill>
                            <a:schemeClr val="dk1"/>
                          </a:solidFill>
                        </a:rPr>
                        <a:t>only </a:t>
                      </a:r>
                      <a:r>
                        <a:rPr lang="pl" sz="1600">
                          <a:solidFill>
                            <a:schemeClr val="dk1"/>
                          </a:solidFill>
                        </a:rPr>
                        <a:t>in the </a:t>
                      </a:r>
                      <a:r>
                        <a:rPr lang="pl" sz="1600">
                          <a:solidFill>
                            <a:schemeClr val="dk1"/>
                          </a:solidFill>
                        </a:rPr>
                        <a:t>non-streaming (blocking) path </a:t>
                      </a:r>
                      <a:endParaRPr sz="16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466" name="Google Shape;466;p66"/>
          <p:cNvSpPr txBox="1"/>
          <p:nvPr/>
        </p:nvSpPr>
        <p:spPr>
          <a:xfrm>
            <a:off x="450075" y="3938725"/>
            <a:ext cx="78003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No layer made a mistake, so no layer could warn.</a:t>
            </a:r>
            <a:endParaRPr b="1"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Music dropped to raw HTTP. One modality on the transport is cheaper than pretending the abstraction covers five. </a:t>
            </a:r>
            <a:endParaRPr sz="16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0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6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Code Snippet </a:t>
            </a:r>
            <a:endParaRPr b="1"/>
          </a:p>
        </p:txBody>
      </p:sp>
      <p:pic>
        <p:nvPicPr>
          <p:cNvPr id="472" name="Google Shape;472;p6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39075" y="1060725"/>
            <a:ext cx="5752533" cy="3820974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cxnSp>
        <p:nvCxnSpPr>
          <p:cNvPr id="473" name="Google Shape;473;p67"/>
          <p:cNvCxnSpPr/>
          <p:nvPr/>
        </p:nvCxnSpPr>
        <p:spPr>
          <a:xfrm>
            <a:off x="765850" y="4099600"/>
            <a:ext cx="2020800" cy="5535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474" name="Google Shape;474;p67"/>
          <p:cNvSpPr txBox="1"/>
          <p:nvPr/>
        </p:nvSpPr>
        <p:spPr>
          <a:xfrm>
            <a:off x="191000" y="3604100"/>
            <a:ext cx="7743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Bytes</a:t>
            </a:r>
            <a:endParaRPr b="1" sz="16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8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p6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Video </a:t>
            </a:r>
            <a:endParaRPr b="1"/>
          </a:p>
        </p:txBody>
      </p:sp>
      <p:sp>
        <p:nvSpPr>
          <p:cNvPr id="480" name="Google Shape;480;p68"/>
          <p:cNvSpPr txBox="1"/>
          <p:nvPr>
            <p:ph idx="1" type="body"/>
          </p:nvPr>
        </p:nvSpPr>
        <p:spPr>
          <a:xfrm>
            <a:off x="273175" y="1122425"/>
            <a:ext cx="4924200" cy="335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chemeClr val="dk1"/>
                </a:solidFill>
              </a:rPr>
              <a:t>Video generation is asynchronous: submit, poll, download.</a:t>
            </a:r>
            <a:endParaRPr b="1"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There is no </a:t>
            </a:r>
            <a:r>
              <a:rPr lang="pl" sz="16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VideoModel</a:t>
            </a:r>
            <a:r>
              <a:rPr lang="pl" sz="1600">
                <a:solidFill>
                  <a:schemeClr val="dk1"/>
                </a:solidFill>
              </a:rPr>
              <a:t> in Spring AI, so the client is custom. 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l" sz="1600">
                <a:solidFill>
                  <a:schemeClr val="dk1"/>
                </a:solidFill>
              </a:rPr>
              <a:t>Music had the opposite problem, the abstraction existed and could not be reached. </a:t>
            </a:r>
            <a:endParaRPr sz="2300">
              <a:solidFill>
                <a:schemeClr val="dk1"/>
              </a:solidFill>
            </a:endParaRPr>
          </a:p>
        </p:txBody>
      </p:sp>
      <p:pic>
        <p:nvPicPr>
          <p:cNvPr id="481" name="Google Shape;481;p6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801275" y="594900"/>
            <a:ext cx="2465145" cy="382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5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Google Shape;486;p6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Is one protocol really enough?</a:t>
            </a:r>
            <a:endParaRPr b="1"/>
          </a:p>
        </p:txBody>
      </p:sp>
      <p:sp>
        <p:nvSpPr>
          <p:cNvPr id="487" name="Google Shape;487;p69"/>
          <p:cNvSpPr txBox="1"/>
          <p:nvPr/>
        </p:nvSpPr>
        <p:spPr>
          <a:xfrm>
            <a:off x="256025" y="1367475"/>
            <a:ext cx="6916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pl" sz="1800">
                <a:solidFill>
                  <a:schemeClr val="lt2"/>
                </a:solidFill>
              </a:rPr>
              <a:t> </a:t>
            </a:r>
            <a:r>
              <a:rPr b="1" lang="pl" sz="1800">
                <a:solidFill>
                  <a:schemeClr val="dk1"/>
                </a:solidFill>
              </a:rPr>
              <a:t>One provider does not mean one protocol. </a:t>
            </a:r>
            <a:endParaRPr b="1" sz="1800">
              <a:solidFill>
                <a:schemeClr val="dk1"/>
              </a:solidFill>
            </a:endParaRPr>
          </a:p>
        </p:txBody>
      </p:sp>
      <p:pic>
        <p:nvPicPr>
          <p:cNvPr id="488" name="Google Shape;488;p6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225" y="2100625"/>
            <a:ext cx="8839204" cy="21321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2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7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500"/>
              <a:t>S</a:t>
            </a:r>
            <a:r>
              <a:rPr b="1" lang="pl" sz="2500"/>
              <a:t>ee you in part </a:t>
            </a:r>
            <a:r>
              <a:rPr b="1" lang="pl" sz="2500"/>
              <a:t>Ⅱ </a:t>
            </a:r>
            <a:r>
              <a:rPr b="1" lang="pl" sz="2500"/>
              <a:t>next week!</a:t>
            </a:r>
            <a:endParaRPr b="1" sz="2500"/>
          </a:p>
        </p:txBody>
      </p:sp>
      <p:pic>
        <p:nvPicPr>
          <p:cNvPr id="494" name="Google Shape;494;p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5975" y="1047850"/>
            <a:ext cx="6789235" cy="382097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wiss">
  <a:themeElements>
    <a:clrScheme name="Swiss">
      <a:dk1>
        <a:srgbClr val="F46524"/>
      </a:dk1>
      <a:lt1>
        <a:srgbClr val="FFFFFF"/>
      </a:lt1>
      <a:dk2>
        <a:srgbClr val="000000"/>
      </a:dk2>
      <a:lt2>
        <a:srgbClr val="757575"/>
      </a:lt2>
      <a:accent1>
        <a:srgbClr val="01579B"/>
      </a:accent1>
      <a:accent2>
        <a:srgbClr val="27C7BD"/>
      </a:accent2>
      <a:accent3>
        <a:srgbClr val="0099E8"/>
      </a:accent3>
      <a:accent4>
        <a:srgbClr val="51B9A3"/>
      </a:accent4>
      <a:accent5>
        <a:srgbClr val="FB8C00"/>
      </a:accent5>
      <a:accent6>
        <a:srgbClr val="FFAE88"/>
      </a:accent6>
      <a:hlink>
        <a:srgbClr val="0277BD"/>
      </a:hlink>
      <a:folHlink>
        <a:srgbClr val="0277B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