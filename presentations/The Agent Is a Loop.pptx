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y="5143500" cx="9144000"/>
  <p:notesSz cx="6858000" cy="9144000"/>
  <p:embeddedFontLst>
    <p:embeddedFont>
      <p:font typeface="Raleway"/>
      <p:regular r:id="rId52"/>
      <p:bold r:id="rId53"/>
      <p:italic r:id="rId54"/>
      <p:boldItalic r:id="rId55"/>
    </p:embeddedFont>
    <p:embeddedFont>
      <p:font typeface="Roboto"/>
      <p:regular r:id="rId56"/>
      <p:bold r:id="rId57"/>
      <p:italic r:id="rId58"/>
      <p:boldItalic r:id="rId59"/>
    </p:embeddedFont>
    <p:embeddedFont>
      <p:font typeface="Lato"/>
      <p:regular r:id="rId60"/>
      <p:bold r:id="rId61"/>
      <p:italic r:id="rId62"/>
      <p:boldItalic r:id="rId63"/>
    </p:embeddedFont>
    <p:embeddedFont>
      <p:font typeface="Roboto Mono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0A0A1A-E947-48F3-AA7B-8D8E710BDD7A}">
  <a:tblStyle styleId="{870A0A1A-E947-48F3-AA7B-8D8E710BDD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Lato-italic.fntdata"/><Relationship Id="rId61" Type="http://schemas.openxmlformats.org/officeDocument/2006/relationships/font" Target="fonts/Lato-bold.fntdata"/><Relationship Id="rId20" Type="http://schemas.openxmlformats.org/officeDocument/2006/relationships/slide" Target="slides/slide13.xml"/><Relationship Id="rId64" Type="http://schemas.openxmlformats.org/officeDocument/2006/relationships/font" Target="fonts/RobotoMono-regular.fntdata"/><Relationship Id="rId63" Type="http://schemas.openxmlformats.org/officeDocument/2006/relationships/font" Target="fonts/Lato-boldItalic.fntdata"/><Relationship Id="rId22" Type="http://schemas.openxmlformats.org/officeDocument/2006/relationships/slide" Target="slides/slide15.xml"/><Relationship Id="rId66" Type="http://schemas.openxmlformats.org/officeDocument/2006/relationships/font" Target="fonts/RobotoMono-italic.fntdata"/><Relationship Id="rId21" Type="http://schemas.openxmlformats.org/officeDocument/2006/relationships/slide" Target="slides/slide14.xml"/><Relationship Id="rId65" Type="http://schemas.openxmlformats.org/officeDocument/2006/relationships/font" Target="fonts/RobotoMono-bold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7" Type="http://schemas.openxmlformats.org/officeDocument/2006/relationships/font" Target="fonts/RobotoMono-boldItalic.fntdata"/><Relationship Id="rId60" Type="http://schemas.openxmlformats.org/officeDocument/2006/relationships/font" Target="fonts/Lato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font" Target="fonts/Raleway-bold.fntdata"/><Relationship Id="rId52" Type="http://schemas.openxmlformats.org/officeDocument/2006/relationships/font" Target="fonts/Raleway-regular.fntdata"/><Relationship Id="rId11" Type="http://schemas.openxmlformats.org/officeDocument/2006/relationships/slide" Target="slides/slide4.xml"/><Relationship Id="rId55" Type="http://schemas.openxmlformats.org/officeDocument/2006/relationships/font" Target="fonts/Raleway-boldItalic.fntdata"/><Relationship Id="rId10" Type="http://schemas.openxmlformats.org/officeDocument/2006/relationships/slide" Target="slides/slide3.xml"/><Relationship Id="rId54" Type="http://schemas.openxmlformats.org/officeDocument/2006/relationships/font" Target="fonts/Raleway-italic.fntdata"/><Relationship Id="rId13" Type="http://schemas.openxmlformats.org/officeDocument/2006/relationships/slide" Target="slides/slide6.xml"/><Relationship Id="rId57" Type="http://schemas.openxmlformats.org/officeDocument/2006/relationships/font" Target="fonts/Roboto-bold.fntdata"/><Relationship Id="rId12" Type="http://schemas.openxmlformats.org/officeDocument/2006/relationships/slide" Target="slides/slide5.xml"/><Relationship Id="rId56" Type="http://schemas.openxmlformats.org/officeDocument/2006/relationships/font" Target="fonts/Roboto-regular.fntdata"/><Relationship Id="rId15" Type="http://schemas.openxmlformats.org/officeDocument/2006/relationships/slide" Target="slides/slide8.xml"/><Relationship Id="rId59" Type="http://schemas.openxmlformats.org/officeDocument/2006/relationships/font" Target="fonts/Roboto-boldItalic.fntdata"/><Relationship Id="rId14" Type="http://schemas.openxmlformats.org/officeDocument/2006/relationships/slide" Target="slides/slide7.xml"/><Relationship Id="rId58" Type="http://schemas.openxmlformats.org/officeDocument/2006/relationships/font" Target="fonts/Robot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4d9b5d7495380ac_5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4d9b5d7495380ac_5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4d9b5d7495380ac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4d9b5d7495380ac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4d9b5d7495380ac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4d9b5d7495380a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4d9b5d7495380ac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4d9b5d7495380ac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4d9b5d7495380ac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4d9b5d7495380ac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58aa35c2e4d04f53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58aa35c2e4d04f53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4d9b5d7495380ac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4d9b5d7495380ac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4d9b5d7495380ac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h4d9b5d7495380ac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58aa35c2e4d04f5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h58aa35c2e4d04f5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58aa35c2e4d04f5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58aa35c2e4d04f5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58aa35c2e4d04f5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h58aa35c2e4d04f5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58aa35c2e4d04f5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h58aa35c2e4d04f5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58aa35c2e4d04f5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h58aa35c2e4d04f5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58aa35c2e4d04f5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58aa35c2e4d04f5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58aa35c2e4d04f5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58aa35c2e4d04f5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58aa35c2e4d04f5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h58aa35c2e4d04f5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58aa35c2e4d04f5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h58aa35c2e4d04f5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58aa35c2e4d04f53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h58aa35c2e4d04f53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58aa35c2e4d04f53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h58aa35c2e4d04f53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58aa35c2e4d04f5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h58aa35c2e4d04f5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58aa35c2e4d04f5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h58aa35c2e4d04f5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58aa35c2e4d04f5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h58aa35c2e4d04f5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58aa35c2e4d04f53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58aa35c2e4d04f53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58aa35c2e4d04f53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h58aa35c2e4d04f53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h58aa35c2e4d04f53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h58aa35c2e4d04f53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58aa35c2e4d04f53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h58aa35c2e4d04f53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58aa35c2e4d04f53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h58aa35c2e4d04f53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58aa35c2e4d04f53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h58aa35c2e4d04f53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58aa35c2e4d04f53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h58aa35c2e4d04f53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h58aa35c2e4d04f53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h58aa35c2e4d04f53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58aa35c2e4d04f53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h58aa35c2e4d04f53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58aa35c2e4d04f53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h58aa35c2e4d04f53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h58aa35c2e4d04f53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h58aa35c2e4d04f53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h58aa35c2e4d04f53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h58aa35c2e4d04f53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h58aa35c2e4d04f5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h58aa35c2e4d04f5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h58aa35c2e4d04f53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h58aa35c2e4d04f53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58aa35c2e4d04f53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h58aa35c2e4d04f53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58aa35c2e4d04f53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h58aa35c2e4d04f53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58aa35c2e4d04f53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h58aa35c2e4d04f53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58aa35c2e4d04f53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h58aa35c2e4d04f53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h58aa35c2e4d04f53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h58aa35c2e4d04f53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h58aa35c2e4d04f53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h58aa35c2e4d04f53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58aa35c2e4d04f53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h58aa35c2e4d04f53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h58aa35c2e4d04f53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h58aa35c2e4d04f53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1" name="Google Shape;101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xkondix/ai-agents-JAVA-SP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xkondix/aiSandbox-JAVA-SPIR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strandsagents.com/docs/user-guide/migrate/openai/" TargetMode="External"/><Relationship Id="rId4" Type="http://schemas.openxmlformats.org/officeDocument/2006/relationships/image" Target="../media/image8.png"/><Relationship Id="rId5" Type="http://schemas.openxmlformats.org/officeDocument/2006/relationships/hyperlink" Target="https://developers.openai.com/cookbook/examples/reasoning_function_call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ctrTitle"/>
          </p:nvPr>
        </p:nvSpPr>
        <p:spPr>
          <a:xfrm>
            <a:off x="1421899" y="852600"/>
            <a:ext cx="6661500" cy="144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The Agent Is a Loop </a:t>
            </a:r>
            <a:endParaRPr/>
          </a:p>
        </p:txBody>
      </p:sp>
      <p:sp>
        <p:nvSpPr>
          <p:cNvPr descr="xkondix AI Sandbox" id="118" name="Google Shape;118;p25"/>
          <p:cNvSpPr txBox="1"/>
          <p:nvPr>
            <p:ph idx="1" type="subTitle"/>
          </p:nvPr>
        </p:nvSpPr>
        <p:spPr>
          <a:xfrm>
            <a:off x="4103000" y="2857100"/>
            <a:ext cx="4621800" cy="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Author: Konrad Kowalczyk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Repository: </a:t>
            </a:r>
            <a:r>
              <a:rPr lang="pl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ai-agents-JAVA-SPRING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Let's start from the beginning</a:t>
            </a:r>
            <a:endParaRPr b="1"/>
          </a:p>
        </p:txBody>
      </p:sp>
      <p:sp>
        <p:nvSpPr>
          <p:cNvPr id="124" name="Google Shape;124;p26"/>
          <p:cNvSpPr txBox="1"/>
          <p:nvPr>
            <p:ph idx="1" type="body"/>
          </p:nvPr>
        </p:nvSpPr>
        <p:spPr>
          <a:xfrm>
            <a:off x="1119825" y="1774750"/>
            <a:ext cx="2949000" cy="9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6400">
                <a:solidFill>
                  <a:schemeClr val="dk1"/>
                </a:solidFill>
              </a:rPr>
              <a:t>This is a continuation of last year's presentation, which focused on… </a:t>
            </a:r>
            <a:endParaRPr sz="6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6"/>
          <p:cNvSpPr txBox="1"/>
          <p:nvPr/>
        </p:nvSpPr>
        <p:spPr>
          <a:xfrm>
            <a:off x="1688225" y="39217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xkondix AI Sandbox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126" name="Google Shape;126;p26"/>
          <p:cNvSpPr txBox="1"/>
          <p:nvPr/>
        </p:nvSpPr>
        <p:spPr>
          <a:xfrm>
            <a:off x="5078450" y="1325525"/>
            <a:ext cx="8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RAG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27" name="Google Shape;127;p26"/>
          <p:cNvSpPr txBox="1"/>
          <p:nvPr/>
        </p:nvSpPr>
        <p:spPr>
          <a:xfrm>
            <a:off x="5078525" y="2803325"/>
            <a:ext cx="272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CHAT MEMORY “REDIS”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28" name="Google Shape;128;p26"/>
          <p:cNvSpPr txBox="1"/>
          <p:nvPr/>
        </p:nvSpPr>
        <p:spPr>
          <a:xfrm>
            <a:off x="5153225" y="2064425"/>
            <a:ext cx="93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TOOLS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29" name="Google Shape;129;p26"/>
          <p:cNvSpPr txBox="1"/>
          <p:nvPr/>
        </p:nvSpPr>
        <p:spPr>
          <a:xfrm>
            <a:off x="525125" y="3985250"/>
            <a:ext cx="116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000">
                <a:solidFill>
                  <a:schemeClr val="dk1"/>
                </a:solidFill>
              </a:rPr>
              <a:t>OLD REPO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" name="Google Shape;130;p26"/>
          <p:cNvCxnSpPr/>
          <p:nvPr/>
        </p:nvCxnSpPr>
        <p:spPr>
          <a:xfrm flipH="1" rot="10800000">
            <a:off x="1644150" y="4156925"/>
            <a:ext cx="402600" cy="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26"/>
          <p:cNvCxnSpPr>
            <a:stCxn id="124" idx="3"/>
            <a:endCxn id="126" idx="1"/>
          </p:cNvCxnSpPr>
          <p:nvPr/>
        </p:nvCxnSpPr>
        <p:spPr>
          <a:xfrm flipH="1" rot="10800000">
            <a:off x="4068825" y="1541200"/>
            <a:ext cx="1009500" cy="72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6"/>
          <p:cNvCxnSpPr>
            <a:stCxn id="124" idx="3"/>
            <a:endCxn id="128" idx="1"/>
          </p:cNvCxnSpPr>
          <p:nvPr/>
        </p:nvCxnSpPr>
        <p:spPr>
          <a:xfrm>
            <a:off x="4068825" y="2270500"/>
            <a:ext cx="1084500" cy="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6"/>
          <p:cNvCxnSpPr>
            <a:stCxn id="124" idx="3"/>
            <a:endCxn id="127" idx="1"/>
          </p:cNvCxnSpPr>
          <p:nvPr/>
        </p:nvCxnSpPr>
        <p:spPr>
          <a:xfrm>
            <a:off x="4068825" y="2270500"/>
            <a:ext cx="1009800" cy="74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Roadmap </a:t>
            </a:r>
            <a:endParaRPr b="1"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1. The Agent Is a Loop</a:t>
            </a:r>
            <a:br>
              <a:rPr b="1" lang="pl" sz="1100">
                <a:solidFill>
                  <a:schemeClr val="dk1"/>
                </a:solidFill>
              </a:rPr>
            </a:br>
            <a:r>
              <a:rPr lang="pl" sz="1200">
                <a:solidFill>
                  <a:schemeClr val="dk1"/>
                </a:solidFill>
              </a:rPr>
              <a:t> </a:t>
            </a:r>
            <a:r>
              <a:rPr i="1" lang="pl" sz="1200">
                <a:solidFill>
                  <a:schemeClr val="dk1"/>
                </a:solidFill>
              </a:rPr>
              <a:t>Writing one by hand, and what frameworks hide when they write it for you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2</a:t>
            </a:r>
            <a:r>
              <a:rPr b="1" lang="pl">
                <a:solidFill>
                  <a:schemeClr val="dk1"/>
                </a:solidFill>
              </a:rPr>
              <a:t>. Agentic Workflow Patterns</a:t>
            </a:r>
            <a:br>
              <a:rPr b="1" lang="pl" sz="1100">
                <a:solidFill>
                  <a:schemeClr val="dk1"/>
                </a:solidFill>
              </a:rPr>
            </a:br>
            <a:r>
              <a:rPr lang="pl" sz="1200">
                <a:solidFill>
                  <a:schemeClr val="dk1"/>
                </a:solidFill>
              </a:rPr>
              <a:t> </a:t>
            </a:r>
            <a:r>
              <a:rPr i="1" lang="pl" sz="1200">
                <a:solidFill>
                  <a:schemeClr val="dk1"/>
                </a:solidFill>
              </a:rPr>
              <a:t>Five shapes, two frameworks, and when the DSL earns its keep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3. MCP as a Process Boundary</a:t>
            </a:r>
            <a:br>
              <a:rPr b="1" lang="pl" sz="1100">
                <a:solidFill>
                  <a:schemeClr val="dk1"/>
                </a:solidFill>
              </a:rPr>
            </a:br>
            <a:r>
              <a:rPr lang="pl" sz="1200">
                <a:solidFill>
                  <a:schemeClr val="dk1"/>
                </a:solidFill>
              </a:rPr>
              <a:t> </a:t>
            </a:r>
            <a:r>
              <a:rPr i="1" lang="pl" sz="1200">
                <a:solidFill>
                  <a:schemeClr val="dk1"/>
                </a:solidFill>
              </a:rPr>
              <a:t>Tools, resources and prompts over two transports: HTTP for agents, STDIO for Claude Desktop 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4. How Do You Know It Works? </a:t>
            </a:r>
            <a:br>
              <a:rPr b="1" lang="pl" sz="1100">
                <a:solidFill>
                  <a:schemeClr val="dk1"/>
                </a:solidFill>
              </a:rPr>
            </a:br>
            <a:r>
              <a:rPr lang="pl" sz="1200">
                <a:solidFill>
                  <a:schemeClr val="dk1"/>
                </a:solidFill>
              </a:rPr>
              <a:t> </a:t>
            </a:r>
            <a:r>
              <a:rPr i="1" lang="pl" sz="1200">
                <a:solidFill>
                  <a:schemeClr val="dk1"/>
                </a:solidFill>
              </a:rPr>
              <a:t>Traces, metrics, logs and dashboards for everything your agents actually do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2500"/>
              <a:t>The Agent Is a Loop</a:t>
            </a:r>
            <a:endParaRPr b="1" sz="2500"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251000" y="1152475"/>
            <a:ext cx="458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l" sz="1600">
                <a:solidFill>
                  <a:schemeClr val="dk1"/>
                </a:solidFill>
              </a:rPr>
              <a:t>What is an agent? 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l" sz="1600">
                <a:solidFill>
                  <a:schemeClr val="dk1"/>
                </a:solidFill>
              </a:rPr>
              <a:t>Build it</a:t>
            </a:r>
            <a:r>
              <a:rPr lang="pl" sz="1600">
                <a:solidFill>
                  <a:schemeClr val="dk1"/>
                </a:solidFill>
              </a:rPr>
              <a:t> </a:t>
            </a:r>
            <a:r>
              <a:rPr b="1" lang="pl" sz="1600">
                <a:solidFill>
                  <a:schemeClr val="dk1"/>
                </a:solidFill>
              </a:rPr>
              <a:t>-&gt;</a:t>
            </a:r>
            <a:r>
              <a:rPr lang="pl" sz="1600">
                <a:solidFill>
                  <a:schemeClr val="dk1"/>
                </a:solidFill>
              </a:rPr>
              <a:t> No framework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l" sz="1600">
                <a:solidFill>
                  <a:schemeClr val="dk1"/>
                </a:solidFill>
              </a:rPr>
              <a:t>Hide it</a:t>
            </a:r>
            <a:r>
              <a:rPr lang="pl" sz="1600">
                <a:solidFill>
                  <a:schemeClr val="dk1"/>
                </a:solidFill>
              </a:rPr>
              <a:t> </a:t>
            </a:r>
            <a:r>
              <a:rPr b="1" lang="pl" sz="1600">
                <a:solidFill>
                  <a:schemeClr val="dk1"/>
                </a:solidFill>
              </a:rPr>
              <a:t>-&gt;</a:t>
            </a:r>
            <a:r>
              <a:rPr lang="pl" sz="1600">
                <a:solidFill>
                  <a:schemeClr val="dk1"/>
                </a:solidFill>
              </a:rPr>
              <a:t> LangChain4j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l" sz="1600">
                <a:solidFill>
                  <a:schemeClr val="dk1"/>
                </a:solidFill>
              </a:rPr>
              <a:t>Control it</a:t>
            </a:r>
            <a:r>
              <a:rPr lang="pl" sz="1600">
                <a:solidFill>
                  <a:schemeClr val="dk1"/>
                </a:solidFill>
              </a:rPr>
              <a:t> </a:t>
            </a:r>
            <a:r>
              <a:rPr b="1" lang="pl" sz="1600">
                <a:solidFill>
                  <a:schemeClr val="dk1"/>
                </a:solidFill>
              </a:rPr>
              <a:t>-&gt;</a:t>
            </a:r>
            <a:r>
              <a:rPr lang="pl" sz="1600">
                <a:solidFill>
                  <a:schemeClr val="dk1"/>
                </a:solidFill>
              </a:rPr>
              <a:t> Spring AI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l" sz="1600">
                <a:solidFill>
                  <a:schemeClr val="dk1"/>
                </a:solidFill>
              </a:rPr>
              <a:t>Mix it  -&gt;</a:t>
            </a:r>
            <a:r>
              <a:rPr lang="pl" sz="1600">
                <a:solidFill>
                  <a:schemeClr val="dk1"/>
                </a:solidFill>
              </a:rPr>
              <a:t> One provider, ∞ protocols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l" sz="1600">
                <a:solidFill>
                  <a:schemeClr val="dk1"/>
                </a:solidFill>
              </a:rPr>
              <a:t>Pay for it</a:t>
            </a:r>
            <a:r>
              <a:rPr lang="pl" sz="1600">
                <a:solidFill>
                  <a:schemeClr val="dk1"/>
                </a:solidFill>
              </a:rPr>
              <a:t> </a:t>
            </a:r>
            <a:r>
              <a:rPr b="1" lang="pl" sz="1600">
                <a:solidFill>
                  <a:schemeClr val="dk1"/>
                </a:solidFill>
              </a:rPr>
              <a:t>-&gt;</a:t>
            </a:r>
            <a:r>
              <a:rPr lang="pl" sz="1600">
                <a:solidFill>
                  <a:schemeClr val="dk1"/>
                </a:solidFill>
              </a:rPr>
              <a:t> The cost tokens don't show 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46" name="Google Shape;1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426" y="624525"/>
            <a:ext cx="3894451" cy="38944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/>
              <a:t>W</a:t>
            </a:r>
            <a:r>
              <a:rPr b="1" lang="pl" sz="2500"/>
              <a:t>hat is an agent? 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1082250" y="2366700"/>
            <a:ext cx="9369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AGENT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2019150" y="2366700"/>
            <a:ext cx="9369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=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2365900" y="2366700"/>
            <a:ext cx="9369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LOOP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418300" y="2366700"/>
            <a:ext cx="18225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STOP CONDITION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3125575" y="2364000"/>
            <a:ext cx="50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+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5794025" y="19638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SUCCESS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58" name="Google Shape;158;p29"/>
          <p:cNvSpPr txBox="1"/>
          <p:nvPr/>
        </p:nvSpPr>
        <p:spPr>
          <a:xfrm>
            <a:off x="5794025" y="27768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FAILURE / LIMIT REACHED</a:t>
            </a:r>
            <a:endParaRPr b="1" sz="1500">
              <a:solidFill>
                <a:schemeClr val="dk1"/>
              </a:solidFill>
            </a:endParaRPr>
          </a:p>
        </p:txBody>
      </p:sp>
      <p:cxnSp>
        <p:nvCxnSpPr>
          <p:cNvPr id="159" name="Google Shape;159;p29"/>
          <p:cNvCxnSpPr>
            <a:stCxn id="155" idx="3"/>
            <a:endCxn id="157" idx="1"/>
          </p:cNvCxnSpPr>
          <p:nvPr/>
        </p:nvCxnSpPr>
        <p:spPr>
          <a:xfrm flipH="1" rot="10800000">
            <a:off x="5240800" y="2171550"/>
            <a:ext cx="553200" cy="40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9"/>
          <p:cNvCxnSpPr>
            <a:stCxn id="155" idx="3"/>
            <a:endCxn id="158" idx="1"/>
          </p:cNvCxnSpPr>
          <p:nvPr/>
        </p:nvCxnSpPr>
        <p:spPr>
          <a:xfrm>
            <a:off x="5240800" y="2571750"/>
            <a:ext cx="553200" cy="4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25" y="516225"/>
            <a:ext cx="8898773" cy="41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Raw Agent</a:t>
            </a:r>
            <a:endParaRPr b="1"/>
          </a:p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2026800" y="3748775"/>
            <a:ext cx="16242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6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strandsagents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77" name="Google Shape;17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3877" y="373013"/>
            <a:ext cx="3736750" cy="4397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32"/>
          <p:cNvSpPr txBox="1"/>
          <p:nvPr/>
        </p:nvSpPr>
        <p:spPr>
          <a:xfrm>
            <a:off x="2002575" y="3400850"/>
            <a:ext cx="89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openai</a:t>
            </a:r>
            <a:endParaRPr b="1" sz="1600" u="sng">
              <a:solidFill>
                <a:schemeClr val="dk1"/>
              </a:solidFill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22100" y="3646850"/>
            <a:ext cx="92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sources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180" name="Google Shape;180;p32"/>
          <p:cNvCxnSpPr>
            <a:stCxn id="179" idx="3"/>
            <a:endCxn id="176" idx="1"/>
          </p:cNvCxnSpPr>
          <p:nvPr/>
        </p:nvCxnSpPr>
        <p:spPr>
          <a:xfrm>
            <a:off x="1344600" y="3862400"/>
            <a:ext cx="682200" cy="13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32"/>
          <p:cNvCxnSpPr>
            <a:stCxn id="179" idx="3"/>
            <a:endCxn id="178" idx="1"/>
          </p:cNvCxnSpPr>
          <p:nvPr/>
        </p:nvCxnSpPr>
        <p:spPr>
          <a:xfrm flipH="1" rot="10800000">
            <a:off x="1344600" y="3616400"/>
            <a:ext cx="657900" cy="24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32"/>
          <p:cNvSpPr txBox="1"/>
          <p:nvPr/>
        </p:nvSpPr>
        <p:spPr>
          <a:xfrm>
            <a:off x="422100" y="2356213"/>
            <a:ext cx="373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stop condition = no more tool calls 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83" name="Google Shape;183;p32"/>
          <p:cNvSpPr txBox="1"/>
          <p:nvPr/>
        </p:nvSpPr>
        <p:spPr>
          <a:xfrm>
            <a:off x="422100" y="122490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The loop exits when the model stops requesting tools.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817">
                <a:latin typeface="Roboto"/>
                <a:ea typeface="Roboto"/>
                <a:cs typeface="Roboto"/>
                <a:sym typeface="Roboto"/>
              </a:rPr>
              <a:t>The request body structure</a:t>
            </a:r>
            <a:endParaRPr b="1" sz="28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-280425" y="2288700"/>
            <a:ext cx="6516600" cy="23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MODEL</a:t>
            </a:r>
            <a:r>
              <a:rPr lang="pl" sz="1600">
                <a:solidFill>
                  <a:schemeClr val="dk1"/>
                </a:solidFill>
              </a:rPr>
              <a:t>               → the model that handles this request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MESSAGES</a:t>
            </a:r>
            <a:r>
              <a:rPr lang="pl" sz="1600">
                <a:solidFill>
                  <a:schemeClr val="dk1"/>
                </a:solidFill>
              </a:rPr>
              <a:t>        → the whole conversation, resent on every call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TOOLS</a:t>
            </a:r>
            <a:r>
              <a:rPr lang="pl" sz="1600">
                <a:solidFill>
                  <a:schemeClr val="dk1"/>
                </a:solidFill>
              </a:rPr>
              <a:t>                → your Java methods, exposed to the model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TEMPERATURE</a:t>
            </a:r>
            <a:r>
              <a:rPr lang="pl" sz="1600">
                <a:solidFill>
                  <a:schemeClr val="dk1"/>
                </a:solidFill>
              </a:rPr>
              <a:t> → how deterministic the answer is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STREAM</a:t>
            </a:r>
            <a:r>
              <a:rPr lang="pl" sz="1600">
                <a:solidFill>
                  <a:schemeClr val="dk1"/>
                </a:solidFill>
              </a:rPr>
              <a:t>             →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90" name="Google Shape;1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400" y="2055950"/>
            <a:ext cx="2604900" cy="1629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" name="Google Shape;191;p33"/>
          <p:cNvSpPr txBox="1"/>
          <p:nvPr/>
        </p:nvSpPr>
        <p:spPr>
          <a:xfrm>
            <a:off x="-96575" y="1214400"/>
            <a:ext cx="5274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Every exchange with the model is JSON. The framework only decides who writes it.</a:t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  <p:sp>
        <p:nvSpPr>
          <p:cNvPr id="192" name="Google Shape;192;p33"/>
          <p:cNvSpPr txBox="1"/>
          <p:nvPr/>
        </p:nvSpPr>
        <p:spPr>
          <a:xfrm>
            <a:off x="1566525" y="3955050"/>
            <a:ext cx="387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false: one complete response</a:t>
            </a:r>
            <a:endParaRPr/>
          </a:p>
        </p:txBody>
      </p:sp>
      <p:sp>
        <p:nvSpPr>
          <p:cNvPr id="193" name="Google Shape;193;p33"/>
          <p:cNvSpPr txBox="1"/>
          <p:nvPr/>
        </p:nvSpPr>
        <p:spPr>
          <a:xfrm>
            <a:off x="2025675" y="4200900"/>
            <a:ext cx="400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true: chunks as they are generated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The request body as JSON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273025" y="1399075"/>
            <a:ext cx="5031000" cy="31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MESSAGES </a:t>
            </a:r>
            <a:r>
              <a:rPr lang="pl" sz="1600">
                <a:solidFill>
                  <a:schemeClr val="dk1"/>
                </a:solidFill>
              </a:rPr>
              <a:t>[]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SYSTEM </a:t>
            </a:r>
            <a:r>
              <a:rPr lang="pl" sz="1600">
                <a:solidFill>
                  <a:schemeClr val="dk1"/>
                </a:solidFill>
              </a:rPr>
              <a:t>      →  the instructions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USER </a:t>
            </a:r>
            <a:r>
              <a:rPr lang="pl" sz="1600">
                <a:solidFill>
                  <a:schemeClr val="dk1"/>
                </a:solidFill>
              </a:rPr>
              <a:t>           →  the question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ASSISTANT </a:t>
            </a:r>
            <a:r>
              <a:rPr lang="pl" sz="1600">
                <a:solidFill>
                  <a:schemeClr val="dk1"/>
                </a:solidFill>
              </a:rPr>
              <a:t> →  a request for a tool                     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TOOL </a:t>
            </a:r>
            <a:r>
              <a:rPr lang="pl" sz="1600">
                <a:solidFill>
                  <a:schemeClr val="dk1"/>
                </a:solidFill>
              </a:rPr>
              <a:t>           →  the result your code produced     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ASSISTANT </a:t>
            </a:r>
            <a:r>
              <a:rPr lang="pl" sz="1600">
                <a:solidFill>
                  <a:schemeClr val="dk1"/>
                </a:solidFill>
              </a:rPr>
              <a:t> →  the answer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00" name="Google Shape;200;p34"/>
          <p:cNvSpPr txBox="1"/>
          <p:nvPr/>
        </p:nvSpPr>
        <p:spPr>
          <a:xfrm>
            <a:off x="4864000" y="2929600"/>
            <a:ext cx="8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LOOP</a:t>
            </a:r>
            <a:endParaRPr/>
          </a:p>
        </p:txBody>
      </p:sp>
      <p:pic>
        <p:nvPicPr>
          <p:cNvPr id="201" name="Google Shape;20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3150" y="285013"/>
            <a:ext cx="2326950" cy="45734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2" name="Google Shape;202;p34"/>
          <p:cNvSpPr txBox="1"/>
          <p:nvPr/>
        </p:nvSpPr>
        <p:spPr>
          <a:xfrm>
            <a:off x="4656225" y="2723825"/>
            <a:ext cx="47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┐</a:t>
            </a:r>
            <a:endParaRPr/>
          </a:p>
        </p:txBody>
      </p:sp>
      <p:sp>
        <p:nvSpPr>
          <p:cNvPr id="203" name="Google Shape;203;p34"/>
          <p:cNvSpPr txBox="1"/>
          <p:nvPr/>
        </p:nvSpPr>
        <p:spPr>
          <a:xfrm>
            <a:off x="4656225" y="3154925"/>
            <a:ext cx="43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┘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The request body as JSON </a:t>
            </a:r>
            <a:endParaRPr b="1"/>
          </a:p>
        </p:txBody>
      </p:sp>
      <p:sp>
        <p:nvSpPr>
          <p:cNvPr descr="JSON" id="209" name="Google Shape;209;p35"/>
          <p:cNvSpPr txBox="1"/>
          <p:nvPr>
            <p:ph idx="1" type="body"/>
          </p:nvPr>
        </p:nvSpPr>
        <p:spPr>
          <a:xfrm>
            <a:off x="432575" y="1645625"/>
            <a:ext cx="52485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MESSAGES </a:t>
            </a:r>
            <a:r>
              <a:rPr lang="pl" sz="1600">
                <a:solidFill>
                  <a:schemeClr val="dk1"/>
                </a:solidFill>
              </a:rPr>
              <a:t>[]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SYSTEM </a:t>
            </a:r>
            <a:r>
              <a:rPr lang="pl" sz="1600">
                <a:solidFill>
                  <a:schemeClr val="dk1"/>
                </a:solidFill>
              </a:rPr>
              <a:t>      →  written by dev, before the conversation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USER </a:t>
            </a:r>
            <a:r>
              <a:rPr lang="pl" sz="1600">
                <a:solidFill>
                  <a:schemeClr val="dk1"/>
                </a:solidFill>
              </a:rPr>
              <a:t>           →  written by the user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ASSISTANT </a:t>
            </a:r>
            <a:r>
              <a:rPr lang="pl" sz="1600">
                <a:solidFill>
                  <a:schemeClr val="dk1"/>
                </a:solidFill>
              </a:rPr>
              <a:t> →  written by the model             ┐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TOOL </a:t>
            </a:r>
            <a:r>
              <a:rPr lang="pl" sz="1600">
                <a:solidFill>
                  <a:schemeClr val="dk1"/>
                </a:solidFill>
              </a:rPr>
              <a:t>           →  written by your the app         ┘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ASSISTANT </a:t>
            </a:r>
            <a:r>
              <a:rPr lang="pl" sz="1600">
                <a:solidFill>
                  <a:schemeClr val="dk1"/>
                </a:solidFill>
              </a:rPr>
              <a:t> →  written by the model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10" name="Google Shape;210;p35"/>
          <p:cNvSpPr txBox="1"/>
          <p:nvPr/>
        </p:nvSpPr>
        <p:spPr>
          <a:xfrm>
            <a:off x="4827850" y="31821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LOOP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11" name="Google Shape;211;p35"/>
          <p:cNvSpPr txBox="1"/>
          <p:nvPr/>
        </p:nvSpPr>
        <p:spPr>
          <a:xfrm>
            <a:off x="86875" y="1194875"/>
            <a:ext cx="509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2500"/>
              <a:t>SYSTEM ROLE </a:t>
            </a:r>
            <a:endParaRPr b="1" sz="2500"/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625" y="2978425"/>
            <a:ext cx="6848475" cy="10858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8" name="Google Shape;218;p36"/>
          <p:cNvSpPr txBox="1"/>
          <p:nvPr/>
        </p:nvSpPr>
        <p:spPr>
          <a:xfrm>
            <a:off x="819625" y="1489200"/>
            <a:ext cx="46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system prompt is the job description.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Written once, before anyone asks anything.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USER ROLE</a:t>
            </a:r>
            <a:endParaRPr b="1"/>
          </a:p>
        </p:txBody>
      </p:sp>
      <p:pic>
        <p:nvPicPr>
          <p:cNvPr id="224" name="Google Shape;2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5075" y="3314450"/>
            <a:ext cx="4410075" cy="1019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5" name="Google Shape;225;p37"/>
          <p:cNvSpPr txBox="1"/>
          <p:nvPr/>
        </p:nvSpPr>
        <p:spPr>
          <a:xfrm>
            <a:off x="517350" y="1465025"/>
            <a:ext cx="695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question.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The only message a human wrote. It never appears again in the loop. 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2500"/>
              <a:t>ASSISTANT ROLE</a:t>
            </a:r>
            <a:endParaRPr b="1" sz="2500"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538" y="2400725"/>
            <a:ext cx="4276725" cy="2305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p38"/>
          <p:cNvSpPr txBox="1"/>
          <p:nvPr/>
        </p:nvSpPr>
        <p:spPr>
          <a:xfrm>
            <a:off x="575375" y="1232925"/>
            <a:ext cx="687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model either asks for a tool, or gives the final answer.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A tool request means the loop continues.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TOOL ROLE</a:t>
            </a:r>
            <a:endParaRPr b="1"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563" y="3137438"/>
            <a:ext cx="4124325" cy="1266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9" name="Google Shape;239;p39"/>
          <p:cNvSpPr txBox="1"/>
          <p:nvPr/>
        </p:nvSpPr>
        <p:spPr>
          <a:xfrm>
            <a:off x="439975" y="1416675"/>
            <a:ext cx="8011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result. Written by your app, never by the model.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tool_call_id</a:t>
            </a:r>
            <a:r>
              <a:rPr lang="pl" sz="1600">
                <a:solidFill>
                  <a:schemeClr val="dk1"/>
                </a:solidFill>
              </a:rPr>
              <a:t> matches the request, because the model may ask for several at once. 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TOOLS</a:t>
            </a:r>
            <a:endParaRPr b="1"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6775" y="1800588"/>
            <a:ext cx="2698825" cy="3037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6" name="Google Shape;24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450" y="1815825"/>
            <a:ext cx="3502294" cy="3007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7" name="Google Shape;247;p40"/>
          <p:cNvSpPr txBox="1"/>
          <p:nvPr/>
        </p:nvSpPr>
        <p:spPr>
          <a:xfrm>
            <a:off x="311700" y="1078225"/>
            <a:ext cx="759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list of functions that the model may call, each with a description.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The description is the only thing the model knows about your code.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O</a:t>
            </a:r>
            <a:r>
              <a:rPr b="1" lang="pl"/>
              <a:t>bservability</a:t>
            </a:r>
            <a:endParaRPr b="1"/>
          </a:p>
        </p:txBody>
      </p:sp>
      <p:pic>
        <p:nvPicPr>
          <p:cNvPr id="253" name="Google Shape;25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50" y="1579225"/>
            <a:ext cx="4104999" cy="242523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4" name="Google Shape;25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2309" y="1579225"/>
            <a:ext cx="4778090" cy="2425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LangChain4j Agent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2"/>
          <p:cNvSpPr txBox="1"/>
          <p:nvPr>
            <p:ph idx="1" type="body"/>
          </p:nvPr>
        </p:nvSpPr>
        <p:spPr>
          <a:xfrm>
            <a:off x="237000" y="1256525"/>
            <a:ext cx="262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Everything AiServices does, LangChain4j also lets you do yourself.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Same library, same tools, same model. Only the level of abstraction moves.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61" name="Google Shape;26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9900" y="1274300"/>
            <a:ext cx="6007199" cy="33808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LangChain4j Abstraction</a:t>
            </a:r>
            <a:endParaRPr b="1"/>
          </a:p>
        </p:txBody>
      </p:sp>
      <p:sp>
        <p:nvSpPr>
          <p:cNvPr id="267" name="Google Shape;267;p43"/>
          <p:cNvSpPr txBox="1"/>
          <p:nvPr>
            <p:ph idx="1" type="body"/>
          </p:nvPr>
        </p:nvSpPr>
        <p:spPr>
          <a:xfrm>
            <a:off x="311700" y="1751400"/>
            <a:ext cx="7585200" cy="16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ChatModel </a:t>
            </a:r>
            <a:r>
              <a:rPr lang="pl" sz="1600">
                <a:solidFill>
                  <a:schemeClr val="dk1"/>
                </a:solidFill>
              </a:rPr>
              <a:t>           →  you run the loop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AiServices </a:t>
            </a:r>
            <a:r>
              <a:rPr lang="pl" sz="1600">
                <a:solidFill>
                  <a:schemeClr val="dk1"/>
                </a:solidFill>
              </a:rPr>
              <a:t>           →  the framework runs it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AgenticServices   </a:t>
            </a:r>
            <a:r>
              <a:rPr lang="pl" sz="1600">
                <a:solidFill>
                  <a:schemeClr val="dk1"/>
                </a:solidFill>
              </a:rPr>
              <a:t>→  you declare where it stops   [part Ⅱ]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LangChain4j Loop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877400" y="1107100"/>
            <a:ext cx="2047800" cy="4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with </a:t>
            </a:r>
            <a:r>
              <a:rPr lang="pl" sz="1600">
                <a:solidFill>
                  <a:schemeClr val="dk1"/>
                </a:solidFill>
              </a:rPr>
              <a:t>AiServices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74" name="Google Shape;274;p44"/>
          <p:cNvSpPr txBox="1"/>
          <p:nvPr/>
        </p:nvSpPr>
        <p:spPr>
          <a:xfrm>
            <a:off x="5035800" y="1115500"/>
            <a:ext cx="212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without AiServices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75" name="Google Shape;27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5950" y="1576675"/>
            <a:ext cx="4373950" cy="3262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6" name="Google Shape;276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25" y="1576675"/>
            <a:ext cx="3517375" cy="1206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8" name="Google Shape;278;p44"/>
          <p:cNvSpPr txBox="1"/>
          <p:nvPr/>
        </p:nvSpPr>
        <p:spPr>
          <a:xfrm>
            <a:off x="311700" y="301840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.toolProvider(toolProvider)</a:t>
            </a:r>
            <a:r>
              <a:rPr lang="pl" sz="1600">
                <a:solidFill>
                  <a:schemeClr val="dk1"/>
                </a:solidFill>
              </a:rPr>
              <a:t>is a </a:t>
            </a:r>
            <a:r>
              <a:rPr lang="pl" sz="1600">
                <a:solidFill>
                  <a:schemeClr val="dk1"/>
                </a:solidFill>
              </a:rPr>
              <a:t>custom provider, wrapped for observability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9" name="Google Shape;279;p44"/>
          <p:cNvSpPr txBox="1"/>
          <p:nvPr/>
        </p:nvSpPr>
        <p:spPr>
          <a:xfrm>
            <a:off x="311690" y="4010975"/>
            <a:ext cx="3567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.tools(demoTools)</a:t>
            </a:r>
            <a:r>
              <a:rPr lang="pl" sz="1600">
                <a:solidFill>
                  <a:schemeClr val="dk1"/>
                </a:solidFill>
              </a:rPr>
              <a:t>is simpler, but invisible in traces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Traces</a:t>
            </a:r>
            <a:endParaRPr b="1"/>
          </a:p>
        </p:txBody>
      </p:sp>
      <p:pic>
        <p:nvPicPr>
          <p:cNvPr id="285" name="Google Shape;28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5050" y="1762225"/>
            <a:ext cx="4069501" cy="26264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6" name="Google Shape;28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000" y="1762225"/>
            <a:ext cx="4069501" cy="262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7" name="Google Shape;287;p45"/>
          <p:cNvSpPr txBox="1"/>
          <p:nvPr/>
        </p:nvSpPr>
        <p:spPr>
          <a:xfrm>
            <a:off x="1061900" y="12485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with AiServices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88" name="Google Shape;288;p45"/>
          <p:cNvSpPr txBox="1"/>
          <p:nvPr/>
        </p:nvSpPr>
        <p:spPr>
          <a:xfrm>
            <a:off x="5423750" y="12485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without AiServices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Logs</a:t>
            </a:r>
            <a:endParaRPr b="1"/>
          </a:p>
        </p:txBody>
      </p:sp>
      <p:pic>
        <p:nvPicPr>
          <p:cNvPr id="294" name="Google Shape;29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0625" y="3227600"/>
            <a:ext cx="4325874" cy="1145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5" name="Google Shape;29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100" y="3227588"/>
            <a:ext cx="4288300" cy="609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6" name="Google Shape;296;p46"/>
          <p:cNvSpPr txBox="1"/>
          <p:nvPr/>
        </p:nvSpPr>
        <p:spPr>
          <a:xfrm>
            <a:off x="712850" y="1525325"/>
            <a:ext cx="622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loop is still observable, just not from the inside.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You can register a listener; you don't add a line.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97" name="Google Shape;297;p46"/>
          <p:cNvSpPr txBox="1"/>
          <p:nvPr/>
        </p:nvSpPr>
        <p:spPr>
          <a:xfrm>
            <a:off x="1176200" y="2526700"/>
            <a:ext cx="170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with AiServices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98" name="Google Shape;298;p46"/>
          <p:cNvSpPr txBox="1"/>
          <p:nvPr/>
        </p:nvSpPr>
        <p:spPr>
          <a:xfrm>
            <a:off x="5599150" y="25267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without AiServices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2500"/>
              <a:t>AgenticServices </a:t>
            </a:r>
            <a:endParaRPr sz="2500"/>
          </a:p>
        </p:txBody>
      </p:sp>
      <p:sp>
        <p:nvSpPr>
          <p:cNvPr id="304" name="Google Shape;304;p47"/>
          <p:cNvSpPr txBox="1"/>
          <p:nvPr/>
        </p:nvSpPr>
        <p:spPr>
          <a:xfrm>
            <a:off x="2638675" y="1570350"/>
            <a:ext cx="3140700" cy="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More in chapter Ⅱ </a:t>
            </a:r>
            <a:endParaRPr sz="16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  <p:pic>
        <p:nvPicPr>
          <p:cNvPr id="305" name="Google Shape;30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25" y="2327225"/>
            <a:ext cx="7905750" cy="2181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Spring AI</a:t>
            </a:r>
            <a:endParaRPr b="1"/>
          </a:p>
        </p:txBody>
      </p:sp>
      <p:pic>
        <p:nvPicPr>
          <p:cNvPr id="311" name="Google Shape;31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5275" y="746725"/>
            <a:ext cx="2621475" cy="39380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2" name="Google Shape;312;p48"/>
          <p:cNvSpPr txBox="1"/>
          <p:nvPr/>
        </p:nvSpPr>
        <p:spPr>
          <a:xfrm>
            <a:off x="238125" y="1596550"/>
            <a:ext cx="48912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Everything the loop does, Spring AI lets you reach.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Same chain, same client, same model. Only one advisor is the loop.  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What an Advisor is?</a:t>
            </a:r>
            <a:endParaRPr b="1"/>
          </a:p>
        </p:txBody>
      </p:sp>
      <p:sp>
        <p:nvSpPr>
          <p:cNvPr id="318" name="Google Shape;318;p49"/>
          <p:cNvSpPr txBox="1"/>
          <p:nvPr>
            <p:ph idx="1" type="body"/>
          </p:nvPr>
        </p:nvSpPr>
        <p:spPr>
          <a:xfrm>
            <a:off x="311700" y="1152475"/>
            <a:ext cx="8119200" cy="15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An Advisor is middleware between your application and the AI model. It works similarly to an aspect, allowing you to add behavior around AI interactions. </a:t>
            </a:r>
            <a:r>
              <a:rPr lang="pl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It can modify requests, process responses, and control the flow of interactions with the model, keeping this logic separate from your application code.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319" name="Google Shape;31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500" y="2571750"/>
            <a:ext cx="6262450" cy="241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Advisor Code S</a:t>
            </a:r>
            <a:r>
              <a:rPr b="1" lang="pl"/>
              <a:t>nippet</a:t>
            </a:r>
            <a:r>
              <a:rPr b="1" lang="pl"/>
              <a:t> </a:t>
            </a:r>
            <a:endParaRPr b="1"/>
          </a:p>
        </p:txBody>
      </p:sp>
      <p:pic>
        <p:nvPicPr>
          <p:cNvPr id="325" name="Google Shape;32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750" y="1665675"/>
            <a:ext cx="5182874" cy="2555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6" name="Google Shape;326;p50"/>
          <p:cNvCxnSpPr/>
          <p:nvPr/>
        </p:nvCxnSpPr>
        <p:spPr>
          <a:xfrm flipH="1" rot="10800000">
            <a:off x="3687700" y="2111025"/>
            <a:ext cx="2722500" cy="80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p50"/>
          <p:cNvCxnSpPr/>
          <p:nvPr/>
        </p:nvCxnSpPr>
        <p:spPr>
          <a:xfrm flipH="1" rot="10800000">
            <a:off x="5552025" y="3185600"/>
            <a:ext cx="928800" cy="12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p50"/>
          <p:cNvSpPr txBox="1"/>
          <p:nvPr/>
        </p:nvSpPr>
        <p:spPr>
          <a:xfrm>
            <a:off x="6191250" y="2645125"/>
            <a:ext cx="2143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F1F1F"/>
              </a:solidFill>
              <a:highlight>
                <a:srgbClr val="F8F9FA"/>
              </a:highlight>
            </a:endParaRPr>
          </a:p>
        </p:txBody>
      </p:sp>
      <p:sp>
        <p:nvSpPr>
          <p:cNvPr id="329" name="Google Shape;329;p50"/>
          <p:cNvSpPr txBox="1"/>
          <p:nvPr/>
        </p:nvSpPr>
        <p:spPr>
          <a:xfrm>
            <a:off x="6480825" y="2838200"/>
            <a:ext cx="2600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Parameter configuration for advisors (linking an identifier with a message)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30" name="Google Shape;330;p50"/>
          <p:cNvSpPr txBox="1"/>
          <p:nvPr/>
        </p:nvSpPr>
        <p:spPr>
          <a:xfrm>
            <a:off x="6522675" y="1506462"/>
            <a:ext cx="2516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pl" sz="1600">
                <a:solidFill>
                  <a:schemeClr val="dk1"/>
                </a:solidFill>
              </a:rPr>
            </a:br>
            <a:r>
              <a:rPr lang="pl" sz="1600">
                <a:solidFill>
                  <a:schemeClr val="dk1"/>
                </a:solidFill>
              </a:rPr>
              <a:t>Adding advisors to the chain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Before and After</a:t>
            </a:r>
            <a:endParaRPr b="1"/>
          </a:p>
        </p:txBody>
      </p:sp>
      <p:pic>
        <p:nvPicPr>
          <p:cNvPr id="336" name="Google Shape;33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024" y="1627199"/>
            <a:ext cx="4667201" cy="2762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7" name="Google Shape;33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100" y="1287625"/>
            <a:ext cx="3295950" cy="3603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38" name="Google Shape;338;p51"/>
          <p:cNvCxnSpPr/>
          <p:nvPr/>
        </p:nvCxnSpPr>
        <p:spPr>
          <a:xfrm>
            <a:off x="5560550" y="4035250"/>
            <a:ext cx="24519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51"/>
          <p:cNvCxnSpPr/>
          <p:nvPr/>
        </p:nvCxnSpPr>
        <p:spPr>
          <a:xfrm>
            <a:off x="5560550" y="3898050"/>
            <a:ext cx="2954100" cy="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51"/>
          <p:cNvCxnSpPr/>
          <p:nvPr/>
        </p:nvCxnSpPr>
        <p:spPr>
          <a:xfrm>
            <a:off x="5618450" y="3278150"/>
            <a:ext cx="2934900" cy="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51"/>
          <p:cNvCxnSpPr/>
          <p:nvPr/>
        </p:nvCxnSpPr>
        <p:spPr>
          <a:xfrm>
            <a:off x="5570150" y="3147375"/>
            <a:ext cx="2526000" cy="6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51"/>
          <p:cNvSpPr txBox="1"/>
          <p:nvPr/>
        </p:nvSpPr>
        <p:spPr>
          <a:xfrm>
            <a:off x="8051200" y="3853025"/>
            <a:ext cx="20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700">
                <a:solidFill>
                  <a:srgbClr val="FF0000"/>
                </a:solidFill>
              </a:rPr>
              <a:t>1</a:t>
            </a:r>
            <a:endParaRPr b="1" sz="700">
              <a:solidFill>
                <a:srgbClr val="FF0000"/>
              </a:solidFill>
            </a:endParaRPr>
          </a:p>
        </p:txBody>
      </p:sp>
      <p:sp>
        <p:nvSpPr>
          <p:cNvPr id="343" name="Google Shape;343;p51"/>
          <p:cNvSpPr txBox="1"/>
          <p:nvPr/>
        </p:nvSpPr>
        <p:spPr>
          <a:xfrm>
            <a:off x="8030800" y="2943175"/>
            <a:ext cx="24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700">
                <a:solidFill>
                  <a:srgbClr val="FF0000"/>
                </a:solidFill>
              </a:rPr>
              <a:t>1</a:t>
            </a:r>
            <a:endParaRPr b="1" sz="700">
              <a:solidFill>
                <a:srgbClr val="FF0000"/>
              </a:solidFill>
            </a:endParaRPr>
          </a:p>
        </p:txBody>
      </p:sp>
      <p:sp>
        <p:nvSpPr>
          <p:cNvPr id="344" name="Google Shape;344;p51"/>
          <p:cNvSpPr txBox="1"/>
          <p:nvPr/>
        </p:nvSpPr>
        <p:spPr>
          <a:xfrm>
            <a:off x="8514650" y="3702925"/>
            <a:ext cx="24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700">
                <a:solidFill>
                  <a:srgbClr val="FF0000"/>
                </a:solidFill>
              </a:rPr>
              <a:t>2</a:t>
            </a:r>
            <a:endParaRPr b="1" sz="700">
              <a:solidFill>
                <a:srgbClr val="FF0000"/>
              </a:solidFill>
            </a:endParaRPr>
          </a:p>
        </p:txBody>
      </p:sp>
      <p:sp>
        <p:nvSpPr>
          <p:cNvPr id="345" name="Google Shape;345;p51"/>
          <p:cNvSpPr txBox="1"/>
          <p:nvPr/>
        </p:nvSpPr>
        <p:spPr>
          <a:xfrm>
            <a:off x="8514650" y="3069625"/>
            <a:ext cx="24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700">
                <a:solidFill>
                  <a:srgbClr val="FF0000"/>
                </a:solidFill>
              </a:rPr>
              <a:t>2</a:t>
            </a:r>
            <a:endParaRPr b="1" sz="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Advisor (debug logging off)</a:t>
            </a:r>
            <a:endParaRPr b="1"/>
          </a:p>
        </p:txBody>
      </p:sp>
      <p:pic>
        <p:nvPicPr>
          <p:cNvPr id="351" name="Google Shape;35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177200"/>
            <a:ext cx="4340649" cy="37842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2" name="Google Shape;35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6122" y="1639950"/>
            <a:ext cx="4186853" cy="255513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3" name="Google Shape;353;p52"/>
          <p:cNvSpPr/>
          <p:nvPr/>
        </p:nvSpPr>
        <p:spPr>
          <a:xfrm>
            <a:off x="785175" y="3391675"/>
            <a:ext cx="1563900" cy="1544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54" name="Google Shape;354;p52"/>
          <p:cNvSpPr txBox="1"/>
          <p:nvPr/>
        </p:nvSpPr>
        <p:spPr>
          <a:xfrm>
            <a:off x="356750" y="3391675"/>
            <a:ext cx="83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700">
                <a:solidFill>
                  <a:srgbClr val="FF0000"/>
                </a:solidFill>
              </a:rPr>
              <a:t>LOOP</a:t>
            </a:r>
            <a:endParaRPr b="1" sz="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Advisor </a:t>
            </a:r>
            <a:r>
              <a:rPr b="1" lang="pl"/>
              <a:t>Order</a:t>
            </a:r>
            <a:endParaRPr b="1"/>
          </a:p>
        </p:txBody>
      </p:sp>
      <p:sp>
        <p:nvSpPr>
          <p:cNvPr id="360" name="Google Shape;360;p53"/>
          <p:cNvSpPr txBox="1"/>
          <p:nvPr>
            <p:ph idx="1" type="body"/>
          </p:nvPr>
        </p:nvSpPr>
        <p:spPr>
          <a:xfrm>
            <a:off x="356750" y="2591050"/>
            <a:ext cx="3344100" cy="22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l" sz="1600">
                <a:solidFill>
                  <a:schemeClr val="dk1"/>
                </a:solidFill>
              </a:rPr>
              <a:t>Lower order = earlier in the chain, farther from the model </a:t>
            </a:r>
            <a:r>
              <a:rPr lang="pl" sz="1600">
                <a:solidFill>
                  <a:schemeClr val="dk1"/>
                </a:solidFill>
              </a:rPr>
              <a:t>[LLM]</a:t>
            </a:r>
            <a:r>
              <a:rPr lang="pl" sz="1600">
                <a:solidFill>
                  <a:schemeClr val="dk1"/>
                </a:solidFill>
              </a:rPr>
              <a:t>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pl" sz="1600">
                <a:solidFill>
                  <a:schemeClr val="dk1"/>
                </a:solidFill>
              </a:rPr>
              <a:t>Higher order = later in the chain, closer to the model [LLM].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61" name="Google Shape;361;p53"/>
          <p:cNvSpPr txBox="1"/>
          <p:nvPr/>
        </p:nvSpPr>
        <p:spPr>
          <a:xfrm>
            <a:off x="4891550" y="1248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3"/>
          <p:cNvSpPr txBox="1"/>
          <p:nvPr/>
        </p:nvSpPr>
        <p:spPr>
          <a:xfrm>
            <a:off x="311700" y="1410300"/>
            <a:ext cx="447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execution order of advisors in the chain is determined by the </a:t>
            </a:r>
            <a:r>
              <a:rPr b="1"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getOrder()</a:t>
            </a:r>
            <a:r>
              <a:rPr b="1" lang="pl" sz="1600">
                <a:solidFill>
                  <a:schemeClr val="dk1"/>
                </a:solidFill>
              </a:rPr>
              <a:t> method.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363" name="Google Shape;36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650" y="1391000"/>
            <a:ext cx="1846431" cy="3209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/>
              <a:t>Example of </a:t>
            </a:r>
            <a:r>
              <a:rPr b="1" lang="pl" sz="2500"/>
              <a:t>Advisors</a:t>
            </a:r>
            <a:endParaRPr b="1" sz="2500"/>
          </a:p>
        </p:txBody>
      </p:sp>
      <p:sp>
        <p:nvSpPr>
          <p:cNvPr id="369" name="Google Shape;369;p54"/>
          <p:cNvSpPr txBox="1"/>
          <p:nvPr>
            <p:ph idx="1" type="body"/>
          </p:nvPr>
        </p:nvSpPr>
        <p:spPr>
          <a:xfrm>
            <a:off x="311700" y="1152475"/>
            <a:ext cx="656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MessageChatMemoryAdvisor </a:t>
            </a:r>
            <a:r>
              <a:rPr lang="pl" sz="1600">
                <a:solidFill>
                  <a:schemeClr val="dk1"/>
                </a:solidFill>
              </a:rPr>
              <a:t>→ adds history as separate messages  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QuestionAnswerAdvisor </a:t>
            </a:r>
            <a:r>
              <a:rPr lang="pl" sz="1600">
                <a:solidFill>
                  <a:schemeClr val="dk1"/>
                </a:solidFill>
              </a:rPr>
              <a:t>→ adds context from a vector store (RAG)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SafeGuardAdvisor </a:t>
            </a:r>
            <a:r>
              <a:rPr lang="pl" sz="1600">
                <a:solidFill>
                  <a:schemeClr val="dk1"/>
                </a:solidFill>
              </a:rPr>
              <a:t>→ checks responses for disallowed content 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ToolCallingAdvisor </a:t>
            </a:r>
            <a:r>
              <a:rPr lang="pl" sz="1600">
                <a:solidFill>
                  <a:schemeClr val="dk1"/>
                </a:solidFill>
              </a:rPr>
              <a:t>→ owns the tool calling lifecycle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SimpleLoggerAdvisor </a:t>
            </a:r>
            <a:r>
              <a:rPr lang="pl" sz="1600">
                <a:solidFill>
                  <a:schemeClr val="dk1"/>
                </a:solidFill>
              </a:rPr>
              <a:t>→ logs request and response information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4"/>
          <p:cNvSpPr txBox="1"/>
          <p:nvPr/>
        </p:nvSpPr>
        <p:spPr>
          <a:xfrm>
            <a:off x="7047200" y="1152475"/>
            <a:ext cx="191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MIN_VALUE + 200 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371" name="Google Shape;371;p54"/>
          <p:cNvSpPr txBox="1"/>
          <p:nvPr/>
        </p:nvSpPr>
        <p:spPr>
          <a:xfrm>
            <a:off x="7047200" y="2598475"/>
            <a:ext cx="191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MIN_VALUE + 300 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372" name="Google Shape;372;p54"/>
          <p:cNvSpPr txBox="1"/>
          <p:nvPr/>
        </p:nvSpPr>
        <p:spPr>
          <a:xfrm>
            <a:off x="7047200" y="515825"/>
            <a:ext cx="191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Order ID Value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373" name="Google Shape;373;p54"/>
          <p:cNvSpPr txBox="1"/>
          <p:nvPr/>
        </p:nvSpPr>
        <p:spPr>
          <a:xfrm>
            <a:off x="7103075" y="1626650"/>
            <a:ext cx="32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0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374" name="Google Shape;374;p54"/>
          <p:cNvSpPr txBox="1"/>
          <p:nvPr/>
        </p:nvSpPr>
        <p:spPr>
          <a:xfrm>
            <a:off x="7103075" y="2112563"/>
            <a:ext cx="32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0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375" name="Google Shape;375;p54"/>
          <p:cNvSpPr txBox="1"/>
          <p:nvPr/>
        </p:nvSpPr>
        <p:spPr>
          <a:xfrm>
            <a:off x="7103075" y="3114925"/>
            <a:ext cx="32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0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376" name="Google Shape;376;p54"/>
          <p:cNvSpPr txBox="1"/>
          <p:nvPr/>
        </p:nvSpPr>
        <p:spPr>
          <a:xfrm>
            <a:off x="281125" y="4091525"/>
            <a:ext cx="774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Integer.MIN_VALUE = -2 147 483 648 ← HIGHEST_PRECEDENCE (doc name)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Default</a:t>
            </a:r>
            <a:endParaRPr b="1"/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525" y="1261862"/>
            <a:ext cx="4188107" cy="35581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3" name="Google Shape;38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4100" y="1750550"/>
            <a:ext cx="4616425" cy="25807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Memory in the Loop</a:t>
            </a:r>
            <a:endParaRPr/>
          </a:p>
        </p:txBody>
      </p:sp>
      <p:pic>
        <p:nvPicPr>
          <p:cNvPr id="389" name="Google Shape;38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927" y="1135150"/>
            <a:ext cx="4364826" cy="3819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0" name="Google Shape;39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8677" y="1736475"/>
            <a:ext cx="4241447" cy="195534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2500"/>
              <a:t>Three levels of hiding the loop</a:t>
            </a:r>
            <a:endParaRPr b="1" sz="2500"/>
          </a:p>
        </p:txBody>
      </p:sp>
      <p:pic>
        <p:nvPicPr>
          <p:cNvPr id="396" name="Google Shape;39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521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OpenRouter</a:t>
            </a:r>
            <a:endParaRPr b="1"/>
          </a:p>
        </p:txBody>
      </p:sp>
      <p:sp>
        <p:nvSpPr>
          <p:cNvPr id="402" name="Google Shape;402;p58"/>
          <p:cNvSpPr txBox="1"/>
          <p:nvPr>
            <p:ph idx="1" type="body"/>
          </p:nvPr>
        </p:nvSpPr>
        <p:spPr>
          <a:xfrm>
            <a:off x="311700" y="1152475"/>
            <a:ext cx="8520600" cy="11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OpenRouter is a single API in front of hundreds of models from dozens of vendors.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One key, one base URL, and the OpenAI protocol everyone already speaks.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475" y="2061075"/>
            <a:ext cx="5659149" cy="29943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Configuration</a:t>
            </a:r>
            <a:endParaRPr b="1"/>
          </a:p>
        </p:txBody>
      </p:sp>
      <p:pic>
        <p:nvPicPr>
          <p:cNvPr id="409" name="Google Shape;40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900" y="1274325"/>
            <a:ext cx="3656765" cy="37257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0" name="Google Shape;41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7338" y="3344050"/>
            <a:ext cx="4420625" cy="1656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1" name="Google Shape;411;p59"/>
          <p:cNvSpPr txBox="1"/>
          <p:nvPr/>
        </p:nvSpPr>
        <p:spPr>
          <a:xfrm>
            <a:off x="5276438" y="11648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Spring AI configuration 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412" name="Google Shape;412;p59"/>
          <p:cNvSpPr txBox="1"/>
          <p:nvPr/>
        </p:nvSpPr>
        <p:spPr>
          <a:xfrm>
            <a:off x="5200125" y="193316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O</a:t>
            </a:r>
            <a:r>
              <a:rPr b="1" lang="pl" sz="1600">
                <a:solidFill>
                  <a:schemeClr val="dk1"/>
                </a:solidFill>
              </a:rPr>
              <a:t>wn properties</a:t>
            </a:r>
            <a:endParaRPr b="1" sz="1600">
              <a:solidFill>
                <a:schemeClr val="dk1"/>
              </a:solidFill>
            </a:endParaRPr>
          </a:p>
        </p:txBody>
      </p:sp>
      <p:cxnSp>
        <p:nvCxnSpPr>
          <p:cNvPr id="413" name="Google Shape;413;p59"/>
          <p:cNvCxnSpPr>
            <a:stCxn id="411" idx="1"/>
          </p:cNvCxnSpPr>
          <p:nvPr/>
        </p:nvCxnSpPr>
        <p:spPr>
          <a:xfrm flipH="1">
            <a:off x="3835838" y="1380425"/>
            <a:ext cx="1440600" cy="58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59"/>
          <p:cNvCxnSpPr/>
          <p:nvPr/>
        </p:nvCxnSpPr>
        <p:spPr>
          <a:xfrm flipH="1">
            <a:off x="6564425" y="2338525"/>
            <a:ext cx="38700" cy="119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Chat</a:t>
            </a:r>
            <a:endParaRPr b="1"/>
          </a:p>
        </p:txBody>
      </p:sp>
      <p:pic>
        <p:nvPicPr>
          <p:cNvPr id="420" name="Google Shape;42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250" y="1060700"/>
            <a:ext cx="5727406" cy="3820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Image Generation </a:t>
            </a:r>
            <a:endParaRPr b="1"/>
          </a:p>
        </p:txBody>
      </p:sp>
      <p:pic>
        <p:nvPicPr>
          <p:cNvPr id="426" name="Google Shape;42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356775"/>
            <a:ext cx="7467600" cy="3019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Speech </a:t>
            </a:r>
            <a:endParaRPr b="1"/>
          </a:p>
        </p:txBody>
      </p:sp>
      <p:pic>
        <p:nvPicPr>
          <p:cNvPr id="432" name="Google Shape;43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900" y="1017725"/>
            <a:ext cx="5328025" cy="39262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Vision </a:t>
            </a:r>
            <a:endParaRPr b="1"/>
          </a:p>
        </p:txBody>
      </p:sp>
      <p:pic>
        <p:nvPicPr>
          <p:cNvPr id="438" name="Google Shape;43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350" y="1074775"/>
            <a:ext cx="4452049" cy="36897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Music </a:t>
            </a:r>
            <a:endParaRPr b="1"/>
          </a:p>
        </p:txBody>
      </p:sp>
      <p:sp>
        <p:nvSpPr>
          <p:cNvPr id="444" name="Google Shape;444;p64"/>
          <p:cNvSpPr txBox="1"/>
          <p:nvPr>
            <p:ph idx="1" type="body"/>
          </p:nvPr>
        </p:nvSpPr>
        <p:spPr>
          <a:xfrm>
            <a:off x="311700" y="166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Lyria is a chat endpoint. Getting the bytes out took five attempts.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1.  chatModel.call() → timed lyrics, no audio “[0.0:7.3] O-Zone, we dance tonight…]“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2.  + getMedia()      → media blocks = 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3.  + modalities       → `voice` is required, but was not set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4.  + voice               → 400: Audio output requires stream: true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5.  + stream()          → the stream arrives, media blocks = 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Every one of those errors was correct and specific. None of them said where to look.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64"/>
          <p:cNvSpPr txBox="1"/>
          <p:nvPr/>
        </p:nvSpPr>
        <p:spPr>
          <a:xfrm>
            <a:off x="311700" y="1127125"/>
            <a:ext cx="447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Here is where the trouble started….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Why it</a:t>
            </a:r>
            <a:r>
              <a:rPr b="1" lang="pl"/>
              <a:t>'s</a:t>
            </a:r>
            <a:r>
              <a:rPr b="1" lang="pl"/>
              <a:t> </a:t>
            </a:r>
            <a:r>
              <a:rPr b="1" lang="pl"/>
              <a:t>impossible</a:t>
            </a:r>
            <a:r>
              <a:rPr b="1" lang="pl"/>
              <a:t> for Spring AI?</a:t>
            </a:r>
            <a:endParaRPr b="1"/>
          </a:p>
        </p:txBody>
      </p:sp>
      <p:graphicFrame>
        <p:nvGraphicFramePr>
          <p:cNvPr id="451" name="Google Shape;451;p65"/>
          <p:cNvGraphicFramePr/>
          <p:nvPr/>
        </p:nvGraphicFramePr>
        <p:xfrm>
          <a:off x="450063" y="129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{870A0A1A-E947-48F3-AA7B-8D8E710BDD7A}</a:tableStyleId>
              </a:tblPr>
              <a:tblGrid>
                <a:gridCol w="1441150"/>
                <a:gridCol w="64692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600">
                          <a:solidFill>
                            <a:schemeClr val="dk1"/>
                          </a:solidFill>
                        </a:rPr>
                        <a:t>Layer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600">
                          <a:solidFill>
                            <a:schemeClr val="dk1"/>
                          </a:solidFill>
                        </a:rPr>
                        <a:t>Behavior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Google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Exposes Lyria through the Interactions API, not </a:t>
                      </a:r>
                      <a:r>
                        <a:rPr lang="pl" sz="16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/audio/speech</a:t>
                      </a:r>
                      <a:endParaRPr sz="16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OpenRouter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Returns audio from chat </a:t>
                      </a:r>
                      <a:r>
                        <a:rPr lang="pl" sz="1600">
                          <a:solidFill>
                            <a:schemeClr val="dk1"/>
                          </a:solidFill>
                        </a:rPr>
                        <a:t>only </a:t>
                      </a:r>
                      <a:r>
                        <a:rPr lang="pl" sz="1600">
                          <a:solidFill>
                            <a:schemeClr val="dk1"/>
                          </a:solidFill>
                        </a:rPr>
                        <a:t>when </a:t>
                      </a:r>
                      <a:r>
                        <a:rPr lang="pl" sz="16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stream: true</a:t>
                      </a:r>
                      <a:endParaRPr sz="16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OpenAI SDK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Validates a speech-oriented request schema and requires </a:t>
                      </a:r>
                      <a:r>
                        <a:rPr lang="pl" sz="16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voice</a:t>
                      </a:r>
                      <a:endParaRPr sz="16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Spring AI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Maps audio to </a:t>
                      </a:r>
                      <a:r>
                        <a:rPr lang="pl" sz="16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Media</a:t>
                      </a:r>
                      <a:r>
                        <a:rPr lang="pl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pl" sz="1600">
                          <a:solidFill>
                            <a:schemeClr val="dk1"/>
                          </a:solidFill>
                        </a:rPr>
                        <a:t>only </a:t>
                      </a:r>
                      <a:r>
                        <a:rPr lang="pl" sz="1600">
                          <a:solidFill>
                            <a:schemeClr val="dk1"/>
                          </a:solidFill>
                        </a:rPr>
                        <a:t>in the non-blocking path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2" name="Google Shape;452;p65"/>
          <p:cNvSpPr txBox="1"/>
          <p:nvPr/>
        </p:nvSpPr>
        <p:spPr>
          <a:xfrm>
            <a:off x="450075" y="3938725"/>
            <a:ext cx="7800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No layer made a mistake, so no layer could warn.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Music dropped to raw HTTP. One modality on the transport is cheaper than pretending the abstraction covers five.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Code Snippet </a:t>
            </a:r>
            <a:endParaRPr b="1"/>
          </a:p>
        </p:txBody>
      </p:sp>
      <p:pic>
        <p:nvPicPr>
          <p:cNvPr id="458" name="Google Shape;45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9075" y="1060725"/>
            <a:ext cx="5752533" cy="38209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59" name="Google Shape;459;p66"/>
          <p:cNvCxnSpPr/>
          <p:nvPr/>
        </p:nvCxnSpPr>
        <p:spPr>
          <a:xfrm>
            <a:off x="765850" y="4099600"/>
            <a:ext cx="2020800" cy="55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0" name="Google Shape;460;p66"/>
          <p:cNvSpPr txBox="1"/>
          <p:nvPr/>
        </p:nvSpPr>
        <p:spPr>
          <a:xfrm>
            <a:off x="191000" y="3604100"/>
            <a:ext cx="77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Bytes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Video </a:t>
            </a:r>
            <a:endParaRPr b="1"/>
          </a:p>
        </p:txBody>
      </p:sp>
      <p:sp>
        <p:nvSpPr>
          <p:cNvPr id="466" name="Google Shape;466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/>
              <a:t>TO DO</a:t>
            </a:r>
            <a:r>
              <a:rPr lang="pl"/>
              <a:t>  </a:t>
            </a:r>
            <a:r>
              <a:rPr b="1" lang="pl">
                <a:solidFill>
                  <a:schemeClr val="dk1"/>
                </a:solidFill>
              </a:rPr>
              <a:t>One provider does not mean one protocol. 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467" name="Google Shape;46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0151" y="918250"/>
            <a:ext cx="1512025" cy="372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663" y="2263813"/>
            <a:ext cx="2924175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/>
              <a:t>S</a:t>
            </a:r>
            <a:r>
              <a:rPr b="1" lang="pl" sz="2500"/>
              <a:t>ee you at part </a:t>
            </a:r>
            <a:r>
              <a:rPr b="1" lang="pl" sz="2500"/>
              <a:t>Ⅱ </a:t>
            </a:r>
            <a:r>
              <a:rPr b="1" lang="pl" sz="2500"/>
              <a:t>next week!</a:t>
            </a:r>
            <a:endParaRPr b="1" sz="2500"/>
          </a:p>
        </p:txBody>
      </p:sp>
      <p:pic>
        <p:nvPicPr>
          <p:cNvPr id="474" name="Google Shape;4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975" y="1047850"/>
            <a:ext cx="6789235" cy="3820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